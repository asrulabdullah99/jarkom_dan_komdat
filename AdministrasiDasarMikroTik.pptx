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y="6858000" cx="12192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"/>
          <p:cNvSpPr txBox="1"/>
          <p:nvPr/>
        </p:nvSpPr>
        <p:spPr>
          <a:xfrm>
            <a:off x="3753277" y="2385119"/>
            <a:ext cx="46854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9" u="none" cap="none" strike="noStrike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MODUL PELATIHAN JARINGAN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51066" y="2781300"/>
            <a:ext cx="120900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Administrasi Dasar MikroTik</a:t>
            </a:r>
            <a:endParaRPr/>
          </a:p>
        </p:txBody>
      </p:sp>
      <p:sp>
        <p:nvSpPr>
          <p:cNvPr id="29" name="Google Shape;29;p1"/>
          <p:cNvSpPr txBox="1"/>
          <p:nvPr/>
        </p:nvSpPr>
        <p:spPr>
          <a:xfrm>
            <a:off x="2935634" y="4091880"/>
            <a:ext cx="6320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Arsitektur, Akses, Manajemen User &amp; NTP</a:t>
            </a:r>
            <a:endParaRPr/>
          </a:p>
        </p:txBody>
      </p:sp>
      <p:sp>
        <p:nvSpPr>
          <p:cNvPr id="30" name="Google Shape;30;p1"/>
          <p:cNvSpPr txBox="1"/>
          <p:nvPr/>
        </p:nvSpPr>
        <p:spPr>
          <a:xfrm>
            <a:off x="2856555" y="4622359"/>
            <a:ext cx="632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lang="en-US" sz="2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srul Abdullah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272480"/>
            <a:ext cx="1066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688877"/>
            <a:ext cx="152400" cy="323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298477"/>
            <a:ext cx="152400" cy="323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908077"/>
            <a:ext cx="152400" cy="323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517677"/>
            <a:ext cx="152400" cy="323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609600"/>
            <a:ext cx="11430000" cy="57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Calibri"/>
              </a:rPr>
              <a:t>Agenda Pembahasan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707927"/>
            <a:ext cx="895629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000" i="0" u="none">
                <a:solidFill>
                  <a:srgbClr val="333333"/>
                </a:solidFill>
                <a:latin typeface="Calibri"/>
              </a:rPr>
              <a:t>Topik 1:</a:t>
            </a:r>
            <a:r>
              <a:rPr b="0" sz="2000" i="0" u="none">
                <a:solidFill>
                  <a:srgbClr val="333333"/>
                </a:solidFill>
                <a:latin typeface="Calibri"/>
              </a:rPr>
              <a:t> Arsitektur MikroTik (RouterBoard vs CHR).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317527"/>
            <a:ext cx="895629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000" i="0" u="none">
                <a:solidFill>
                  <a:srgbClr val="333333"/>
                </a:solidFill>
                <a:latin typeface="Calibri"/>
              </a:rPr>
              <a:t>Topik 2:</a:t>
            </a:r>
            <a:r>
              <a:rPr b="0" sz="2000" i="0" u="none">
                <a:solidFill>
                  <a:srgbClr val="333333"/>
                </a:solidFill>
                <a:latin typeface="Calibri"/>
              </a:rPr>
              <a:t> Metode Akses Perangkat (Winbox, WebFig, CLI).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927127"/>
            <a:ext cx="895629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000" i="0" u="none">
                <a:solidFill>
                  <a:srgbClr val="333333"/>
                </a:solidFill>
                <a:latin typeface="Calibri"/>
              </a:rPr>
              <a:t>Topik 3:</a:t>
            </a:r>
            <a:r>
              <a:rPr b="0" sz="2000" i="0" u="none">
                <a:solidFill>
                  <a:srgbClr val="333333"/>
                </a:solidFill>
                <a:latin typeface="Calibri"/>
              </a:rPr>
              <a:t> Manajemen User, Backup/Restore &amp; Konfigurasi NTP.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536727"/>
            <a:ext cx="895629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000" i="0" u="none">
                <a:solidFill>
                  <a:srgbClr val="333333"/>
                </a:solidFill>
                <a:latin typeface="Calibri"/>
              </a:rPr>
              <a:t>Topik 4:</a:t>
            </a:r>
            <a:r>
              <a:rPr b="0" sz="2000" i="0" u="none">
                <a:solidFill>
                  <a:srgbClr val="333333"/>
                </a:solidFill>
                <a:latin typeface="Calibri"/>
              </a:rPr>
              <a:t> Studi Kasus &amp; Tantangan Praktikum.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19750" y="4091880"/>
            <a:ext cx="9525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9759" y="2423219"/>
            <a:ext cx="1272331" cy="243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1" sz="1599" i="0" u="none">
                <a:solidFill>
                  <a:srgbClr val="FDFBF7"/>
                </a:solidFill>
                <a:latin typeface="Calibri"/>
              </a:rPr>
              <a:t>TOPIK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1547" y="2819400"/>
            <a:ext cx="8488756" cy="8533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b="1" sz="5600" i="0" u="none">
                <a:solidFill>
                  <a:srgbClr val="D4AF37"/>
                </a:solidFill>
                <a:latin typeface="Calibri"/>
              </a:rPr>
              <a:t>Arsitektur MikroTik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272480"/>
            <a:ext cx="1066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709" y="1605855"/>
            <a:ext cx="4084290" cy="464254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5780" y="3165127"/>
            <a:ext cx="1524000" cy="1524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117377"/>
            <a:ext cx="152400" cy="323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107977"/>
            <a:ext cx="152400" cy="3238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098577"/>
            <a:ext cx="152400" cy="3238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708177"/>
            <a:ext cx="152400" cy="32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609600"/>
            <a:ext cx="11430000" cy="57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Calibri"/>
              </a:rPr>
              <a:t>Apa itu MikroTik?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136427"/>
            <a:ext cx="5840759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Perusahaan produsen perangkat jaringan asal Latvia.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127027"/>
            <a:ext cx="5840759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Berfokus pada penyediaan solusi routing yang handal dan terjangkau.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117627"/>
            <a:ext cx="7277137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Sistem operasinya disebut </a:t>
            </a:r>
            <a:r>
              <a:rPr b="1" sz="2000" i="0" u="none">
                <a:solidFill>
                  <a:srgbClr val="333333"/>
                </a:solidFill>
                <a:latin typeface="Calibri"/>
              </a:rPr>
              <a:t>RouterOS</a:t>
            </a:r>
            <a:r>
              <a:rPr b="0" sz="2000" i="0" u="none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727227"/>
            <a:ext cx="5840759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Digunakan luas oleh ISP skala kecil hingga menengah.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272480"/>
            <a:ext cx="1066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605855"/>
            <a:ext cx="5181600" cy="4642544"/>
          </a:xfrm>
          <a:prstGeom prst="roundRect">
            <a:avLst>
              <a:gd name="adj" fmla="val 2462"/>
            </a:avLst>
          </a:prstGeom>
          <a:solidFill>
            <a:srgbClr val="FDFBF7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1605855"/>
            <a:ext cx="5181600" cy="4642544"/>
          </a:xfrm>
          <a:prstGeom prst="roundRect">
            <a:avLst>
              <a:gd name="adj" fmla="val 2462"/>
            </a:avLst>
          </a:prstGeom>
          <a:solidFill>
            <a:srgbClr val="FDFBF7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1996380"/>
            <a:ext cx="440055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925" y="1996380"/>
            <a:ext cx="440055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609600"/>
            <a:ext cx="11430000" cy="57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Calibri"/>
              </a:rPr>
              <a:t>Dua Lini Produk Utama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525" y="2682180"/>
            <a:ext cx="5775721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Calibri"/>
              </a:rPr>
              <a:t>RouterBoard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3200251"/>
            <a:ext cx="4495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Perangkat keras (hardware) terdedikasi yang dirakit pabrik dengan RouterOS di dalamnya.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2682180"/>
            <a:ext cx="5553075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Calibri"/>
              </a:rPr>
              <a:t>CHR / x86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925" y="3200251"/>
            <a:ext cx="4495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Versi perangkat lunak (software) yang dapat diinstal pada PC standar atau mesin virtual.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762000" y="1272480"/>
            <a:ext cx="10668000" cy="285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" name="Google Shape;3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000" y="2422177"/>
            <a:ext cx="1524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" name="Google Shape;34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000" y="3412777"/>
            <a:ext cx="1524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" name="Google Shape;35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000" y="4403377"/>
            <a:ext cx="1524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"/>
          <p:cNvSpPr txBox="1"/>
          <p:nvPr/>
        </p:nvSpPr>
        <p:spPr>
          <a:xfrm>
            <a:off x="762000" y="609600"/>
            <a:ext cx="11430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Mengenal RouterBoard</a:t>
            </a:r>
            <a:endParaRPr/>
          </a:p>
        </p:txBody>
      </p:sp>
      <p:sp>
        <p:nvSpPr>
          <p:cNvPr id="37" name="Google Shape;37;p2"/>
          <p:cNvSpPr txBox="1"/>
          <p:nvPr/>
        </p:nvSpPr>
        <p:spPr>
          <a:xfrm>
            <a:off x="1143000" y="2441227"/>
            <a:ext cx="4819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Desain PCB ringkas untuk kebutuhan jaringan spesifik.</a:t>
            </a:r>
            <a:endParaRPr/>
          </a:p>
        </p:txBody>
      </p:sp>
      <p:sp>
        <p:nvSpPr>
          <p:cNvPr id="38" name="Google Shape;38;p2"/>
          <p:cNvSpPr txBox="1"/>
          <p:nvPr/>
        </p:nvSpPr>
        <p:spPr>
          <a:xfrm>
            <a:off x="1143000" y="3431827"/>
            <a:ext cx="4819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Komponen CPU, RAM, dan memori penyimpanan (NAND) terintegrasi.</a:t>
            </a:r>
            <a:endParaRPr/>
          </a:p>
        </p:txBody>
      </p:sp>
      <p:sp>
        <p:nvSpPr>
          <p:cNvPr id="39" name="Google Shape;39;p2"/>
          <p:cNvSpPr txBox="1"/>
          <p:nvPr/>
        </p:nvSpPr>
        <p:spPr>
          <a:xfrm>
            <a:off x="1143000" y="4422427"/>
            <a:ext cx="4819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Konsumsi daya sangat rendah dibandingkan server PC.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272480"/>
            <a:ext cx="1066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609600"/>
            <a:ext cx="11430000" cy="57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Calibri"/>
              </a:rPr>
              <a:t>Konsep Switch Chip pada RB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605855"/>
            <a:ext cx="6700837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Calibri"/>
              </a:rPr>
              <a:t>CPU Routing (Lambat)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123926"/>
            <a:ext cx="52006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Lalu lintas data antar port diproses oleh CPU utama (Software Bridging). Membebani kinerja prosesor.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600" y="1605855"/>
            <a:ext cx="5867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Calibri"/>
              </a:rPr>
              <a:t>Switch Chip (Wire-speed)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600" y="2123926"/>
            <a:ext cx="52006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Hardware khusus pada board yang mem-forward paket antar port di layer 2 secara instan tanpa mengganggu CPU.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272480"/>
            <a:ext cx="1066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605855"/>
            <a:ext cx="5181600" cy="4642544"/>
          </a:xfrm>
          <a:prstGeom prst="roundRect">
            <a:avLst>
              <a:gd name="adj" fmla="val 2462"/>
            </a:avLst>
          </a:prstGeom>
          <a:solidFill>
            <a:srgbClr val="FDFBF7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1605855"/>
            <a:ext cx="5181600" cy="4642544"/>
          </a:xfrm>
          <a:prstGeom prst="roundRect">
            <a:avLst>
              <a:gd name="adj" fmla="val 2462"/>
            </a:avLst>
          </a:prstGeom>
          <a:solidFill>
            <a:srgbClr val="FDFBF7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609600"/>
            <a:ext cx="11430000" cy="57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Calibri"/>
              </a:rPr>
              <a:t>Varian Arsitektur CPU (Bagian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525" y="1996380"/>
            <a:ext cx="5775721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Calibri"/>
              </a:rPr>
              <a:t>MIPSBE &amp; SMIPS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525" y="2514451"/>
            <a:ext cx="4495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Digunakan pada perangkat kelas bawah hingga menengah (contoh: hAP lite, RB951). Hemat biaya.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1996380"/>
            <a:ext cx="5553075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Calibri"/>
              </a:rPr>
              <a:t>ARM &amp; ARM64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2514451"/>
            <a:ext cx="4495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Prosesor modern berkinerja tinggi, efisien. Digunakan pada seri hAP ax, RB3011, RB4011.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272480"/>
            <a:ext cx="1066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605855"/>
            <a:ext cx="5181600" cy="4642544"/>
          </a:xfrm>
          <a:prstGeom prst="roundRect">
            <a:avLst>
              <a:gd name="adj" fmla="val 2462"/>
            </a:avLst>
          </a:prstGeom>
          <a:solidFill>
            <a:srgbClr val="FDFBF7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1605855"/>
            <a:ext cx="5181600" cy="4642544"/>
          </a:xfrm>
          <a:prstGeom prst="roundRect">
            <a:avLst>
              <a:gd name="adj" fmla="val 2462"/>
            </a:avLst>
          </a:prstGeom>
          <a:solidFill>
            <a:srgbClr val="FDFBF7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609600"/>
            <a:ext cx="11430000" cy="57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Calibri"/>
              </a:rPr>
              <a:t>Varian Arsitektur CPU (Bagian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525" y="1996380"/>
            <a:ext cx="5775721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Calibri"/>
              </a:rPr>
              <a:t>TILE (Tilera)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525" y="2514451"/>
            <a:ext cx="4495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Prosesor multi-core (hingga 72 core) untuk kelas Enterprise/ISP (contoh: seri CCR1009, CCR1036).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1996380"/>
            <a:ext cx="5553075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Calibri"/>
              </a:rPr>
              <a:t>x86_64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2514451"/>
            <a:ext cx="4495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Digunakan saat RouterOS diinstal pada arsitektur PC standar berbasis Intel atau AMD.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/>
          <p:cNvSpPr/>
          <p:nvPr/>
        </p:nvSpPr>
        <p:spPr>
          <a:xfrm>
            <a:off x="762000" y="1272480"/>
            <a:ext cx="10668000" cy="285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2" name="Google Shape;4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000" y="2612677"/>
            <a:ext cx="1524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" name="Google Shape;4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000" y="3603277"/>
            <a:ext cx="1524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" name="Google Shape;44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000" y="4212877"/>
            <a:ext cx="1524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3"/>
          <p:cNvSpPr txBox="1"/>
          <p:nvPr/>
        </p:nvSpPr>
        <p:spPr>
          <a:xfrm>
            <a:off x="762000" y="609600"/>
            <a:ext cx="11430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Cloud Hosted Router (CHR)</a:t>
            </a:r>
            <a:endParaRPr/>
          </a:p>
        </p:txBody>
      </p:sp>
      <p:sp>
        <p:nvSpPr>
          <p:cNvPr id="46" name="Google Shape;46;p3"/>
          <p:cNvSpPr txBox="1"/>
          <p:nvPr/>
        </p:nvSpPr>
        <p:spPr>
          <a:xfrm>
            <a:off x="1143000" y="2631727"/>
            <a:ext cx="4819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Versi RouterOS khusus untuk mesin virtual (Virtual Machine).</a:t>
            </a:r>
            <a:endParaRPr/>
          </a:p>
        </p:txBody>
      </p:sp>
      <p:sp>
        <p:nvSpPr>
          <p:cNvPr id="47" name="Google Shape;47;p3"/>
          <p:cNvSpPr txBox="1"/>
          <p:nvPr/>
        </p:nvSpPr>
        <p:spPr>
          <a:xfrm>
            <a:off x="1143000" y="3622327"/>
            <a:ext cx="6000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Mendukung infrastruktur 64-bit.</a:t>
            </a:r>
            <a:endParaRPr/>
          </a:p>
        </p:txBody>
      </p:sp>
      <p:sp>
        <p:nvSpPr>
          <p:cNvPr id="48" name="Google Shape;48;p3"/>
          <p:cNvSpPr txBox="1"/>
          <p:nvPr/>
        </p:nvSpPr>
        <p:spPr>
          <a:xfrm>
            <a:off x="1143000" y="4231927"/>
            <a:ext cx="4819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Skema lisensi berbeda dengan RouterBoard fisik.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272480"/>
            <a:ext cx="1066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104876"/>
            <a:ext cx="152400" cy="323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714476"/>
            <a:ext cx="152400" cy="323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324076"/>
            <a:ext cx="152400" cy="323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933676"/>
            <a:ext cx="152400" cy="3238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104876"/>
            <a:ext cx="152400" cy="3238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714476"/>
            <a:ext cx="152400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3324076"/>
            <a:ext cx="152400" cy="323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609600"/>
            <a:ext cx="11430000" cy="57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Calibri"/>
              </a:rPr>
              <a:t>Hypervisor yang Didukung CHR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605855"/>
            <a:ext cx="6700837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Calibri"/>
              </a:rPr>
              <a:t>Platform Virtualisasi Lokal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600" y="1605855"/>
            <a:ext cx="5867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Calibri"/>
              </a:rPr>
              <a:t>Penyedia Layanan 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123926"/>
            <a:ext cx="600075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VMware ESXi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733526"/>
            <a:ext cx="600075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Proxmox VE (KVM)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343126"/>
            <a:ext cx="600075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Microsoft Hyper-V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952726"/>
            <a:ext cx="600075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VirtualBox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600" y="2123926"/>
            <a:ext cx="5486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Amazon Web Services (AWS)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600" y="2733526"/>
            <a:ext cx="5486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Google Cloud Platform (GCP)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5600" y="3343126"/>
            <a:ext cx="5486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Microsoft Azure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272480"/>
            <a:ext cx="1066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605855"/>
            <a:ext cx="3352800" cy="4642544"/>
          </a:xfrm>
          <a:prstGeom prst="roundRect">
            <a:avLst>
              <a:gd name="adj" fmla="val 3409"/>
            </a:avLst>
          </a:prstGeom>
          <a:solidFill>
            <a:srgbClr val="FDFBF7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19600" y="1605855"/>
            <a:ext cx="3352800" cy="4642544"/>
          </a:xfrm>
          <a:prstGeom prst="roundRect">
            <a:avLst>
              <a:gd name="adj" fmla="val 3409"/>
            </a:avLst>
          </a:prstGeom>
          <a:solidFill>
            <a:srgbClr val="FDFBF7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1605855"/>
            <a:ext cx="3352800" cy="4642544"/>
          </a:xfrm>
          <a:prstGeom prst="roundRect">
            <a:avLst>
              <a:gd name="adj" fmla="val 3409"/>
            </a:avLst>
          </a:prstGeom>
          <a:solidFill>
            <a:srgbClr val="FDFBF7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609600"/>
            <a:ext cx="11430000" cy="57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Calibri"/>
              </a:rPr>
              <a:t>Lisensi RouterOS (Hardware)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525" y="1996380"/>
            <a:ext cx="3375421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Calibri"/>
              </a:rPr>
              <a:t>Level 4 (WISP)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525" y="2514451"/>
            <a:ext cx="2667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Mendukung mode AP wireless, limit EoIP/PPPoE 200 tunnel.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10125" y="1996380"/>
            <a:ext cx="3375421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Calibri"/>
              </a:rPr>
              <a:t>Level 5 (WISP)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0125" y="2514451"/>
            <a:ext cx="2667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Mendukung mode AP, limit EoIP/PPPoE 500 tunnel.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7725" y="1996380"/>
            <a:ext cx="28003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Calibri"/>
              </a:rPr>
              <a:t>Level 6 (Controller)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67725" y="2880121"/>
            <a:ext cx="2667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Semua fitur tak terbatas (Unlimited tunnels).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272480"/>
            <a:ext cx="1066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605855"/>
            <a:ext cx="3352800" cy="4642544"/>
          </a:xfrm>
          <a:prstGeom prst="roundRect">
            <a:avLst>
              <a:gd name="adj" fmla="val 3409"/>
            </a:avLst>
          </a:prstGeom>
          <a:solidFill>
            <a:srgbClr val="FDFBF7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19600" y="1605855"/>
            <a:ext cx="3352800" cy="4642544"/>
          </a:xfrm>
          <a:prstGeom prst="roundRect">
            <a:avLst>
              <a:gd name="adj" fmla="val 3409"/>
            </a:avLst>
          </a:prstGeom>
          <a:solidFill>
            <a:srgbClr val="FDFBF7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1605855"/>
            <a:ext cx="3352800" cy="4642544"/>
          </a:xfrm>
          <a:prstGeom prst="roundRect">
            <a:avLst>
              <a:gd name="adj" fmla="val 3409"/>
            </a:avLst>
          </a:prstGeom>
          <a:solidFill>
            <a:srgbClr val="FDFBF7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609600"/>
            <a:ext cx="11430000" cy="57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Calibri"/>
              </a:rPr>
              <a:t>Lisensi CHR (Berdasarkan Kecepatan)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525" y="1996380"/>
            <a:ext cx="3375421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Calibri"/>
              </a:rPr>
              <a:t>Free (Uji Coba)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525" y="2514451"/>
            <a:ext cx="2667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Kecepatan dibatasi 1 Mbps per interface. Bebas batas waktu.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10125" y="1996380"/>
            <a:ext cx="3375421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Calibri"/>
              </a:rPr>
              <a:t>P1 &amp; P10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0125" y="2514451"/>
            <a:ext cx="2667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P1 dibatasi 1 Gbps, P10 dibatasi 10 Gbps per interface.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7725" y="1996380"/>
            <a:ext cx="3375421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Calibri"/>
              </a:rPr>
              <a:t>P-Unlimited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67725" y="2514451"/>
            <a:ext cx="2667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Kecepatan port tidak dibatasi (sesuai kemampuan host).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>
            <a:off x="762000" y="1272480"/>
            <a:ext cx="10668000" cy="285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1" name="Google Shape;5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000" y="2422177"/>
            <a:ext cx="1524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" name="Google Shape;52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000" y="3412777"/>
            <a:ext cx="1524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" name="Google Shape;53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000" y="4403377"/>
            <a:ext cx="1524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4"/>
          <p:cNvSpPr txBox="1"/>
          <p:nvPr/>
        </p:nvSpPr>
        <p:spPr>
          <a:xfrm>
            <a:off x="762000" y="609600"/>
            <a:ext cx="11430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Kapan Menggunakan RouterBoard?</a:t>
            </a:r>
            <a:endParaRPr/>
          </a:p>
        </p:txBody>
      </p:sp>
      <p:sp>
        <p:nvSpPr>
          <p:cNvPr id="55" name="Google Shape;55;p4"/>
          <p:cNvSpPr txBox="1"/>
          <p:nvPr/>
        </p:nvSpPr>
        <p:spPr>
          <a:xfrm>
            <a:off x="1143000" y="2441227"/>
            <a:ext cx="379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Membutuhkan banyak port fisik (Ethernet/SFP).</a:t>
            </a:r>
            <a:endParaRPr/>
          </a:p>
        </p:txBody>
      </p:sp>
      <p:sp>
        <p:nvSpPr>
          <p:cNvPr id="56" name="Google Shape;56;p4"/>
          <p:cNvSpPr txBox="1"/>
          <p:nvPr/>
        </p:nvSpPr>
        <p:spPr>
          <a:xfrm>
            <a:off x="1143000" y="3431827"/>
            <a:ext cx="379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Kebutuhan perangkat pemancar Wireless (Access Point/CPE).</a:t>
            </a:r>
            <a:endParaRPr/>
          </a:p>
        </p:txBody>
      </p:sp>
      <p:sp>
        <p:nvSpPr>
          <p:cNvPr id="57" name="Google Shape;57;p4"/>
          <p:cNvSpPr txBox="1"/>
          <p:nvPr/>
        </p:nvSpPr>
        <p:spPr>
          <a:xfrm>
            <a:off x="1143000" y="4422427"/>
            <a:ext cx="379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Implementasi Edge Router di kantor fisik.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272480"/>
            <a:ext cx="1066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490" y="1605855"/>
            <a:ext cx="6126509" cy="464254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170" y="3165127"/>
            <a:ext cx="1905000" cy="1524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422177"/>
            <a:ext cx="152400" cy="323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412777"/>
            <a:ext cx="152400" cy="3238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403377"/>
            <a:ext cx="152400" cy="32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09600"/>
            <a:ext cx="11430000" cy="57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Calibri"/>
              </a:rPr>
              <a:t>Kapan Menggunakan CHR?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441227"/>
            <a:ext cx="379854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Membuat sentral VPN Server di layanan Cloud.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431827"/>
            <a:ext cx="379854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Kebutuhan BGP Route Reflector dengan RAM besar.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422427"/>
            <a:ext cx="379854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Laboratorium simulasi jaringan (GNS3, EVE-NG).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272480"/>
            <a:ext cx="1066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3125092"/>
            <a:ext cx="2564010" cy="9525"/>
          </a:xfrm>
          <a:prstGeom prst="rect">
            <a:avLst/>
          </a:prstGeom>
          <a:solidFill>
            <a:srgbClr val="F0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26010" y="3125092"/>
            <a:ext cx="3900487" cy="9525"/>
          </a:xfrm>
          <a:prstGeom prst="rect">
            <a:avLst/>
          </a:prstGeom>
          <a:solidFill>
            <a:srgbClr val="F0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26498" y="3125092"/>
            <a:ext cx="4203501" cy="9525"/>
          </a:xfrm>
          <a:prstGeom prst="rect">
            <a:avLst/>
          </a:prstGeom>
          <a:solidFill>
            <a:srgbClr val="F0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3820417"/>
            <a:ext cx="2564010" cy="9525"/>
          </a:xfrm>
          <a:prstGeom prst="rect">
            <a:avLst/>
          </a:prstGeom>
          <a:solidFill>
            <a:srgbClr val="F0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26010" y="3820417"/>
            <a:ext cx="3900487" cy="9525"/>
          </a:xfrm>
          <a:prstGeom prst="rect">
            <a:avLst/>
          </a:prstGeom>
          <a:solidFill>
            <a:srgbClr val="F0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6498" y="3820417"/>
            <a:ext cx="4203501" cy="9525"/>
          </a:xfrm>
          <a:prstGeom prst="rect">
            <a:avLst/>
          </a:prstGeom>
          <a:solidFill>
            <a:srgbClr val="F0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4515742"/>
            <a:ext cx="2564010" cy="9525"/>
          </a:xfrm>
          <a:prstGeom prst="rect">
            <a:avLst/>
          </a:prstGeom>
          <a:solidFill>
            <a:srgbClr val="F0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26010" y="4515742"/>
            <a:ext cx="3900487" cy="9525"/>
          </a:xfrm>
          <a:prstGeom prst="rect">
            <a:avLst/>
          </a:prstGeom>
          <a:solidFill>
            <a:srgbClr val="F0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26498" y="4515742"/>
            <a:ext cx="4203501" cy="9525"/>
          </a:xfrm>
          <a:prstGeom prst="rect">
            <a:avLst/>
          </a:prstGeom>
          <a:solidFill>
            <a:srgbClr val="F0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2000" y="5211067"/>
            <a:ext cx="2564010" cy="9525"/>
          </a:xfrm>
          <a:prstGeom prst="rect">
            <a:avLst/>
          </a:prstGeom>
          <a:solidFill>
            <a:srgbClr val="F0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26010" y="5211067"/>
            <a:ext cx="3900487" cy="9525"/>
          </a:xfrm>
          <a:prstGeom prst="rect">
            <a:avLst/>
          </a:prstGeom>
          <a:solidFill>
            <a:srgbClr val="F0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26498" y="5211067"/>
            <a:ext cx="4203501" cy="9525"/>
          </a:xfrm>
          <a:prstGeom prst="rect">
            <a:avLst/>
          </a:prstGeom>
          <a:solidFill>
            <a:srgbClr val="F0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62000" y="1758255"/>
          <a:ext cx="10667998" cy="34671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564010"/>
                <a:gridCol w="3900487"/>
                <a:gridCol w="4203501"/>
              </a:tblGrid>
              <a:tr h="693420">
                <a:tc>
                  <a:txBody>
                    <a:bodyPr/>
                    <a:lstStyle/>
                    <a:p>
                      <a:pPr algn="l"/>
                      <a:r>
                        <a:rPr b="1" sz="2000" i="0" u="none">
                          <a:solidFill>
                            <a:srgbClr val="F8FAFC"/>
                          </a:solidFill>
                          <a:latin typeface="Calibri"/>
                        </a:rPr>
                        <a:t>Karakteristik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2000" i="0" u="none">
                          <a:solidFill>
                            <a:srgbClr val="F8FAFC"/>
                          </a:solidFill>
                          <a:latin typeface="Calibri"/>
                        </a:rPr>
                        <a:t>RouterBoard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2000" i="0" u="none">
                          <a:solidFill>
                            <a:srgbClr val="F8FAFC"/>
                          </a:solidFill>
                          <a:latin typeface="Calibri"/>
                        </a:rPr>
                        <a:t>CHR (Cloud Hosted Router)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AF37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b="0" sz="2000" i="0" u="none">
                          <a:solidFill>
                            <a:srgbClr val="333333"/>
                          </a:solidFill>
                          <a:latin typeface="Calibri"/>
                        </a:rPr>
                        <a:t>Bentuk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2000" i="0" u="none">
                          <a:solidFill>
                            <a:srgbClr val="333333"/>
                          </a:solidFill>
                          <a:latin typeface="Calibri"/>
                        </a:rPr>
                        <a:t>Hardware Fisik Terdedikasi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2000" i="0" u="none">
                          <a:solidFill>
                            <a:srgbClr val="333333"/>
                          </a:solidFill>
                          <a:latin typeface="Calibri"/>
                        </a:rPr>
                        <a:t>Virtual Machine / Software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b="0" sz="2000" i="0" u="none">
                          <a:solidFill>
                            <a:srgbClr val="333333"/>
                          </a:solidFill>
                          <a:latin typeface="Calibri"/>
                        </a:rPr>
                        <a:t>Port Fisik &amp; WiFi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2000" i="0" u="none">
                          <a:solidFill>
                            <a:srgbClr val="333333"/>
                          </a:solidFill>
                          <a:latin typeface="Calibri"/>
                        </a:rPr>
                        <a:t>Ada (Tergantung seri)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2000" i="0" u="none">
                          <a:solidFill>
                            <a:srgbClr val="333333"/>
                          </a:solidFill>
                          <a:latin typeface="Calibri"/>
                        </a:rPr>
                        <a:t>Tidak Ada (Virtual Interface)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BF7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b="0" sz="2000" i="0" u="none">
                          <a:solidFill>
                            <a:srgbClr val="333333"/>
                          </a:solidFill>
                          <a:latin typeface="Calibri"/>
                        </a:rPr>
                        <a:t>Model Lisensi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2000" i="0" u="none">
                          <a:solidFill>
                            <a:srgbClr val="333333"/>
                          </a:solidFill>
                          <a:latin typeface="Calibri"/>
                        </a:rPr>
                        <a:t>Level fitur (Terkunci ke mesin)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2000" i="0" u="none">
                          <a:solidFill>
                            <a:srgbClr val="333333"/>
                          </a:solidFill>
                          <a:latin typeface="Calibri"/>
                        </a:rPr>
                        <a:t>Batas Bandwidth (Bisa dipindah)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b="0" sz="2000" i="0" u="none">
                          <a:solidFill>
                            <a:srgbClr val="333333"/>
                          </a:solidFill>
                          <a:latin typeface="Calibri"/>
                        </a:rPr>
                        <a:t>Biaya Infrastruktur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2000" i="0" u="none">
                          <a:solidFill>
                            <a:srgbClr val="333333"/>
                          </a:solidFill>
                          <a:latin typeface="Calibri"/>
                        </a:rPr>
                        <a:t>Pembelian awal perangkat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2000" i="0" u="none">
                          <a:solidFill>
                            <a:srgbClr val="333333"/>
                          </a:solidFill>
                          <a:latin typeface="Calibri"/>
                        </a:rPr>
                        <a:t>Sewa langganan server Cloud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BF7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762000" y="609600"/>
            <a:ext cx="11430000" cy="57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Calibri"/>
              </a:rPr>
              <a:t>Kesimpulan: RB vs CHR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19750" y="4091880"/>
            <a:ext cx="9525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9759" y="2423219"/>
            <a:ext cx="1272331" cy="243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1" sz="1599" i="0" u="none">
                <a:solidFill>
                  <a:srgbClr val="FDFBF7"/>
                </a:solidFill>
                <a:latin typeface="Calibri"/>
              </a:rPr>
              <a:t>TOPIK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82935" y="2819400"/>
            <a:ext cx="9026128" cy="8533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b="1" sz="5600" i="0" u="none">
                <a:solidFill>
                  <a:srgbClr val="D4AF37"/>
                </a:solidFill>
                <a:latin typeface="Calibri"/>
              </a:rPr>
              <a:t>Akses &amp; Manajemen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272480"/>
            <a:ext cx="1066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605855"/>
            <a:ext cx="3352800" cy="4642544"/>
          </a:xfrm>
          <a:prstGeom prst="roundRect">
            <a:avLst>
              <a:gd name="adj" fmla="val 3409"/>
            </a:avLst>
          </a:prstGeom>
          <a:solidFill>
            <a:srgbClr val="FDFBF7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19600" y="1605855"/>
            <a:ext cx="3352800" cy="4642544"/>
          </a:xfrm>
          <a:prstGeom prst="roundRect">
            <a:avLst>
              <a:gd name="adj" fmla="val 3409"/>
            </a:avLst>
          </a:prstGeom>
          <a:solidFill>
            <a:srgbClr val="FDFBF7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1605855"/>
            <a:ext cx="3352800" cy="4642544"/>
          </a:xfrm>
          <a:prstGeom prst="roundRect">
            <a:avLst>
              <a:gd name="adj" fmla="val 3409"/>
            </a:avLst>
          </a:prstGeom>
          <a:solidFill>
            <a:srgbClr val="FDFBF7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1996380"/>
            <a:ext cx="257175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125" y="1996380"/>
            <a:ext cx="257175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725" y="1996380"/>
            <a:ext cx="257175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609600"/>
            <a:ext cx="11430000" cy="57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Calibri"/>
              </a:rPr>
              <a:t>Tiga Jalur Akses Utama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2682180"/>
            <a:ext cx="3375421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Calibri"/>
              </a:rPr>
              <a:t>Aplikasi Desktop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3200251"/>
            <a:ext cx="2667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Winbox (Aplikasi ringan untuk sistem operasi Windows).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0125" y="2682180"/>
            <a:ext cx="3375421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Calibri"/>
              </a:rPr>
              <a:t>Command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0125" y="3200251"/>
            <a:ext cx="2667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Akses teks melalui protokol SSH atau Telnet lokal.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725" y="2682180"/>
            <a:ext cx="3375421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Calibri"/>
              </a:rPr>
              <a:t>Web Browser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7725" y="3200251"/>
            <a:ext cx="2667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WebFig (Akses antarmuka grafis via HTTP/HTTPS).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272480"/>
            <a:ext cx="1066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605855"/>
            <a:ext cx="5105400" cy="464254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0550" y="3165127"/>
            <a:ext cx="1333500" cy="1524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117377"/>
            <a:ext cx="152400" cy="323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107977"/>
            <a:ext cx="152400" cy="3238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098577"/>
            <a:ext cx="152400" cy="3238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089177"/>
            <a:ext cx="152400" cy="32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609600"/>
            <a:ext cx="11430000" cy="57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Calibri"/>
              </a:rPr>
              <a:t>Pengenalan Winbox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136427"/>
            <a:ext cx="48196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Utility native rancangan MikroTik (file .exe).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127027"/>
            <a:ext cx="48196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Bisa dijalankan di Linux/Mac menggunakan Wine.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117627"/>
            <a:ext cx="48196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Mendukung protokol IPv4, IPv6, dan MAC Address.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108227"/>
            <a:ext cx="600075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Berjalan default di port TCP 8291.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272480"/>
            <a:ext cx="1066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45709" y="1605855"/>
            <a:ext cx="4084290" cy="1619250"/>
          </a:xfrm>
          <a:prstGeom prst="roundRect">
            <a:avLst>
              <a:gd name="adj" fmla="val 7058"/>
            </a:avLst>
          </a:prstGeom>
          <a:solidFill>
            <a:srgbClr val="FDFBF7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09600"/>
            <a:ext cx="11430000" cy="57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Calibri"/>
              </a:rPr>
              <a:t>Tab Neighbors (MNDP)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605855"/>
            <a:ext cx="8041044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Calibri"/>
              </a:rPr>
              <a:t>MikroTik Neighbor Discovery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123926"/>
            <a:ext cx="6221759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Winbox akan otomatis memindai jaringan lokal (Layer 2) untuk menemukan perangkat MikroTik di sekitar, tanpa perlu mengetahui IP Address terlebih dahulu.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3834" y="1843980"/>
            <a:ext cx="451005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000" i="0" u="none">
                <a:solidFill>
                  <a:srgbClr val="333333"/>
                </a:solidFill>
                <a:latin typeface="Calibri"/>
              </a:rPr>
              <a:t>Login Bawaan Pabrik: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3834" y="2224980"/>
            <a:ext cx="451005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User: </a:t>
            </a:r>
            <a:r>
              <a:rPr b="1" sz="2000" i="0" u="none">
                <a:solidFill>
                  <a:srgbClr val="333333"/>
                </a:solidFill>
                <a:latin typeface="Calibri"/>
              </a:rPr>
              <a:t>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3834" y="2605980"/>
            <a:ext cx="451005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Password: </a:t>
            </a:r>
            <a:r>
              <a:rPr b="1" sz="2000" i="0" u="none">
                <a:solidFill>
                  <a:srgbClr val="333333"/>
                </a:solidFill>
                <a:latin typeface="Calibri"/>
              </a:rPr>
              <a:t>(kosong)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272480"/>
            <a:ext cx="1066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605855"/>
            <a:ext cx="5181600" cy="4642544"/>
          </a:xfrm>
          <a:prstGeom prst="roundRect">
            <a:avLst>
              <a:gd name="adj" fmla="val 2462"/>
            </a:avLst>
          </a:prstGeom>
          <a:solidFill>
            <a:srgbClr val="FDFBF7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1605855"/>
            <a:ext cx="5181600" cy="4642544"/>
          </a:xfrm>
          <a:prstGeom prst="roundRect">
            <a:avLst>
              <a:gd name="adj" fmla="val 2462"/>
            </a:avLst>
          </a:prstGeom>
          <a:solidFill>
            <a:srgbClr val="FDFBF7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609600"/>
            <a:ext cx="11430000" cy="57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Calibri"/>
              </a:rPr>
              <a:t>MAC Address vs IP Address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525" y="1996380"/>
            <a:ext cx="5775721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Calibri"/>
              </a:rPr>
              <a:t>Akses via MAC Address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525" y="2514451"/>
            <a:ext cx="4495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Cocok untuk perangkat baru yang belum memiliki konfigurasi IP. Syaratnya harus berada di satu segmen jaringan fisik (Layer 2).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1996380"/>
            <a:ext cx="5553075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Calibri"/>
              </a:rPr>
              <a:t>Akses via IP Address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2514451"/>
            <a:ext cx="4495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Koneksi lebih stabil karena berbasis Layer 3. Wajib digunakan jika perangkat berada di kota/jaringan yang berbeda.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272480"/>
            <a:ext cx="1066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3707" y="1605855"/>
            <a:ext cx="5106292" cy="4642544"/>
          </a:xfrm>
          <a:prstGeom prst="roundRect">
            <a:avLst>
              <a:gd name="adj" fmla="val 2462"/>
            </a:avLst>
          </a:prstGeom>
          <a:solidFill>
            <a:srgbClr val="FDFBF7"/>
          </a:solidFill>
          <a:ln w="1905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353" y="2982217"/>
            <a:ext cx="1143000" cy="1143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231677"/>
            <a:ext cx="152400" cy="323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222277"/>
            <a:ext cx="152400" cy="3238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593877"/>
            <a:ext cx="152400" cy="32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09600"/>
            <a:ext cx="11430000" cy="57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Calibri"/>
              </a:rPr>
              <a:t>Fitur Penyelamat: Safe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2166" y="4353817"/>
            <a:ext cx="2489373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Calibri"/>
              </a:rPr>
              <a:t>[ Safe Mode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50727"/>
            <a:ext cx="4818757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Menghindari salah konfigurasi yang menyebabkan putus akses.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241327"/>
            <a:ext cx="4818757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Jika koneksi Winbox terputus saat Safe Mode aktif, seluruh perubahan terakhir akan dibatalkan otomatis.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612927"/>
            <a:ext cx="4818757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Wajib ditekan sebelum mengubah IP atau aturan Firewall!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272480"/>
            <a:ext cx="1066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104876"/>
            <a:ext cx="152400" cy="323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714476"/>
            <a:ext cx="152400" cy="323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609600"/>
            <a:ext cx="11430000" cy="57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Calibri"/>
              </a:rPr>
              <a:t>Akses via WebFig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605855"/>
            <a:ext cx="6700837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Calibri"/>
              </a:rPr>
              <a:t>Alternatif Tanpa Aplikasi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123926"/>
            <a:ext cx="52006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Cukup masukkan IP Address router pada browser Chrome atau Firefox.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885926"/>
            <a:ext cx="52006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Tampilan antarmuka grafis 99% menyerupai menu pada Winbox.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600" y="1605855"/>
            <a:ext cx="5867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Calibri"/>
              </a:rPr>
              <a:t>Protokol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0" y="2123926"/>
            <a:ext cx="5486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HTTP (Port 80) - Tidak terenkripsi.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2733526"/>
            <a:ext cx="48196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HTTPS (Port 443) - Terenkripsi, disarankan untuk keamanan.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272480"/>
            <a:ext cx="1066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490" y="1605855"/>
            <a:ext cx="6126509" cy="464254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2540" y="1624905"/>
            <a:ext cx="6088409" cy="460444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422177"/>
            <a:ext cx="152400" cy="323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412777"/>
            <a:ext cx="152400" cy="3238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403377"/>
            <a:ext cx="152400" cy="32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09600"/>
            <a:ext cx="11430000" cy="57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Calibri"/>
              </a:rPr>
              <a:t>Command Line Interface (CLI)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441227"/>
            <a:ext cx="379854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Sangat ringan dan hemat bandwidth.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431827"/>
            <a:ext cx="379854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Ideal untuk eksekusi skrip otomatisasi.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422427"/>
            <a:ext cx="379854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Digunakan saat antarmuka grafis gagal dimuat.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272480"/>
            <a:ext cx="1066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605855"/>
            <a:ext cx="5181600" cy="4642544"/>
          </a:xfrm>
          <a:prstGeom prst="roundRect">
            <a:avLst>
              <a:gd name="adj" fmla="val 2462"/>
            </a:avLst>
          </a:prstGeom>
          <a:solidFill>
            <a:srgbClr val="FDFBF7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1605855"/>
            <a:ext cx="5181600" cy="4642544"/>
          </a:xfrm>
          <a:prstGeom prst="roundRect">
            <a:avLst>
              <a:gd name="adj" fmla="val 2462"/>
            </a:avLst>
          </a:prstGeom>
          <a:solidFill>
            <a:srgbClr val="FDFBF7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609600"/>
            <a:ext cx="11430000" cy="57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Calibri"/>
              </a:rPr>
              <a:t>SSH vs Telnet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525" y="1996380"/>
            <a:ext cx="5775721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Calibri"/>
              </a:rPr>
              <a:t>SSH (Secure Shell)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525" y="2514451"/>
            <a:ext cx="4495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Port 22. Semua komunikasi (termasuk password) dienkripsi. Wajib digunakan di jaringan publik.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1996380"/>
            <a:ext cx="5553075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Calibri"/>
              </a:rPr>
              <a:t>Telnet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2514451"/>
            <a:ext cx="4495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Port 23. Komunikasi teks biasa tanpa enkripsi. Mudah disadap (sniffing), dilarang di lingkungan produksi.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272480"/>
            <a:ext cx="1066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469802"/>
            <a:ext cx="10668000" cy="2914650"/>
          </a:xfrm>
          <a:prstGeom prst="roundRect">
            <a:avLst>
              <a:gd name="adj" fmla="val 3921"/>
            </a:avLst>
          </a:prstGeom>
          <a:solidFill>
            <a:srgbClr val="1A150B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09600"/>
            <a:ext cx="11430000" cy="57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Calibri"/>
              </a:rPr>
              <a:t>Struktur Navigasi 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" y="2774602"/>
            <a:ext cx="10153650" cy="2305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Fira Code"/>
              </a:rPr>
              <a:t># CLI MikroTik menyerupai hierarki folder file system</a:t>
            </a:r>
            <a:r>
              <a:rPr b="0" sz="1200" i="0" u="none">
                <a:solidFill>
                  <a:srgbClr val="FDFBF7"/>
                </a:solidFill>
                <a:latin typeface="Fira Code"/>
              </a:rPr>
              <a:t> [admin@MikroTik] &gt; </a:t>
            </a:r>
            <a:r>
              <a:rPr b="0" sz="1200" i="0" u="none">
                <a:solidFill>
                  <a:srgbClr val="D4AF37"/>
                </a:solidFill>
                <a:latin typeface="Fira Code"/>
              </a:rPr>
              <a:t>ip address</a:t>
            </a:r>
            <a:r>
              <a:rPr b="0" sz="1200" i="0" u="none">
                <a:solidFill>
                  <a:srgbClr val="FDFBF7"/>
                </a:solidFill>
                <a:latin typeface="Fira Code"/>
              </a:rPr>
              <a:t> [admin@MikroTik] /ip address&gt; </a:t>
            </a:r>
            <a:r>
              <a:rPr b="0" sz="1200" i="0" u="none">
                <a:solidFill>
                  <a:srgbClr val="D4AF37"/>
                </a:solidFill>
                <a:latin typeface="Fira Code"/>
              </a:rPr>
              <a:t>print</a:t>
            </a:r>
            <a:r>
              <a:rPr b="0" sz="1200" i="0" u="none">
                <a:solidFill>
                  <a:srgbClr val="FDFBF7"/>
                </a:solidFill>
                <a:latin typeface="Fira Code"/>
              </a:rPr>
              <a:t> Flags: X - disabled, I - invalid, D - dynamic # ADDRESS NETWORK INTERFACE 0 192.168.88.1/24 192.168.88.0 ether1 </a:t>
            </a:r>
            <a:r>
              <a:rPr b="0" sz="1200" i="0" u="none">
                <a:solidFill>
                  <a:srgbClr val="94A3B8"/>
                </a:solidFill>
                <a:latin typeface="Fira Code"/>
              </a:rPr>
              <a:t># Kembali ke root direktori</a:t>
            </a:r>
            <a:r>
              <a:rPr b="0" sz="1200" i="0" u="none">
                <a:solidFill>
                  <a:srgbClr val="FDFBF7"/>
                </a:solidFill>
                <a:latin typeface="Fira Code"/>
              </a:rPr>
              <a:t> [admin@MikroTik] /ip address&gt; </a:t>
            </a:r>
            <a:r>
              <a:rPr b="0" sz="1200" i="0" u="none">
                <a:solidFill>
                  <a:srgbClr val="D4AF37"/>
                </a:solidFill>
                <a:latin typeface="Fira Code"/>
              </a:rPr>
              <a:t>/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272480"/>
            <a:ext cx="1066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3125092"/>
            <a:ext cx="2873275" cy="9525"/>
          </a:xfrm>
          <a:prstGeom prst="rect">
            <a:avLst/>
          </a:prstGeom>
          <a:solidFill>
            <a:srgbClr val="F0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35275" y="3125092"/>
            <a:ext cx="7794724" cy="9525"/>
          </a:xfrm>
          <a:prstGeom prst="rect">
            <a:avLst/>
          </a:prstGeom>
          <a:solidFill>
            <a:srgbClr val="F0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3820417"/>
            <a:ext cx="2873275" cy="9525"/>
          </a:xfrm>
          <a:prstGeom prst="rect">
            <a:avLst/>
          </a:prstGeom>
          <a:solidFill>
            <a:srgbClr val="F0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35275" y="3820417"/>
            <a:ext cx="7794724" cy="9525"/>
          </a:xfrm>
          <a:prstGeom prst="rect">
            <a:avLst/>
          </a:prstGeom>
          <a:solidFill>
            <a:srgbClr val="F0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4515742"/>
            <a:ext cx="2873275" cy="9525"/>
          </a:xfrm>
          <a:prstGeom prst="rect">
            <a:avLst/>
          </a:prstGeom>
          <a:solidFill>
            <a:srgbClr val="F0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35275" y="4515742"/>
            <a:ext cx="7794724" cy="9525"/>
          </a:xfrm>
          <a:prstGeom prst="rect">
            <a:avLst/>
          </a:prstGeom>
          <a:solidFill>
            <a:srgbClr val="F0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5211067"/>
            <a:ext cx="2873275" cy="9525"/>
          </a:xfrm>
          <a:prstGeom prst="rect">
            <a:avLst/>
          </a:prstGeom>
          <a:solidFill>
            <a:srgbClr val="F0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35275" y="5211067"/>
            <a:ext cx="7794724" cy="9525"/>
          </a:xfrm>
          <a:prstGeom prst="rect">
            <a:avLst/>
          </a:prstGeom>
          <a:solidFill>
            <a:srgbClr val="F0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62000" y="1758255"/>
          <a:ext cx="10667999" cy="34671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873275"/>
                <a:gridCol w="7794724"/>
              </a:tblGrid>
              <a:tr h="693420">
                <a:tc>
                  <a:txBody>
                    <a:bodyPr/>
                    <a:lstStyle/>
                    <a:p>
                      <a:pPr algn="l"/>
                      <a:r>
                        <a:rPr b="1" sz="2000" i="0" u="none">
                          <a:solidFill>
                            <a:srgbClr val="F8FAFC"/>
                          </a:solidFill>
                          <a:latin typeface="Calibri"/>
                        </a:rPr>
                        <a:t>Tombol / Perintah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2000" i="0" u="none">
                          <a:solidFill>
                            <a:srgbClr val="F8FAFC"/>
                          </a:solidFill>
                          <a:latin typeface="Calibri"/>
                        </a:rPr>
                        <a:t>Fungsi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AF37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b="1" sz="2000" i="0" u="none">
                          <a:solidFill>
                            <a:srgbClr val="333333"/>
                          </a:solidFill>
                          <a:latin typeface="Calibri"/>
                        </a:rPr>
                        <a:t>[TAB]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2000" i="0" u="none">
                          <a:solidFill>
                            <a:srgbClr val="333333"/>
                          </a:solidFill>
                          <a:latin typeface="Calibri"/>
                        </a:rPr>
                        <a:t>Melengkapi perintah secara otomatis (Auto-complete)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b="1" sz="2000" i="0" u="none">
                          <a:solidFill>
                            <a:srgbClr val="333333"/>
                          </a:solidFill>
                          <a:latin typeface="Calibri"/>
                        </a:rPr>
                        <a:t>? (Tanda Tanya)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2000" i="0" u="none">
                          <a:solidFill>
                            <a:srgbClr val="333333"/>
                          </a:solidFill>
                          <a:latin typeface="Calibri"/>
                        </a:rPr>
                        <a:t>Menampilkan daftar perintah yang tersedia di level saat ini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BF7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b="1" sz="2000" i="0" u="none">
                          <a:solidFill>
                            <a:srgbClr val="333333"/>
                          </a:solidFill>
                          <a:latin typeface="Calibri"/>
                        </a:rPr>
                        <a:t>print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2000" i="0" u="none">
                          <a:solidFill>
                            <a:srgbClr val="333333"/>
                          </a:solidFill>
                          <a:latin typeface="Calibri"/>
                        </a:rPr>
                        <a:t>Mencetak tabel daftar konfigurasi di menu tersebut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b="1" sz="2000" i="0" u="none">
                          <a:solidFill>
                            <a:srgbClr val="333333"/>
                          </a:solidFill>
                          <a:latin typeface="Calibri"/>
                        </a:rPr>
                        <a:t>export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2000" i="0" u="none">
                          <a:solidFill>
                            <a:srgbClr val="333333"/>
                          </a:solidFill>
                          <a:latin typeface="Calibri"/>
                        </a:rPr>
                        <a:t>Menampilkan isi konfigurasi dalam bentuk skrip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BF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2000" y="609600"/>
            <a:ext cx="11430000" cy="57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Calibri"/>
              </a:rPr>
              <a:t>Shortcut Penting CLI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272480"/>
            <a:ext cx="1066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698402"/>
            <a:ext cx="10668000" cy="2457450"/>
          </a:xfrm>
          <a:prstGeom prst="roundRect">
            <a:avLst>
              <a:gd name="adj" fmla="val 4651"/>
            </a:avLst>
          </a:prstGeom>
          <a:solidFill>
            <a:srgbClr val="1A150B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09600"/>
            <a:ext cx="11430000" cy="57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Calibri"/>
              </a:rPr>
              <a:t>Mengamankan Layanan Akses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" y="3003202"/>
            <a:ext cx="10153650" cy="1847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Fira Code"/>
              </a:rPr>
              <a:t># Matikan layanan telnet dan http yang tidak aman</a:t>
            </a:r>
            <a:r>
              <a:rPr b="0" sz="1200" i="0" u="none">
                <a:solidFill>
                  <a:srgbClr val="FDFBF7"/>
                </a:solidFill>
                <a:latin typeface="Fira Code"/>
              </a:rPr>
              <a:t> [admin@MikroTik] &gt; </a:t>
            </a:r>
            <a:r>
              <a:rPr b="0" sz="1200" i="0" u="none">
                <a:solidFill>
                  <a:srgbClr val="D4AF37"/>
                </a:solidFill>
                <a:latin typeface="Fira Code"/>
              </a:rPr>
              <a:t>ip service</a:t>
            </a:r>
            <a:r>
              <a:rPr b="0" sz="1200" i="0" u="none">
                <a:solidFill>
                  <a:srgbClr val="FDFBF7"/>
                </a:solidFill>
                <a:latin typeface="Fira Code"/>
              </a:rPr>
              <a:t> disable telnet,api,ftp [admin@MikroTik] &gt; </a:t>
            </a:r>
            <a:r>
              <a:rPr b="0" sz="1200" i="0" u="none">
                <a:solidFill>
                  <a:srgbClr val="D4AF37"/>
                </a:solidFill>
                <a:latin typeface="Fira Code"/>
              </a:rPr>
              <a:t>ip service</a:t>
            </a:r>
            <a:r>
              <a:rPr b="0" sz="1200" i="0" u="none">
                <a:solidFill>
                  <a:srgbClr val="FDFBF7"/>
                </a:solidFill>
                <a:latin typeface="Fira Code"/>
              </a:rPr>
              <a:t> disable www </a:t>
            </a:r>
            <a:r>
              <a:rPr b="0" sz="1200" i="0" u="none">
                <a:solidFill>
                  <a:srgbClr val="94A3B8"/>
                </a:solidFill>
                <a:latin typeface="Fira Code"/>
              </a:rPr>
              <a:t># Ubah port Winbox dan SSH standar</a:t>
            </a:r>
            <a:r>
              <a:rPr b="0" sz="1200" i="0" u="none">
                <a:solidFill>
                  <a:srgbClr val="FDFBF7"/>
                </a:solidFill>
                <a:latin typeface="Fira Code"/>
              </a:rPr>
              <a:t> [admin@MikroTik] &gt; </a:t>
            </a:r>
            <a:r>
              <a:rPr b="0" sz="1200" i="0" u="none">
                <a:solidFill>
                  <a:srgbClr val="D4AF37"/>
                </a:solidFill>
                <a:latin typeface="Fira Code"/>
              </a:rPr>
              <a:t>ip service</a:t>
            </a:r>
            <a:r>
              <a:rPr b="0" sz="1200" i="0" u="none">
                <a:solidFill>
                  <a:srgbClr val="FDFBF7"/>
                </a:solidFill>
                <a:latin typeface="Fira Code"/>
              </a:rPr>
              <a:t> set winbox port=18291 [admin@MikroTik] &gt; </a:t>
            </a:r>
            <a:r>
              <a:rPr b="0" sz="1200" i="0" u="none">
                <a:solidFill>
                  <a:srgbClr val="D4AF37"/>
                </a:solidFill>
                <a:latin typeface="Fira Code"/>
              </a:rPr>
              <a:t>ip service</a:t>
            </a:r>
            <a:r>
              <a:rPr b="0" sz="1200" i="0" u="none">
                <a:solidFill>
                  <a:srgbClr val="FDFBF7"/>
                </a:solidFill>
                <a:latin typeface="Fira Code"/>
              </a:rPr>
              <a:t> set ssh port=2222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19750" y="4091880"/>
            <a:ext cx="9525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9759" y="2423219"/>
            <a:ext cx="1272331" cy="243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1" sz="1599" i="0" u="none">
                <a:solidFill>
                  <a:srgbClr val="FDFBF7"/>
                </a:solidFill>
                <a:latin typeface="Calibri"/>
              </a:rPr>
              <a:t>TOPIK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9329" y="2819400"/>
            <a:ext cx="8973191" cy="8533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b="1" sz="5600" i="0" u="none">
                <a:solidFill>
                  <a:srgbClr val="D4AF37"/>
                </a:solidFill>
                <a:latin typeface="Calibri"/>
              </a:rPr>
              <a:t>User, Backup &amp; NTP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272480"/>
            <a:ext cx="1066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263" y="1605855"/>
            <a:ext cx="4084736" cy="464254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2319" y="3450877"/>
            <a:ext cx="1190625" cy="952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586805"/>
            <a:ext cx="152400" cy="323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196405"/>
            <a:ext cx="152400" cy="3238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187005"/>
            <a:ext cx="152400" cy="32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09600"/>
            <a:ext cx="11430000" cy="57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Calibri"/>
              </a:rPr>
              <a:t>Manajemen Pengguna (User)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605855"/>
            <a:ext cx="7276579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Diakses melalui menu </a:t>
            </a:r>
            <a:r>
              <a:rPr b="1" sz="2000" i="0" u="none">
                <a:solidFill>
                  <a:srgbClr val="333333"/>
                </a:solidFill>
                <a:latin typeface="Calibri"/>
              </a:rPr>
              <a:t>System &gt; Users</a:t>
            </a:r>
            <a:r>
              <a:rPr b="0" sz="2000" i="0" u="none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15455"/>
            <a:ext cx="5840313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Digunakan untuk membatasi siapa yang boleh mengelola router.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206055"/>
            <a:ext cx="5840313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Hak akses diatur berdasarkan kebijakan grup (Group Policy).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272480"/>
            <a:ext cx="1066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605855"/>
            <a:ext cx="3352800" cy="4642544"/>
          </a:xfrm>
          <a:prstGeom prst="roundRect">
            <a:avLst>
              <a:gd name="adj" fmla="val 3409"/>
            </a:avLst>
          </a:prstGeom>
          <a:solidFill>
            <a:srgbClr val="FDFBF7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19600" y="1605855"/>
            <a:ext cx="3352800" cy="4642544"/>
          </a:xfrm>
          <a:prstGeom prst="roundRect">
            <a:avLst>
              <a:gd name="adj" fmla="val 3409"/>
            </a:avLst>
          </a:prstGeom>
          <a:solidFill>
            <a:srgbClr val="FDFBF7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1605855"/>
            <a:ext cx="3352800" cy="4642544"/>
          </a:xfrm>
          <a:prstGeom prst="roundRect">
            <a:avLst>
              <a:gd name="adj" fmla="val 3409"/>
            </a:avLst>
          </a:prstGeom>
          <a:solidFill>
            <a:srgbClr val="FDFBF7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609600"/>
            <a:ext cx="11430000" cy="57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Calibri"/>
              </a:rPr>
              <a:t>Grup Kebijakan Bawaan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525" y="1996380"/>
            <a:ext cx="3375421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Calibri"/>
              </a:rPr>
              <a:t>Full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525" y="2514451"/>
            <a:ext cx="2667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Memiliki seluruh hak akses. Bisa mengubah IP, membuat user baru, format disk. Setara Administrator.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10125" y="1996380"/>
            <a:ext cx="3375421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Calibri"/>
              </a:rPr>
              <a:t>Write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0125" y="2514451"/>
            <a:ext cx="2667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Bisa mengubah konfigurasi IP/Routing, tetapi tidak bisa menambah user baru atau mengakses fungsi FTP.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7725" y="1996380"/>
            <a:ext cx="3375421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Calibri"/>
              </a:rPr>
              <a:t>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67725" y="2514451"/>
            <a:ext cx="2667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Hanya bisa melihat konfigurasi (Read-only). Tidak bisa mengubah apapun. Cocok untuk fungsi audit.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272480"/>
            <a:ext cx="1066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698402"/>
            <a:ext cx="10668000" cy="2457450"/>
          </a:xfrm>
          <a:prstGeom prst="roundRect">
            <a:avLst>
              <a:gd name="adj" fmla="val 4651"/>
            </a:avLst>
          </a:prstGeom>
          <a:solidFill>
            <a:srgbClr val="1A150B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09600"/>
            <a:ext cx="11430000" cy="57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Calibri"/>
              </a:rPr>
              <a:t>Membuat Grup Spesifik (Custom)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" y="3003202"/>
            <a:ext cx="10153650" cy="1847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Fira Code"/>
              </a:rPr>
              <a:t># Buat grup baru dengan hak terbatas (hanya winbox &amp; read)</a:t>
            </a:r>
            <a:r>
              <a:rPr b="0" sz="1200" i="0" u="none">
                <a:solidFill>
                  <a:srgbClr val="FDFBF7"/>
                </a:solidFill>
                <a:latin typeface="Fira Code"/>
              </a:rPr>
              <a:t> [admin@MikroTik] &gt; </a:t>
            </a:r>
            <a:r>
              <a:rPr b="0" sz="1200" i="0" u="none">
                <a:solidFill>
                  <a:srgbClr val="D4AF37"/>
                </a:solidFill>
                <a:latin typeface="Fira Code"/>
              </a:rPr>
              <a:t>user group</a:t>
            </a:r>
            <a:r>
              <a:rPr b="0" sz="1200" i="0" u="none">
                <a:solidFill>
                  <a:srgbClr val="FDFBF7"/>
                </a:solidFill>
                <a:latin typeface="Fira Code"/>
              </a:rPr>
              <a:t> add name=teknisi-magang \ policy=winbox,read,telnet </a:t>
            </a:r>
            <a:r>
              <a:rPr b="0" sz="1200" i="0" u="none">
                <a:solidFill>
                  <a:srgbClr val="94A3B8"/>
                </a:solidFill>
                <a:latin typeface="Fira Code"/>
              </a:rPr>
              <a:t># Daftarkan user ke grup baru</a:t>
            </a:r>
            <a:r>
              <a:rPr b="0" sz="1200" i="0" u="none">
                <a:solidFill>
                  <a:srgbClr val="FDFBF7"/>
                </a:solidFill>
                <a:latin typeface="Fira Code"/>
              </a:rPr>
              <a:t> [admin@MikroTik] &gt; </a:t>
            </a:r>
            <a:r>
              <a:rPr b="0" sz="1200" i="0" u="none">
                <a:solidFill>
                  <a:srgbClr val="D4AF37"/>
                </a:solidFill>
                <a:latin typeface="Fira Code"/>
              </a:rPr>
              <a:t>user</a:t>
            </a:r>
            <a:r>
              <a:rPr b="0" sz="1200" i="0" u="none">
                <a:solidFill>
                  <a:srgbClr val="FDFBF7"/>
                </a:solidFill>
                <a:latin typeface="Fira Code"/>
              </a:rPr>
              <a:t> add name=budi \ password=rahasia group=teknisi-magang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272480"/>
            <a:ext cx="1066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45709" y="1605855"/>
            <a:ext cx="4084290" cy="4642544"/>
          </a:xfrm>
          <a:prstGeom prst="roundRect">
            <a:avLst>
              <a:gd name="adj" fmla="val 2798"/>
            </a:avLst>
          </a:prstGeom>
          <a:solidFill>
            <a:srgbClr val="1A1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1530" y="3184177"/>
            <a:ext cx="952500" cy="952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609600"/>
            <a:ext cx="11430000" cy="57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Calibri"/>
              </a:rPr>
              <a:t>Aturan Emas Keamanan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906017"/>
            <a:ext cx="8041044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Calibri"/>
              </a:rPr>
              <a:t>Lumpuhkan User Default!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424088"/>
            <a:ext cx="6221759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Setiap peretas tahu bahwa MikroTik memiliki user bernama "admin". Selalu buat user baru dengan hak "Full", lalu disable/hapus akun bawaan pabrik tersebut.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3949" y="4289077"/>
            <a:ext cx="158781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b="0" sz="2000" i="0" u="none">
                <a:solidFill>
                  <a:srgbClr val="FFFFFF"/>
                </a:solidFill>
                <a:latin typeface="Calibri"/>
              </a:rPr>
              <a:t>Bye admin!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272480"/>
            <a:ext cx="1066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605855"/>
            <a:ext cx="5181600" cy="4642544"/>
          </a:xfrm>
          <a:prstGeom prst="roundRect">
            <a:avLst>
              <a:gd name="adj" fmla="val 2462"/>
            </a:avLst>
          </a:prstGeom>
          <a:solidFill>
            <a:srgbClr val="FDFBF7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1605855"/>
            <a:ext cx="5181600" cy="4642544"/>
          </a:xfrm>
          <a:prstGeom prst="roundRect">
            <a:avLst>
              <a:gd name="adj" fmla="val 2462"/>
            </a:avLst>
          </a:prstGeom>
          <a:solidFill>
            <a:srgbClr val="FDFBF7"/>
          </a:solidFill>
          <a:ln w="9525">
            <a:solidFill>
              <a:srgbClr val="F0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1996380"/>
            <a:ext cx="440055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925" y="1996380"/>
            <a:ext cx="440055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609600"/>
            <a:ext cx="11430000" cy="57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Calibri"/>
              </a:rPr>
              <a:t>Dua Metode Backup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525" y="2682180"/>
            <a:ext cx="5775721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Calibri"/>
              </a:rPr>
              <a:t>System Backup (.backup)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3200251"/>
            <a:ext cx="4495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Mencadangkan seluruh isi perangkat persis 100%.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2682180"/>
            <a:ext cx="5553075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Calibri"/>
              </a:rPr>
              <a:t>Export Script (.rsc)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925" y="3200251"/>
            <a:ext cx="4495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Mencadangkan konfigurasi dalam format teks instruksi murni.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272480"/>
            <a:ext cx="1066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586805"/>
            <a:ext cx="152400" cy="323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77405"/>
            <a:ext cx="152400" cy="323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568005"/>
            <a:ext cx="152400" cy="3238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09600"/>
            <a:ext cx="11430000" cy="57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Calibri"/>
              </a:rPr>
              <a:t>Karakteristik Binary (.backup)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600" y="1605855"/>
            <a:ext cx="5867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EF4444"/>
                </a:solidFill>
                <a:latin typeface="Calibri"/>
              </a:rPr>
              <a:t>Kekurangan Utama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600" y="2123926"/>
            <a:ext cx="5200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Hanya boleh di-restore ke perangkat yang </a:t>
            </a:r>
            <a:r>
              <a:rPr b="1" sz="2000" i="0" u="none">
                <a:solidFill>
                  <a:srgbClr val="333333"/>
                </a:solidFill>
                <a:latin typeface="Calibri"/>
              </a:rPr>
              <a:t>sama persis</a:t>
            </a:r>
            <a:r>
              <a:rPr b="0" sz="2000" i="0" u="none">
                <a:solidFill>
                  <a:srgbClr val="333333"/>
                </a:solidFill>
                <a:latin typeface="Calibri"/>
              </a:rPr>
              <a:t> (seri &amp; mac address). Jika dipindah ke RB beda seri, sistem jaringan akan kacau.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605855"/>
            <a:ext cx="48196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File tidak bisa dibaca manusia (terenkripsi).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596455"/>
            <a:ext cx="48196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Menyimpan kata sandi, sertifikat, dan histori grafik.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587055"/>
            <a:ext cx="600075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Menu: </a:t>
            </a:r>
            <a:r>
              <a:rPr b="1" sz="2000" i="0" u="none">
                <a:solidFill>
                  <a:srgbClr val="333333"/>
                </a:solidFill>
                <a:latin typeface="Calibri"/>
              </a:rPr>
              <a:t>Files &gt; Backup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272480"/>
            <a:ext cx="1066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584102"/>
            <a:ext cx="10668000" cy="2686050"/>
          </a:xfrm>
          <a:prstGeom prst="roundRect">
            <a:avLst>
              <a:gd name="adj" fmla="val 4255"/>
            </a:avLst>
          </a:prstGeom>
          <a:solidFill>
            <a:srgbClr val="1A150B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09600"/>
            <a:ext cx="11430000" cy="57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Calibri"/>
              </a:rPr>
              <a:t>Karakteristik Export (.rsc)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" y="2888902"/>
            <a:ext cx="10153650" cy="2076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Fira Code"/>
              </a:rPr>
              <a:t># Perintah ini mencetak seluruh konfigurasi ke file teks</a:t>
            </a:r>
            <a:r>
              <a:rPr b="0" sz="1200" i="0" u="none">
                <a:solidFill>
                  <a:srgbClr val="FDFBF7"/>
                </a:solidFill>
                <a:latin typeface="Fira Code"/>
              </a:rPr>
              <a:t> [admin@MikroTik] &gt; </a:t>
            </a:r>
            <a:r>
              <a:rPr b="0" sz="1200" i="0" u="none">
                <a:solidFill>
                  <a:srgbClr val="D4AF37"/>
                </a:solidFill>
                <a:latin typeface="Fira Code"/>
              </a:rPr>
              <a:t>export</a:t>
            </a:r>
            <a:r>
              <a:rPr b="0" sz="1200" i="0" u="none">
                <a:solidFill>
                  <a:srgbClr val="FDFBF7"/>
                </a:solidFill>
                <a:latin typeface="Fira Code"/>
              </a:rPr>
              <a:t> file=konfigurasi_kantor </a:t>
            </a:r>
            <a:r>
              <a:rPr b="0" sz="1200" i="0" u="none">
                <a:solidFill>
                  <a:srgbClr val="94A3B8"/>
                </a:solidFill>
                <a:latin typeface="Fira Code"/>
              </a:rPr>
              <a:t># Hasil file .rsc bisa dibuka di Notepad. Contoh isi:</a:t>
            </a:r>
            <a:r>
              <a:rPr b="0" sz="1200" i="0" u="none">
                <a:solidFill>
                  <a:srgbClr val="FDFBF7"/>
                </a:solidFill>
                <a:latin typeface="Fira Code"/>
              </a:rPr>
              <a:t> /ip address add address=192.168.1.1/24 interface=ether1 /ip route add distance=1 gateway=10.10.10.1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272480"/>
            <a:ext cx="1066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605855"/>
            <a:ext cx="5105400" cy="464254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1624905"/>
            <a:ext cx="5067300" cy="460444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041177"/>
            <a:ext cx="152400" cy="323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412777"/>
            <a:ext cx="152400" cy="3238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784377"/>
            <a:ext cx="152400" cy="32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09600"/>
            <a:ext cx="11430000" cy="57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Calibri"/>
              </a:rPr>
              <a:t>Masalah Waktu (Clock)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060227"/>
            <a:ext cx="48196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Sebagian besar tipe RouterBoard fisik tidak memiliki baterai CMOS di papan sirkuitnya.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431827"/>
            <a:ext cx="48196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Akibatnya, setiap perangkat direstart, jam akan kembali ke tanggal default (misal 1 Jan 1970).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803427"/>
            <a:ext cx="48196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Berbahaya untuk validasi sertifikat HTTPS dan jadwal log.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272480"/>
            <a:ext cx="10668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584102"/>
            <a:ext cx="10668000" cy="2686050"/>
          </a:xfrm>
          <a:prstGeom prst="roundRect">
            <a:avLst>
              <a:gd name="adj" fmla="val 4255"/>
            </a:avLst>
          </a:prstGeom>
          <a:solidFill>
            <a:srgbClr val="1A150B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09600"/>
            <a:ext cx="11430000" cy="57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Calibri"/>
              </a:rPr>
              <a:t>Network Time Protocol (NTP)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" y="2888902"/>
            <a:ext cx="10153650" cy="2076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Fira Code"/>
              </a:rPr>
              <a:t># Solusi: Minta waktu otomatis dari server waktu internet</a:t>
            </a:r>
            <a:r>
              <a:rPr b="0" sz="1200" i="0" u="none">
                <a:solidFill>
                  <a:srgbClr val="FDFBF7"/>
                </a:solidFill>
                <a:latin typeface="Fira Code"/>
              </a:rPr>
              <a:t> </a:t>
            </a:r>
            <a:r>
              <a:rPr b="0" sz="1200" i="0" u="none">
                <a:solidFill>
                  <a:srgbClr val="94A3B8"/>
                </a:solidFill>
                <a:latin typeface="Fira Code"/>
              </a:rPr>
              <a:t># Menu: System &gt; SNTP Client</a:t>
            </a:r>
            <a:r>
              <a:rPr b="0" sz="1200" i="0" u="none">
                <a:solidFill>
                  <a:srgbClr val="FDFBF7"/>
                </a:solidFill>
                <a:latin typeface="Fira Code"/>
              </a:rPr>
              <a:t> [admin@MikroTik] &gt; </a:t>
            </a:r>
            <a:r>
              <a:rPr b="0" sz="1200" i="0" u="none">
                <a:solidFill>
                  <a:srgbClr val="D4AF37"/>
                </a:solidFill>
                <a:latin typeface="Fira Code"/>
              </a:rPr>
              <a:t>system ntp client</a:t>
            </a:r>
            <a:r>
              <a:rPr b="0" sz="1200" i="0" u="none">
                <a:solidFill>
                  <a:srgbClr val="FDFBF7"/>
                </a:solidFill>
                <a:latin typeface="Fira Code"/>
              </a:rPr>
              <a:t> set enabled=yes \ servers=id.pool.ntp.org </a:t>
            </a:r>
            <a:r>
              <a:rPr b="0" sz="1200" i="0" u="none">
                <a:solidFill>
                  <a:srgbClr val="94A3B8"/>
                </a:solidFill>
                <a:latin typeface="Fira Code"/>
              </a:rPr>
              <a:t># Atur zona waktu ke wilayah Indonesia (WIB)</a:t>
            </a:r>
            <a:r>
              <a:rPr b="0" sz="1200" i="0" u="none">
                <a:solidFill>
                  <a:srgbClr val="FDFBF7"/>
                </a:solidFill>
                <a:latin typeface="Fira Code"/>
              </a:rPr>
              <a:t> [admin@MikroTik] &gt; </a:t>
            </a:r>
            <a:r>
              <a:rPr b="0" sz="1200" i="0" u="none">
                <a:solidFill>
                  <a:srgbClr val="D4AF37"/>
                </a:solidFill>
                <a:latin typeface="Fira Code"/>
              </a:rPr>
              <a:t>system clock</a:t>
            </a:r>
            <a:r>
              <a:rPr b="0" sz="1200" i="0" u="none">
                <a:solidFill>
                  <a:srgbClr val="FDFBF7"/>
                </a:solidFill>
                <a:latin typeface="Fira Code"/>
              </a:rPr>
              <a:t> set time-zone-name=Asia/Jakarta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272480"/>
            <a:ext cx="10668000" cy="28575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104876"/>
            <a:ext cx="152400" cy="323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095476"/>
            <a:ext cx="152400" cy="323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705076"/>
            <a:ext cx="152400" cy="323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104876"/>
            <a:ext cx="152400" cy="3238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3095476"/>
            <a:ext cx="152400" cy="32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09600"/>
            <a:ext cx="11430000" cy="57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D4AF37"/>
                </a:solidFill>
                <a:latin typeface="Calibri"/>
              </a:rPr>
              <a:t>Tantangan Praktikum Laboratorium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605855"/>
            <a:ext cx="6700837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DFBF7"/>
                </a:solidFill>
                <a:latin typeface="Calibri"/>
              </a:rPr>
              <a:t>Skenario Sistem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0" y="1605855"/>
            <a:ext cx="5867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DFBF7"/>
                </a:solidFill>
                <a:latin typeface="Calibri"/>
              </a:rPr>
              <a:t>Skenario Pemeliharaan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123926"/>
            <a:ext cx="48196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FDFBF7"/>
                </a:solidFill>
                <a:latin typeface="Calibri"/>
              </a:rPr>
              <a:t>Buat User baru dengan nama Anda dan akses hak Full.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114526"/>
            <a:ext cx="600075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FDFBF7"/>
                </a:solidFill>
                <a:latin typeface="Calibri"/>
              </a:rPr>
              <a:t>Disable user bawaan "admin".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724126"/>
            <a:ext cx="48196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FDFBF7"/>
                </a:solidFill>
                <a:latin typeface="Calibri"/>
              </a:rPr>
              <a:t>Matikan port Telnet, WWW, dan FTP. Ubah port Winbox menjadi 8899.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5600" y="2123926"/>
            <a:ext cx="48196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FDFBF7"/>
                </a:solidFill>
                <a:latin typeface="Calibri"/>
              </a:rPr>
              <a:t>Sinkronisasi jam perangkat ke `id.pool.ntp.org`.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5600" y="3114526"/>
            <a:ext cx="48196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FDFBF7"/>
                </a:solidFill>
                <a:latin typeface="Calibri"/>
              </a:rPr>
              <a:t>Buat backup konfigurasi berupa file `.rsc` dengan nama file `tugas1_nama.rsc`.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19750" y="4419600"/>
            <a:ext cx="9525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97665" y="2095500"/>
            <a:ext cx="4596668" cy="1219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b="1" sz="8000" i="0" u="none">
                <a:solidFill>
                  <a:srgbClr val="0F172A"/>
                </a:solidFill>
                <a:latin typeface="Calibri"/>
              </a:rPr>
              <a:t>Selesai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353" y="3733800"/>
            <a:ext cx="3963292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b="0" sz="2000" i="0" u="none">
                <a:solidFill>
                  <a:srgbClr val="64748B"/>
                </a:solidFill>
                <a:latin typeface="Calibri"/>
              </a:rPr>
              <a:t>Sesi Diskusi &amp; Tanya Jawab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1234380"/>
            <a:ext cx="3252638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567755"/>
            <a:ext cx="11049000" cy="1104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672655"/>
            <a:ext cx="11049000" cy="1485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4158555"/>
            <a:ext cx="11049000" cy="1485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66313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66313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414903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414903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563493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563493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77317"/>
            <a:ext cx="857250" cy="476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72717"/>
            <a:ext cx="857250" cy="476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658617"/>
            <a:ext cx="857250" cy="4762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144517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571500"/>
            <a:ext cx="4269088" cy="57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Calibri"/>
              </a:rPr>
              <a:t>Image 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1710630"/>
            <a:ext cx="6544344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https://www.wifi-stock.com/full/rb760igs_00.jpg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6875" y="2139255"/>
            <a:ext cx="3932969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Source: </a:t>
            </a:r>
            <a:r>
              <a:rPr b="0" sz="2000" i="0" u="none">
                <a:solidFill>
                  <a:srgbClr val="4F46E5"/>
                </a:solidFill>
                <a:latin typeface="Calibri"/>
              </a:rPr>
              <a:t>www.wifi-stock.com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6875" y="2815530"/>
            <a:ext cx="10048875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https://www.racksolutions.com/news/app/uploads/AdobeStock_250694952-e1696606767656.jpeg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3625155"/>
            <a:ext cx="4480284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Source: </a:t>
            </a:r>
            <a:r>
              <a:rPr b="0" sz="2000" i="0" u="none">
                <a:solidFill>
                  <a:srgbClr val="4F46E5"/>
                </a:solidFill>
                <a:latin typeface="Calibri"/>
              </a:rPr>
              <a:t>www.racksolutions.com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6875" y="4301430"/>
            <a:ext cx="10048875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https://code.visualstudio.com/assets/docs/configure/command-line/command-line-help.png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6875" y="5111055"/>
            <a:ext cx="4304667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Source: </a:t>
            </a:r>
            <a:r>
              <a:rPr b="0" sz="2000" i="0" u="none">
                <a:solidFill>
                  <a:srgbClr val="4F46E5"/>
                </a:solidFill>
                <a:latin typeface="Calibri"/>
              </a:rPr>
              <a:t>code.visualstudio.com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5787330"/>
            <a:ext cx="10048875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https://www.masterclock.com/cmss_files/imagelibrary/articles/GPS-Network-Timing-Synchronization.jpg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6875" y="6596955"/>
            <a:ext cx="4321224" cy="2610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000" i="0" u="none">
                <a:solidFill>
                  <a:srgbClr val="333333"/>
                </a:solidFill>
                <a:latin typeface="Calibri"/>
              </a:rPr>
              <a:t>Source: </a:t>
            </a:r>
            <a:r>
              <a:rPr b="0" sz="2000" i="0" u="none">
                <a:solidFill>
                  <a:srgbClr val="4F46E5"/>
                </a:solidFill>
                <a:latin typeface="Calibri"/>
              </a:rPr>
              <a:t>www.masterclock.com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