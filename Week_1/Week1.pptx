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9144000"/>
  <p:embeddedFontLst>
    <p:embeddedFont>
      <p:font typeface="Calibri" panose="020F0502020204030204" pitchFamily="34" charset="0"/>
      <p:regular r:id="rId44"/>
      <p:bold r:id="rId45"/>
      <p:italic r:id="rId46"/>
      <p:boldItalic r:id="rId47"/>
    </p:embeddedFont>
    <p:embeddedFont>
      <p:font typeface="Lora" pitchFamily="2" charset="0"/>
      <p:regular r:id="rId48"/>
      <p:bold r:id="rId49"/>
      <p:italic r:id="rId50"/>
      <p:boldItalic r:id="rId51"/>
    </p:embeddedFont>
    <p:embeddedFont>
      <p:font typeface="Nunito" pitchFamily="2" charset="0"/>
      <p:regular r:id="rId52"/>
      <p:bold r:id="rId53"/>
      <p:italic r:id="rId5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5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font" Target="fonts/font9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3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.png"/><Relationship Id="rId7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13.png"/><Relationship Id="rId7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3474" y="2429023"/>
            <a:ext cx="9105057" cy="6860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sz="3600" b="1" i="0" u="none" dirty="0" err="1">
                <a:solidFill>
                  <a:srgbClr val="292524"/>
                </a:solidFill>
                <a:latin typeface="Lora"/>
              </a:rPr>
              <a:t>Jaringan</a:t>
            </a:r>
            <a:r>
              <a:rPr sz="3600" b="1" i="0" u="none" dirty="0">
                <a:solidFill>
                  <a:srgbClr val="292524"/>
                </a:solidFill>
                <a:latin typeface="Lora"/>
              </a:rPr>
              <a:t> </a:t>
            </a:r>
            <a:r>
              <a:rPr sz="3600" b="1" i="0" u="none" dirty="0" err="1">
                <a:solidFill>
                  <a:srgbClr val="292524"/>
                </a:solidFill>
                <a:latin typeface="Lora"/>
              </a:rPr>
              <a:t>Komputer</a:t>
            </a:r>
            <a:r>
              <a:rPr sz="3600" b="1" i="0" u="none" dirty="0">
                <a:solidFill>
                  <a:srgbClr val="292524"/>
                </a:solidFill>
                <a:latin typeface="Lora"/>
              </a:rPr>
              <a:t> </a:t>
            </a:r>
            <a:r>
              <a:rPr lang="en-US" sz="3600" b="1" i="0" u="none" dirty="0">
                <a:solidFill>
                  <a:srgbClr val="0F172A"/>
                </a:solidFill>
                <a:latin typeface="Lora"/>
              </a:rPr>
              <a:t>dan </a:t>
            </a:r>
            <a:r>
              <a:rPr lang="en-US" sz="3600" b="1" i="0" u="none" dirty="0" err="1">
                <a:solidFill>
                  <a:srgbClr val="0F172A"/>
                </a:solidFill>
                <a:latin typeface="Lora"/>
              </a:rPr>
              <a:t>Komunikasi</a:t>
            </a:r>
            <a:r>
              <a:rPr lang="en-US" sz="3600" b="1" i="0" u="none" dirty="0">
                <a:solidFill>
                  <a:srgbClr val="0F172A"/>
                </a:solidFill>
                <a:latin typeface="Lora"/>
              </a:rPr>
              <a:t> Data</a:t>
            </a:r>
            <a:endParaRPr sz="3600" b="1" i="0" u="none" dirty="0">
              <a:solidFill>
                <a:srgbClr val="0F172A"/>
              </a:solidFill>
              <a:latin typeface="Lor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8187" y="3469034"/>
            <a:ext cx="1071562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 dirty="0" err="1">
                <a:solidFill>
                  <a:srgbClr val="78716C"/>
                </a:solidFill>
                <a:latin typeface="Nunito"/>
              </a:rPr>
              <a:t>Memahami</a:t>
            </a:r>
            <a:r>
              <a:rPr sz="1800" b="0" i="0" u="none" dirty="0">
                <a:solidFill>
                  <a:srgbClr val="78716C"/>
                </a:solidFill>
                <a:latin typeface="Nunito"/>
              </a:rPr>
              <a:t> </a:t>
            </a:r>
            <a:r>
              <a:rPr sz="1800" b="0" i="0" u="none" dirty="0" err="1">
                <a:solidFill>
                  <a:srgbClr val="78716C"/>
                </a:solidFill>
                <a:latin typeface="Nunito"/>
              </a:rPr>
              <a:t>Konsep</a:t>
            </a:r>
            <a:r>
              <a:rPr sz="1800" b="0" i="0" u="none" dirty="0">
                <a:solidFill>
                  <a:srgbClr val="78716C"/>
                </a:solidFill>
                <a:latin typeface="Nunito"/>
              </a:rPr>
              <a:t> </a:t>
            </a:r>
            <a:r>
              <a:rPr sz="1800" b="0" i="0" u="none" dirty="0" err="1">
                <a:solidFill>
                  <a:srgbClr val="78716C"/>
                </a:solidFill>
                <a:latin typeface="Nunito"/>
              </a:rPr>
              <a:t>Komunikasi</a:t>
            </a:r>
            <a:r>
              <a:rPr sz="1800" b="0" i="0" u="none" dirty="0">
                <a:solidFill>
                  <a:srgbClr val="78716C"/>
                </a:solidFill>
                <a:latin typeface="Nunito"/>
              </a:rPr>
              <a:t> Data, Model OSI &amp; TCP/IP, </a:t>
            </a:r>
            <a:r>
              <a:rPr sz="1800" b="0" i="0" u="none" dirty="0" err="1">
                <a:solidFill>
                  <a:srgbClr val="78716C"/>
                </a:solidFill>
                <a:latin typeface="Nunito"/>
              </a:rPr>
              <a:t>serta</a:t>
            </a:r>
            <a:r>
              <a:rPr sz="1800" b="0" i="0" u="none" dirty="0">
                <a:solidFill>
                  <a:srgbClr val="78716C"/>
                </a:solidFill>
                <a:latin typeface="Nunito"/>
              </a:rPr>
              <a:t> </a:t>
            </a:r>
            <a:r>
              <a:rPr sz="1800" b="0" i="0" u="none" dirty="0" err="1">
                <a:solidFill>
                  <a:srgbClr val="78716C"/>
                </a:solidFill>
                <a:latin typeface="Nunito"/>
              </a:rPr>
              <a:t>Pengalamatan</a:t>
            </a:r>
            <a:r>
              <a:rPr sz="1800" b="0" i="0" u="none" dirty="0">
                <a:solidFill>
                  <a:srgbClr val="78716C"/>
                </a:solidFill>
                <a:latin typeface="Nunito"/>
              </a:rPr>
              <a:t> IP (IPv4) &amp; Subnetting (VLSM)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F5DCDB-E147-E2FA-CCAB-8C67AFD61D98}"/>
              </a:ext>
            </a:extLst>
          </p:cNvPr>
          <p:cNvSpPr txBox="1"/>
          <p:nvPr/>
        </p:nvSpPr>
        <p:spPr>
          <a:xfrm>
            <a:off x="738186" y="4659266"/>
            <a:ext cx="10715625" cy="3481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1800" b="0" i="0" u="none" dirty="0">
                <a:solidFill>
                  <a:srgbClr val="78716C"/>
                </a:solidFill>
                <a:latin typeface="Nunito"/>
              </a:rPr>
              <a:t>Asrul Abdullah</a:t>
            </a:r>
            <a:endParaRPr sz="1800" b="0" i="0" u="none" dirty="0">
              <a:solidFill>
                <a:srgbClr val="78716C"/>
              </a:solidFill>
              <a:latin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2441376"/>
            <a:ext cx="3492549" cy="2889646"/>
          </a:xfrm>
          <a:prstGeom prst="roundRect">
            <a:avLst>
              <a:gd name="adj" fmla="val 6592"/>
            </a:avLst>
          </a:prstGeom>
          <a:solidFill>
            <a:srgbClr val="FAFAF9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49799" y="2441376"/>
            <a:ext cx="3492549" cy="2889646"/>
          </a:xfrm>
          <a:prstGeom prst="roundRect">
            <a:avLst>
              <a:gd name="adj" fmla="val 6592"/>
            </a:avLst>
          </a:prstGeom>
          <a:solidFill>
            <a:srgbClr val="FAFAF9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128099" y="2441376"/>
            <a:ext cx="3492549" cy="2889646"/>
          </a:xfrm>
          <a:prstGeom prst="roundRect">
            <a:avLst>
              <a:gd name="adj" fmla="val 6592"/>
            </a:avLst>
          </a:prstGeom>
          <a:solidFill>
            <a:srgbClr val="FAFAF9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784276"/>
            <a:ext cx="790575" cy="685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699" y="2784276"/>
            <a:ext cx="733425" cy="685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0999" y="2784276"/>
            <a:ext cx="685800" cy="685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275" y="2927151"/>
            <a:ext cx="504825" cy="4000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5574" y="2927151"/>
            <a:ext cx="447675" cy="4000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3874" y="2927151"/>
            <a:ext cx="400050" cy="4000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92524"/>
                </a:solidFill>
                <a:latin typeface="Lora"/>
              </a:rPr>
              <a:t>Agenda Pembelajaran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08201"/>
            <a:ext cx="124015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292524"/>
                </a:solidFill>
                <a:latin typeface="Lora"/>
              </a:rPr>
              <a:t>Bagian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08276"/>
            <a:ext cx="2901999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i="0" u="none" dirty="0" err="1">
                <a:solidFill>
                  <a:srgbClr val="44403C"/>
                </a:solidFill>
                <a:latin typeface="Nunito"/>
              </a:rPr>
              <a:t>Konsep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Komunikasi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 Data &amp;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Topologi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Jaringan</a:t>
            </a:r>
            <a:endParaRPr b="0" i="0" u="none" dirty="0">
              <a:solidFill>
                <a:srgbClr val="44403C"/>
              </a:solidFill>
              <a:latin typeface="Nunito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92699" y="3708201"/>
            <a:ext cx="1270158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92524"/>
                </a:solidFill>
                <a:latin typeface="Lora"/>
              </a:rPr>
              <a:t>Bagian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2699" y="4308276"/>
            <a:ext cx="2901999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i="0" u="none" dirty="0">
                <a:solidFill>
                  <a:srgbClr val="44403C"/>
                </a:solidFill>
                <a:latin typeface="Nunito"/>
              </a:rPr>
              <a:t>Model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Referensi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 OSI 7 Layer &amp; DoD (TCP/IP)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0999" y="3708201"/>
            <a:ext cx="1270158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92524"/>
                </a:solidFill>
                <a:latin typeface="Lora"/>
              </a:rPr>
              <a:t>Bagian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0999" y="4308276"/>
            <a:ext cx="2901999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i="0" u="none" dirty="0" err="1">
                <a:solidFill>
                  <a:srgbClr val="44403C"/>
                </a:solidFill>
                <a:latin typeface="Nunito"/>
              </a:rPr>
              <a:t>Pengalamatan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 IP (IPv4) &amp;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Konsep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 Subnetting (VLSM)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24500" y="2158454"/>
            <a:ext cx="1143000" cy="571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9074" y="2501354"/>
            <a:ext cx="10813851" cy="156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292524"/>
                </a:solidFill>
                <a:latin typeface="Lora"/>
              </a:rPr>
              <a:t>Bagian 1:</a:t>
            </a:r>
            <a:r>
              <a:t>
</a:t>
            </a:r>
            <a:r>
              <a:rPr sz="4800" b="1" i="0" u="none">
                <a:solidFill>
                  <a:srgbClr val="0F172A"/>
                </a:solidFill>
                <a:latin typeface="Lora"/>
              </a:rPr>
              <a:t>Komunikasi Data &amp; Topologi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253954"/>
            <a:ext cx="95250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 dirty="0" err="1">
                <a:solidFill>
                  <a:srgbClr val="78716C"/>
                </a:solidFill>
                <a:latin typeface="Nunito"/>
              </a:rPr>
              <a:t>Memahami</a:t>
            </a:r>
            <a:r>
              <a:rPr sz="1800" b="0" i="0" u="none" dirty="0">
                <a:solidFill>
                  <a:srgbClr val="78716C"/>
                </a:solidFill>
                <a:latin typeface="Nunito"/>
              </a:rPr>
              <a:t> </a:t>
            </a:r>
            <a:r>
              <a:rPr sz="1800" b="0" i="0" u="none" dirty="0" err="1">
                <a:solidFill>
                  <a:srgbClr val="78716C"/>
                </a:solidFill>
                <a:latin typeface="Nunito"/>
              </a:rPr>
              <a:t>dasar</a:t>
            </a:r>
            <a:r>
              <a:rPr sz="1800" b="0" i="0" u="none" dirty="0">
                <a:solidFill>
                  <a:srgbClr val="78716C"/>
                </a:solidFill>
                <a:latin typeface="Nunito"/>
              </a:rPr>
              <a:t> </a:t>
            </a:r>
            <a:r>
              <a:rPr sz="1800" b="0" i="0" u="none" dirty="0" err="1">
                <a:solidFill>
                  <a:srgbClr val="78716C"/>
                </a:solidFill>
                <a:latin typeface="Nunito"/>
              </a:rPr>
              <a:t>perpindahan</a:t>
            </a:r>
            <a:r>
              <a:rPr sz="1800" b="0" i="0" u="none" dirty="0">
                <a:solidFill>
                  <a:srgbClr val="78716C"/>
                </a:solidFill>
                <a:latin typeface="Nunito"/>
              </a:rPr>
              <a:t> data dan </a:t>
            </a:r>
            <a:r>
              <a:rPr sz="1800" b="0" i="0" u="none" dirty="0" err="1">
                <a:solidFill>
                  <a:srgbClr val="78716C"/>
                </a:solidFill>
                <a:latin typeface="Nunito"/>
              </a:rPr>
              <a:t>struktur</a:t>
            </a:r>
            <a:r>
              <a:rPr sz="1800" b="0" i="0" u="none" dirty="0">
                <a:solidFill>
                  <a:srgbClr val="78716C"/>
                </a:solidFill>
                <a:latin typeface="Nunito"/>
              </a:rPr>
              <a:t> </a:t>
            </a:r>
            <a:r>
              <a:rPr sz="1800" b="0" i="0" u="none" dirty="0" err="1">
                <a:solidFill>
                  <a:srgbClr val="78716C"/>
                </a:solidFill>
                <a:latin typeface="Nunito"/>
              </a:rPr>
              <a:t>rancangan</a:t>
            </a:r>
            <a:r>
              <a:rPr sz="1800" b="0" i="0" u="none" dirty="0">
                <a:solidFill>
                  <a:srgbClr val="78716C"/>
                </a:solidFill>
                <a:latin typeface="Nunito"/>
              </a:rPr>
              <a:t> </a:t>
            </a:r>
            <a:r>
              <a:rPr sz="1800" b="0" i="0" u="none" dirty="0" err="1">
                <a:solidFill>
                  <a:srgbClr val="78716C"/>
                </a:solidFill>
                <a:latin typeface="Nunito"/>
              </a:rPr>
              <a:t>fisik</a:t>
            </a:r>
            <a:r>
              <a:rPr sz="1800" b="0" i="0" u="none" dirty="0">
                <a:solidFill>
                  <a:srgbClr val="78716C"/>
                </a:solidFill>
                <a:latin typeface="Nunito"/>
              </a:rPr>
              <a:t> </a:t>
            </a:r>
            <a:r>
              <a:rPr sz="1800" b="0" i="0" u="none" dirty="0" err="1">
                <a:solidFill>
                  <a:srgbClr val="78716C"/>
                </a:solidFill>
                <a:latin typeface="Nunito"/>
              </a:rPr>
              <a:t>jaringan</a:t>
            </a:r>
            <a:r>
              <a:rPr sz="1800" b="0" i="0" u="none" dirty="0">
                <a:solidFill>
                  <a:srgbClr val="78716C"/>
                </a:solidFill>
                <a:latin typeface="Nunito"/>
              </a:rPr>
              <a:t> </a:t>
            </a:r>
            <a:r>
              <a:rPr sz="1800" b="0" i="0" u="none" dirty="0" err="1">
                <a:solidFill>
                  <a:srgbClr val="78716C"/>
                </a:solidFill>
                <a:latin typeface="Nunito"/>
              </a:rPr>
              <a:t>komputer</a:t>
            </a:r>
            <a:r>
              <a:rPr sz="1800" b="0" i="0" u="none" dirty="0">
                <a:solidFill>
                  <a:srgbClr val="78716C"/>
                </a:solidFill>
                <a:latin typeface="Nunito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92524"/>
                </a:solidFill>
                <a:latin typeface="Lora"/>
              </a:rPr>
              <a:t>Definisi Komunikasi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2468" y="2575619"/>
            <a:ext cx="10787062" cy="224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sz="3150" b="1" i="0" u="none" dirty="0">
                <a:solidFill>
                  <a:srgbClr val="292524"/>
                </a:solidFill>
                <a:latin typeface="Lora"/>
              </a:rPr>
              <a:t>Proses </a:t>
            </a:r>
            <a:r>
              <a:rPr sz="3150" b="1" i="0" u="none" dirty="0" err="1">
                <a:solidFill>
                  <a:srgbClr val="292524"/>
                </a:solidFill>
                <a:latin typeface="Lora"/>
              </a:rPr>
              <a:t>pertukaran</a:t>
            </a:r>
            <a:r>
              <a:rPr sz="3150" b="1" i="0" u="none" dirty="0">
                <a:solidFill>
                  <a:srgbClr val="292524"/>
                </a:solidFill>
                <a:latin typeface="Lora"/>
              </a:rPr>
              <a:t> data </a:t>
            </a:r>
            <a:r>
              <a:rPr sz="3150" b="1" i="0" u="none" dirty="0" err="1">
                <a:solidFill>
                  <a:srgbClr val="292524"/>
                </a:solidFill>
                <a:latin typeface="Lora"/>
              </a:rPr>
              <a:t>atau</a:t>
            </a:r>
            <a:r>
              <a:rPr sz="3150" b="1" i="0" u="none" dirty="0">
                <a:solidFill>
                  <a:srgbClr val="292524"/>
                </a:solidFill>
                <a:latin typeface="Lora"/>
              </a:rPr>
              <a:t> </a:t>
            </a:r>
            <a:r>
              <a:rPr sz="3150" b="1" i="0" u="none" dirty="0" err="1">
                <a:solidFill>
                  <a:srgbClr val="292524"/>
                </a:solidFill>
                <a:latin typeface="Lora"/>
              </a:rPr>
              <a:t>informasi</a:t>
            </a:r>
            <a:r>
              <a:rPr sz="3150" b="1" i="0" u="none" dirty="0">
                <a:solidFill>
                  <a:srgbClr val="292524"/>
                </a:solidFill>
                <a:latin typeface="Lora"/>
              </a:rPr>
              <a:t> di </a:t>
            </a:r>
            <a:r>
              <a:rPr sz="3150" b="1" i="0" u="none" dirty="0" err="1">
                <a:solidFill>
                  <a:srgbClr val="292524"/>
                </a:solidFill>
                <a:latin typeface="Lora"/>
              </a:rPr>
              <a:t>antara</a:t>
            </a:r>
            <a:r>
              <a:rPr sz="3150" b="1" i="0" u="none" dirty="0">
                <a:solidFill>
                  <a:srgbClr val="292524"/>
                </a:solidFill>
                <a:latin typeface="Lora"/>
              </a:rPr>
              <a:t> dua </a:t>
            </a:r>
            <a:r>
              <a:rPr sz="3150" b="1" i="0" u="none" dirty="0" err="1">
                <a:solidFill>
                  <a:srgbClr val="292524"/>
                </a:solidFill>
                <a:latin typeface="Lora"/>
              </a:rPr>
              <a:t>atau</a:t>
            </a:r>
            <a:r>
              <a:rPr sz="3150" b="1" i="0" u="none" dirty="0">
                <a:solidFill>
                  <a:srgbClr val="292524"/>
                </a:solidFill>
                <a:latin typeface="Lora"/>
              </a:rPr>
              <a:t> </a:t>
            </a:r>
            <a:r>
              <a:rPr sz="3150" b="1" i="0" u="none" dirty="0" err="1">
                <a:solidFill>
                  <a:srgbClr val="292524"/>
                </a:solidFill>
                <a:latin typeface="Lora"/>
              </a:rPr>
              <a:t>lebih</a:t>
            </a:r>
            <a:r>
              <a:rPr sz="3150" b="1" i="0" u="none" dirty="0">
                <a:solidFill>
                  <a:srgbClr val="292524"/>
                </a:solidFill>
                <a:latin typeface="Lora"/>
              </a:rPr>
              <a:t> </a:t>
            </a:r>
            <a:r>
              <a:rPr sz="3150" b="1" i="0" u="none" dirty="0" err="1">
                <a:solidFill>
                  <a:srgbClr val="292524"/>
                </a:solidFill>
                <a:latin typeface="Lora"/>
              </a:rPr>
              <a:t>perangkat</a:t>
            </a:r>
            <a:r>
              <a:rPr sz="3150" b="1" i="0" u="none" dirty="0">
                <a:solidFill>
                  <a:srgbClr val="292524"/>
                </a:solidFill>
                <a:latin typeface="Lora"/>
              </a:rPr>
              <a:t> </a:t>
            </a:r>
            <a:r>
              <a:rPr sz="3150" b="1" i="0" u="none" dirty="0" err="1">
                <a:solidFill>
                  <a:srgbClr val="292524"/>
                </a:solidFill>
                <a:latin typeface="Lora"/>
              </a:rPr>
              <a:t>komputasi</a:t>
            </a:r>
            <a:r>
              <a:rPr sz="3150" b="1" i="0" u="none" dirty="0">
                <a:solidFill>
                  <a:srgbClr val="292524"/>
                </a:solidFill>
                <a:latin typeface="Lora"/>
              </a:rPr>
              <a:t> </a:t>
            </a:r>
            <a:r>
              <a:rPr sz="3150" b="1" i="0" u="none" dirty="0" err="1">
                <a:solidFill>
                  <a:srgbClr val="292524"/>
                </a:solidFill>
                <a:latin typeface="Lora"/>
              </a:rPr>
              <a:t>melalui</a:t>
            </a:r>
            <a:r>
              <a:rPr sz="3150" b="1" i="0" u="none" dirty="0">
                <a:solidFill>
                  <a:srgbClr val="292524"/>
                </a:solidFill>
                <a:latin typeface="Lora"/>
              </a:rPr>
              <a:t> media </a:t>
            </a:r>
            <a:r>
              <a:rPr sz="3150" b="1" i="0" u="none" dirty="0" err="1">
                <a:solidFill>
                  <a:srgbClr val="292524"/>
                </a:solidFill>
                <a:latin typeface="Lora"/>
              </a:rPr>
              <a:t>transmisi</a:t>
            </a:r>
            <a:r>
              <a:rPr sz="3150" b="1" i="0" u="none" dirty="0">
                <a:solidFill>
                  <a:srgbClr val="292524"/>
                </a:solidFill>
                <a:latin typeface="Lora"/>
              </a:rPr>
              <a:t> </a:t>
            </a:r>
            <a:r>
              <a:rPr sz="3150" b="1" i="0" u="none" dirty="0" err="1">
                <a:solidFill>
                  <a:srgbClr val="292524"/>
                </a:solidFill>
                <a:latin typeface="Lora"/>
              </a:rPr>
              <a:t>tertentu</a:t>
            </a:r>
            <a:r>
              <a:rPr sz="3150" b="1" i="0" u="none" dirty="0">
                <a:solidFill>
                  <a:srgbClr val="292524"/>
                </a:solidFill>
                <a:latin typeface="Lora"/>
              </a:rPr>
              <a:t> </a:t>
            </a:r>
            <a:r>
              <a:rPr sz="3150" b="1" i="0" u="none" dirty="0" err="1">
                <a:solidFill>
                  <a:srgbClr val="292524"/>
                </a:solidFill>
                <a:latin typeface="Lora"/>
              </a:rPr>
              <a:t>secara</a:t>
            </a:r>
            <a:r>
              <a:rPr sz="3150" b="1" i="0" u="none" dirty="0">
                <a:solidFill>
                  <a:srgbClr val="292524"/>
                </a:solidFill>
                <a:latin typeface="Lora"/>
              </a:rPr>
              <a:t> </a:t>
            </a:r>
            <a:r>
              <a:rPr sz="3150" b="1" i="0" u="none" dirty="0" err="1">
                <a:solidFill>
                  <a:srgbClr val="292524"/>
                </a:solidFill>
                <a:latin typeface="Lora"/>
              </a:rPr>
              <a:t>terstruktur</a:t>
            </a:r>
            <a:r>
              <a:rPr sz="3150" b="1" i="0" u="none" dirty="0">
                <a:solidFill>
                  <a:srgbClr val="292524"/>
                </a:solidFill>
                <a:latin typeface="Lora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9675" y="2956619"/>
            <a:ext cx="542032" cy="1314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sz="9000" b="1" i="0" u="none">
                <a:solidFill>
                  <a:srgbClr val="D4AF37"/>
                </a:solidFill>
                <a:latin typeface="sans-serif"/>
              </a:rPr>
              <a:t>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40295" y="4815785"/>
            <a:ext cx="542032" cy="1314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sz="9000" b="1" i="0" u="none">
                <a:solidFill>
                  <a:srgbClr val="D4AF37"/>
                </a:solidFill>
                <a:latin typeface="sans-serif"/>
              </a:rPr>
              <a:t>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243137"/>
            <a:ext cx="22860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2786062"/>
            <a:ext cx="22860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328987"/>
            <a:ext cx="22860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" y="3871912"/>
            <a:ext cx="285750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3500" y="4719637"/>
            <a:ext cx="285750" cy="247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92524"/>
                </a:solidFill>
                <a:latin typeface="Lora"/>
              </a:rPr>
              <a:t>5 Komponen Utama Komunikasi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2125" y="2224087"/>
            <a:ext cx="9900146" cy="30008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i="0" u="none" dirty="0" err="1">
                <a:solidFill>
                  <a:srgbClr val="292524"/>
                </a:solidFill>
                <a:latin typeface="Nunito"/>
              </a:rPr>
              <a:t>Pengirim</a:t>
            </a:r>
            <a:r>
              <a:rPr b="1" i="0" u="none" dirty="0">
                <a:solidFill>
                  <a:srgbClr val="292524"/>
                </a:solidFill>
                <a:latin typeface="Nunito"/>
              </a:rPr>
              <a:t> (Sender):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Perangkat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 yang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mengirimkan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 data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atau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pesan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 (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cth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: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Komputer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, Smartphone).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2125" y="2767012"/>
            <a:ext cx="6751848" cy="30008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i="0" u="none">
                <a:solidFill>
                  <a:srgbClr val="292524"/>
                </a:solidFill>
                <a:latin typeface="Nunito"/>
              </a:rPr>
              <a:t>Penerima (Receiver):</a:t>
            </a:r>
            <a:r>
              <a:rPr b="0" i="0" u="none">
                <a:solidFill>
                  <a:srgbClr val="44403C"/>
                </a:solidFill>
                <a:latin typeface="Nunito"/>
              </a:rPr>
              <a:t> Perangkat yang menerima data atau pesan.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2125" y="3309937"/>
            <a:ext cx="9895338" cy="30008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i="0" u="none" dirty="0" err="1">
                <a:solidFill>
                  <a:srgbClr val="292524"/>
                </a:solidFill>
                <a:latin typeface="Nunito"/>
              </a:rPr>
              <a:t>Pesan</a:t>
            </a:r>
            <a:r>
              <a:rPr b="1" i="0" u="none" dirty="0">
                <a:solidFill>
                  <a:srgbClr val="292524"/>
                </a:solidFill>
                <a:latin typeface="Nunito"/>
              </a:rPr>
              <a:t> (Message):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Informasi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atau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 data yang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dikomunikasikan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 (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cth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: Teks, Angka, Gambar, Audio).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2125" y="3852862"/>
            <a:ext cx="91916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i="0" u="none">
                <a:solidFill>
                  <a:srgbClr val="292524"/>
                </a:solidFill>
                <a:latin typeface="Nunito"/>
              </a:rPr>
              <a:t>Media Transmisi (Medium):</a:t>
            </a:r>
            <a:r>
              <a:rPr b="0" i="0" u="none">
                <a:solidFill>
                  <a:srgbClr val="44403C"/>
                </a:solidFill>
                <a:latin typeface="Nunito"/>
              </a:rPr>
              <a:t> Jalur fisik tempat pesan berjalan dari pengirim ke penerima (cth: Kabel Tembaga, Fiber Optik, Gelombang Radio).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2125" y="4700587"/>
            <a:ext cx="91916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i="0" u="none">
                <a:solidFill>
                  <a:srgbClr val="292524"/>
                </a:solidFill>
                <a:latin typeface="Nunito"/>
              </a:rPr>
              <a:t>Protokol (Protocol):</a:t>
            </a:r>
            <a:r>
              <a:rPr b="0" i="0" u="none">
                <a:solidFill>
                  <a:srgbClr val="44403C"/>
                </a:solidFill>
                <a:latin typeface="Nunito"/>
              </a:rPr>
              <a:t> Himpunan aturan yang mengatur komunikasi data agar kedua pihak dapat saling mengerti.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2052935"/>
            <a:ext cx="3492549" cy="3666529"/>
          </a:xfrm>
          <a:prstGeom prst="roundRect">
            <a:avLst>
              <a:gd name="adj" fmla="val 5454"/>
            </a:avLst>
          </a:prstGeom>
          <a:solidFill>
            <a:srgbClr val="FAFAF9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49799" y="2052935"/>
            <a:ext cx="3492549" cy="3666529"/>
          </a:xfrm>
          <a:prstGeom prst="roundRect">
            <a:avLst>
              <a:gd name="adj" fmla="val 5454"/>
            </a:avLst>
          </a:prstGeom>
          <a:solidFill>
            <a:srgbClr val="FAFAF9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128099" y="2052935"/>
            <a:ext cx="3492549" cy="3666529"/>
          </a:xfrm>
          <a:prstGeom prst="roundRect">
            <a:avLst>
              <a:gd name="adj" fmla="val 5454"/>
            </a:avLst>
          </a:prstGeom>
          <a:solidFill>
            <a:srgbClr val="FAFAF9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95835"/>
            <a:ext cx="638175" cy="685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699" y="2395835"/>
            <a:ext cx="685800" cy="685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0999" y="2395835"/>
            <a:ext cx="685800" cy="685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275" y="2538710"/>
            <a:ext cx="352425" cy="4000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5574" y="2538710"/>
            <a:ext cx="400050" cy="4000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3874" y="2538710"/>
            <a:ext cx="400050" cy="4000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92524"/>
                </a:solidFill>
                <a:latin typeface="Lora"/>
              </a:rPr>
              <a:t>Mode Transmisi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19760"/>
            <a:ext cx="1210151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92524"/>
                </a:solidFill>
                <a:latin typeface="Lora"/>
              </a:rPr>
              <a:t>Simplex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19835"/>
            <a:ext cx="2901999" cy="1264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Komunikasi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satu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arah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. Satu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perangkat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hanya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bertindak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sebagai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pengirim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, dan yang lain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hanya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penerima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. </a:t>
            </a:r>
            <a:r>
              <a:rPr sz="1600" b="0" i="1" u="none" dirty="0" err="1">
                <a:solidFill>
                  <a:srgbClr val="44403C"/>
                </a:solidFill>
                <a:latin typeface="Nunito"/>
              </a:rPr>
              <a:t>Contoh</a:t>
            </a:r>
            <a:r>
              <a:rPr sz="1600" b="0" i="1" u="none" dirty="0">
                <a:solidFill>
                  <a:srgbClr val="44403C"/>
                </a:solidFill>
                <a:latin typeface="Nunito"/>
              </a:rPr>
              <a:t>: </a:t>
            </a:r>
            <a:r>
              <a:rPr sz="1600" b="0" i="1" u="none" dirty="0" err="1">
                <a:solidFill>
                  <a:srgbClr val="44403C"/>
                </a:solidFill>
                <a:latin typeface="Nunito"/>
              </a:rPr>
              <a:t>Siaran</a:t>
            </a:r>
            <a:r>
              <a:rPr sz="1600" b="0" i="1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1" u="none" dirty="0" err="1">
                <a:solidFill>
                  <a:srgbClr val="44403C"/>
                </a:solidFill>
                <a:latin typeface="Nunito"/>
              </a:rPr>
              <a:t>Televisi</a:t>
            </a:r>
            <a:r>
              <a:rPr sz="1600" b="0" i="1" u="none" dirty="0">
                <a:solidFill>
                  <a:srgbClr val="44403C"/>
                </a:solidFill>
                <a:latin typeface="Nunito"/>
              </a:rPr>
              <a:t>, Radio.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2699" y="3319760"/>
            <a:ext cx="172521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92524"/>
                </a:solidFill>
                <a:latin typeface="Lora"/>
              </a:rPr>
              <a:t>Half-Duplex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2699" y="3919835"/>
            <a:ext cx="2901999" cy="1264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Komunikasi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dua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arah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,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tetapi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secara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bergantian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.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Tidak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bisa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mengirim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dan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menerima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di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saat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bersamaan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. </a:t>
            </a:r>
            <a:r>
              <a:rPr sz="1600" b="0" i="1" u="none" dirty="0" err="1">
                <a:solidFill>
                  <a:srgbClr val="44403C"/>
                </a:solidFill>
                <a:latin typeface="Nunito"/>
              </a:rPr>
              <a:t>Contoh</a:t>
            </a:r>
            <a:r>
              <a:rPr sz="1600" b="0" i="1" u="none" dirty="0">
                <a:solidFill>
                  <a:srgbClr val="44403C"/>
                </a:solidFill>
                <a:latin typeface="Nunito"/>
              </a:rPr>
              <a:t>: Walkie-Talkie (HT).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0999" y="3319760"/>
            <a:ext cx="1662707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92524"/>
                </a:solidFill>
                <a:latin typeface="Lora"/>
              </a:rPr>
              <a:t>Full-Duplex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0999" y="3919835"/>
            <a:ext cx="2901999" cy="1538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Komunikasi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dua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arah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secara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bersamaan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.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Pengirim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dan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penerima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dapat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mengirim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dan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menerima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data di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waktu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yang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sama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. </a:t>
            </a:r>
            <a:r>
              <a:rPr sz="1600" b="0" i="1" u="none" dirty="0" err="1">
                <a:solidFill>
                  <a:srgbClr val="44403C"/>
                </a:solidFill>
                <a:latin typeface="Nunito"/>
              </a:rPr>
              <a:t>Contoh</a:t>
            </a:r>
            <a:r>
              <a:rPr sz="1600" b="0" i="1" u="none" dirty="0">
                <a:solidFill>
                  <a:srgbClr val="44403C"/>
                </a:solidFill>
                <a:latin typeface="Nunito"/>
              </a:rPr>
              <a:t>: </a:t>
            </a:r>
            <a:r>
              <a:rPr sz="1600" b="0" i="1" u="none" dirty="0" err="1">
                <a:solidFill>
                  <a:srgbClr val="44403C"/>
                </a:solidFill>
                <a:latin typeface="Nunito"/>
              </a:rPr>
              <a:t>Telepon</a:t>
            </a:r>
            <a:r>
              <a:rPr sz="1600" b="0" i="1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1" u="none" dirty="0" err="1">
                <a:solidFill>
                  <a:srgbClr val="44403C"/>
                </a:solidFill>
                <a:latin typeface="Nunito"/>
              </a:rPr>
              <a:t>genggam</a:t>
            </a:r>
            <a:r>
              <a:rPr sz="1600" b="0" i="1" u="none" dirty="0">
                <a:solidFill>
                  <a:srgbClr val="44403C"/>
                </a:solidFill>
                <a:latin typeface="Nunito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2052935"/>
            <a:ext cx="3492549" cy="3666529"/>
          </a:xfrm>
          <a:prstGeom prst="roundRect">
            <a:avLst>
              <a:gd name="adj" fmla="val 5454"/>
            </a:avLst>
          </a:prstGeom>
          <a:solidFill>
            <a:srgbClr val="FAFAF9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49799" y="2052935"/>
            <a:ext cx="3492549" cy="3666529"/>
          </a:xfrm>
          <a:prstGeom prst="roundRect">
            <a:avLst>
              <a:gd name="adj" fmla="val 5454"/>
            </a:avLst>
          </a:prstGeom>
          <a:solidFill>
            <a:srgbClr val="FAFAF9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128099" y="2052935"/>
            <a:ext cx="3492549" cy="3666529"/>
          </a:xfrm>
          <a:prstGeom prst="roundRect">
            <a:avLst>
              <a:gd name="adj" fmla="val 5454"/>
            </a:avLst>
          </a:prstGeom>
          <a:solidFill>
            <a:srgbClr val="FAFAF9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95835"/>
            <a:ext cx="790575" cy="685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699" y="2395835"/>
            <a:ext cx="790575" cy="685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0999" y="2395835"/>
            <a:ext cx="685800" cy="685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275" y="2538710"/>
            <a:ext cx="504825" cy="4000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5574" y="2538710"/>
            <a:ext cx="504825" cy="4000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3874" y="2538710"/>
            <a:ext cx="400050" cy="4000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92524"/>
                </a:solidFill>
                <a:latin typeface="Lora"/>
              </a:rPr>
              <a:t>Klasifikasi Jaringan (Geografis)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19760"/>
            <a:ext cx="2375296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92524"/>
                </a:solidFill>
                <a:latin typeface="Lora"/>
              </a:rPr>
              <a:t>LAN (Local Area)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19835"/>
            <a:ext cx="2901999" cy="1287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Jaringan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yang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mencakup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area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geografis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yang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kecil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,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seperti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satu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gedung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,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kantor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,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atau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rumah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.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Kecepatan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transfer data sangat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tinggi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2699" y="3319760"/>
            <a:ext cx="3612951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92524"/>
                </a:solidFill>
                <a:latin typeface="Lora"/>
              </a:rPr>
              <a:t>MAN (Metropolitan Area)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2699" y="3919835"/>
            <a:ext cx="2901999" cy="1294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Jaringan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yang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mencakup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area yang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lebih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luas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dari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LAN,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biasanya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menghubungkan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beberapa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lokasi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di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dalam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satu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kota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atau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wilayah metropolitan.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0999" y="3319760"/>
            <a:ext cx="2425303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292524"/>
                </a:solidFill>
                <a:latin typeface="Lora"/>
              </a:rPr>
              <a:t>WAN (Wide Area)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0999" y="3919835"/>
            <a:ext cx="2901999" cy="12721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Jaringan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yang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mencakup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area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geografis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yang sangat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luas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,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meliputi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antar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kota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, negara,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hingga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benua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. Internet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adalah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contoh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WAN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terbesar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6938367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92524"/>
                </a:solidFill>
                <a:latin typeface="Lora"/>
              </a:rPr>
              <a:t>Topologi Jaringan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346746"/>
            <a:ext cx="5381625" cy="12157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i="0" u="none" dirty="0" err="1">
                <a:solidFill>
                  <a:srgbClr val="44403C"/>
                </a:solidFill>
                <a:latin typeface="Nunito"/>
              </a:rPr>
              <a:t>Topologi</a:t>
            </a:r>
            <a:r>
              <a:rPr b="1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b="1" i="0" u="none" dirty="0" err="1">
                <a:solidFill>
                  <a:srgbClr val="44403C"/>
                </a:solidFill>
                <a:latin typeface="Nunito"/>
              </a:rPr>
              <a:t>Jaringan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adalah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cara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atau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struktur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 yang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digunakan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untuk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menghubungkan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berbagai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perangkat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komputer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 di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dalam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sebuah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jaringan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,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baik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secara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fisik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maupun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logis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869690"/>
            <a:ext cx="5381625" cy="1223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i="0" u="none" dirty="0" err="1">
                <a:solidFill>
                  <a:srgbClr val="44403C"/>
                </a:solidFill>
                <a:latin typeface="Nunito"/>
              </a:rPr>
              <a:t>Pemilihan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topologi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 sangat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berpengaruh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 pada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kecepatan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,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keandalan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,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skalabilitas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, dan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biaya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 yang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dibutuhkan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untuk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membangun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sebuah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infrastruktur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b="0" i="0" u="none" dirty="0" err="1">
                <a:solidFill>
                  <a:srgbClr val="44403C"/>
                </a:solidFill>
                <a:latin typeface="Nunito"/>
              </a:rPr>
              <a:t>jaringan</a:t>
            </a:r>
            <a:r>
              <a:rPr b="0" i="0" u="none" dirty="0">
                <a:solidFill>
                  <a:srgbClr val="44403C"/>
                </a:solidFill>
                <a:latin typeface="Nunito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981200"/>
            <a:ext cx="5238750" cy="3810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990725"/>
            <a:ext cx="5219700" cy="3790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92524"/>
                </a:solidFill>
                <a:latin typeface="Lora"/>
              </a:rPr>
              <a:t>1. Topologi Bus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4375" y="1981200"/>
            <a:ext cx="10740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1981200"/>
            <a:ext cx="509587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Semua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node (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komputer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/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perangkat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)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dihubungkan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ke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sebuah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kabel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utama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(backbone).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375" y="2733675"/>
            <a:ext cx="10740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2733675"/>
            <a:ext cx="509587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0" i="0" u="none">
                <a:solidFill>
                  <a:srgbClr val="44403C"/>
                </a:solidFill>
                <a:latin typeface="Nunito"/>
              </a:rPr>
              <a:t>Ujung-ujung kabel utama harus ditutup dengan </a:t>
            </a:r>
            <a:r>
              <a:rPr sz="1600" b="0" i="1" u="none">
                <a:solidFill>
                  <a:srgbClr val="44403C"/>
                </a:solidFill>
                <a:latin typeface="Nunito"/>
              </a:rPr>
              <a:t>Terminator</a:t>
            </a:r>
            <a:r>
              <a:rPr sz="1600" b="0" i="0" u="none">
                <a:solidFill>
                  <a:srgbClr val="44403C"/>
                </a:solidFill>
                <a:latin typeface="Nunito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375" y="3486150"/>
            <a:ext cx="10740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3486150"/>
            <a:ext cx="509587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1" i="0" u="none">
                <a:solidFill>
                  <a:srgbClr val="44403C"/>
                </a:solidFill>
                <a:latin typeface="Nunito"/>
              </a:rPr>
              <a:t>Kelebihan:</a:t>
            </a:r>
            <a:r>
              <a:rPr sz="1600" b="0" i="0" u="none">
                <a:solidFill>
                  <a:srgbClr val="44403C"/>
                </a:solidFill>
                <a:latin typeface="Nunito"/>
              </a:rPr>
              <a:t> Hemat kabel, sangat sederhana, mudah dipasang, dan murah.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375" y="4238625"/>
            <a:ext cx="10740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4238625"/>
            <a:ext cx="5095875" cy="600164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1" i="0" u="none">
                <a:solidFill>
                  <a:srgbClr val="44403C"/>
                </a:solidFill>
                <a:latin typeface="Nunito"/>
              </a:rPr>
              <a:t>Kekurangan:</a:t>
            </a:r>
            <a:r>
              <a:rPr sz="1600" b="0" i="0" u="none">
                <a:solidFill>
                  <a:srgbClr val="44403C"/>
                </a:solidFill>
                <a:latin typeface="Nunito"/>
              </a:rPr>
              <a:t> Jika kabel utama (backbone) putus atau rusak, maka seluruh jaringan akan mati total.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4375" y="4991100"/>
            <a:ext cx="10740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4991100"/>
            <a:ext cx="509587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0" i="0" u="none">
                <a:solidFill>
                  <a:srgbClr val="44403C"/>
                </a:solidFill>
                <a:latin typeface="Nunito"/>
              </a:rPr>
              <a:t>Sering terjadi tabrakan data (collision) karena menggunakan media yang sama.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700212"/>
            <a:ext cx="5238750" cy="3810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709737"/>
            <a:ext cx="5219700" cy="3790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92524"/>
                </a:solidFill>
                <a:latin typeface="Lora"/>
              </a:rPr>
              <a:t>2. Topologi Star (Bintang)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4375" y="1700212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1700212"/>
            <a:ext cx="509587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Semua node terhubung ke satu perangkat pusat, biasanya berupa </a:t>
            </a:r>
            <a:r>
              <a:rPr sz="1500" b="1" i="0" u="none">
                <a:solidFill>
                  <a:srgbClr val="44403C"/>
                </a:solidFill>
                <a:latin typeface="Nunito"/>
              </a:rPr>
              <a:t>Switch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atau </a:t>
            </a:r>
            <a:r>
              <a:rPr sz="1500" b="1" i="0" u="none">
                <a:solidFill>
                  <a:srgbClr val="44403C"/>
                </a:solidFill>
                <a:latin typeface="Nunito"/>
              </a:rPr>
              <a:t>Hub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375" y="2452687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2452687"/>
            <a:ext cx="509587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Perangkat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pusat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bertindak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sebagai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pengatur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 dan </a:t>
            </a: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pengendali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arus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komunikasi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375" y="3205162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3205162"/>
            <a:ext cx="5095875" cy="9144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Kelebihan: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Jika salah satu kabel node putus, node lain tidak akan terpengaruh. Sangat mudah mendeteksi kerusakan.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375" y="4262437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4262437"/>
            <a:ext cx="5095875" cy="9144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Kekurangan: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Jika perangkat pusat (Switch) rusak, maka seluruh jaringan akan lumpuh. Biaya lebih mahal dari Bus karena butuh Switch.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4375" y="5319712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5319712"/>
            <a:ext cx="509587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Topologi ini adalah yang paling umum digunakan saat ini (contoh: di kantor, warnet).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981200"/>
            <a:ext cx="5238750" cy="3810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990725"/>
            <a:ext cx="5219700" cy="3790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92524"/>
                </a:solidFill>
                <a:latin typeface="Lora"/>
              </a:rPr>
              <a:t>3. Topologi Ring (Cincin)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4375" y="1981200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1981200"/>
            <a:ext cx="509587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Setiap node terhubung secara seri satu sama lain, membentuk sebuah loop atau cincin tertutup.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375" y="2733675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2733675"/>
            <a:ext cx="509587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Data mengalir dalam satu arah melewati setiap node hingga mencapai tujuan (menggunakan konsep </a:t>
            </a:r>
            <a:r>
              <a:rPr sz="1500" b="0" i="1" u="none">
                <a:solidFill>
                  <a:srgbClr val="44403C"/>
                </a:solidFill>
                <a:latin typeface="Nunito"/>
              </a:rPr>
              <a:t>Token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375" y="3486150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3486150"/>
            <a:ext cx="5095875" cy="9144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Kelebihan: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Tidak ada tabrakan data (collision) karena data mengalir searah. Performa lebih stabil dalam trafik tinggi.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375" y="4543425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4543425"/>
            <a:ext cx="5095875" cy="9144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Kekurangan: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Jika satu node atau kabel putus, maka komunikasi seluruh jaringan bisa terganggu (pada </a:t>
            </a:r>
            <a:r>
              <a:rPr sz="1500" b="0" i="1" u="none">
                <a:solidFill>
                  <a:srgbClr val="44403C"/>
                </a:solidFill>
                <a:latin typeface="Nunito"/>
              </a:rPr>
              <a:t>single ring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981200"/>
            <a:ext cx="5238750" cy="3810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990725"/>
            <a:ext cx="5219700" cy="3790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92524"/>
                </a:solidFill>
                <a:latin typeface="Lora"/>
              </a:rPr>
              <a:t>4. Topologi Mesh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4375" y="1981200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1981200"/>
            <a:ext cx="509587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Setiap node dalam jaringan terhubung secara langsung ke setiap node lainnya secara </a:t>
            </a:r>
            <a:r>
              <a:rPr sz="1500" b="0" i="1" u="none">
                <a:solidFill>
                  <a:srgbClr val="44403C"/>
                </a:solidFill>
                <a:latin typeface="Nunito"/>
              </a:rPr>
              <a:t>dedicated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(Full Mesh).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375" y="2733675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2733675"/>
            <a:ext cx="5095875" cy="12192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Kelebihan: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Toleransi kesalahan (Fault Tolerance) yang sangat tinggi. Jika satu kabel putus, data bisa mencari jalur lain (redundansi). Privasi terjamin karena jalur khusus.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375" y="4095750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4095750"/>
            <a:ext cx="5095875" cy="9144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Kekurangan: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Biaya instalasi sangat mahal (membutuhkan jumlah kabel dan port NIC yang sangat banyak). Konfigurasi sangat rumit jika node bertambah banyak.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24500" y="2158454"/>
            <a:ext cx="1143000" cy="571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7826" y="2501354"/>
            <a:ext cx="10776346" cy="156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292524"/>
                </a:solidFill>
                <a:latin typeface="Lora"/>
              </a:rPr>
              <a:t>Bagian 2:</a:t>
            </a:r>
            <a:r>
              <a:t>
</a:t>
            </a:r>
            <a:r>
              <a:rPr sz="4800" b="1" i="0" u="none">
                <a:solidFill>
                  <a:srgbClr val="0F172A"/>
                </a:solidFill>
                <a:latin typeface="Lora"/>
              </a:rPr>
              <a:t>Model OSI 7 Layer &amp; TCP/IP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253954"/>
            <a:ext cx="95250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78716C"/>
                </a:solidFill>
                <a:latin typeface="Nunito"/>
              </a:rPr>
              <a:t>Kerangka kerja standar untuk memahami interaksi antar protokol dalam komunikasi jaringan.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2052935"/>
            <a:ext cx="3492549" cy="3666529"/>
          </a:xfrm>
          <a:prstGeom prst="roundRect">
            <a:avLst>
              <a:gd name="adj" fmla="val 5454"/>
            </a:avLst>
          </a:prstGeom>
          <a:solidFill>
            <a:srgbClr val="FAFAF9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49799" y="2052935"/>
            <a:ext cx="3492549" cy="3666529"/>
          </a:xfrm>
          <a:prstGeom prst="roundRect">
            <a:avLst>
              <a:gd name="adj" fmla="val 5454"/>
            </a:avLst>
          </a:prstGeom>
          <a:solidFill>
            <a:srgbClr val="FAFAF9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128099" y="2052935"/>
            <a:ext cx="3492549" cy="3666529"/>
          </a:xfrm>
          <a:prstGeom prst="roundRect">
            <a:avLst>
              <a:gd name="adj" fmla="val 5454"/>
            </a:avLst>
          </a:prstGeom>
          <a:solidFill>
            <a:srgbClr val="FAFAF9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95835"/>
            <a:ext cx="733425" cy="685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699" y="2395835"/>
            <a:ext cx="685800" cy="685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0999" y="2395835"/>
            <a:ext cx="685800" cy="685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275" y="2538710"/>
            <a:ext cx="447675" cy="4000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5574" y="2538710"/>
            <a:ext cx="400050" cy="4000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3874" y="2538710"/>
            <a:ext cx="400050" cy="4000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92524"/>
                </a:solidFill>
                <a:latin typeface="Lora"/>
              </a:rPr>
              <a:t>Apa itu Model OSI?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19760"/>
            <a:ext cx="1975246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92524"/>
                </a:solidFill>
                <a:latin typeface="Lora"/>
              </a:rPr>
              <a:t>Konsep Dasar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19835"/>
            <a:ext cx="2901999" cy="17927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600" b="1" i="0" u="none" dirty="0">
                <a:solidFill>
                  <a:srgbClr val="44403C"/>
                </a:solidFill>
                <a:latin typeface="Nunito"/>
              </a:rPr>
              <a:t>OSI (Open Systems Interconnection)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adalah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model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referensi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abstrak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yang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diciptakan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oleh ISO (International Organization for Standardization) pada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tahun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1984.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2699" y="3319760"/>
            <a:ext cx="24003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92524"/>
                </a:solidFill>
                <a:latin typeface="Lora"/>
              </a:rPr>
              <a:t>7 Lapisan (Layer)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2699" y="3919835"/>
            <a:ext cx="2901999" cy="12798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Membagi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proses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komunikasi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jaringan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yang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kompleks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menjadi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7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lapisan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yang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lebih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kecil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,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sederhana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, dan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memiliki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fungsi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spesifik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0999" y="3319760"/>
            <a:ext cx="288786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92524"/>
                </a:solidFill>
                <a:latin typeface="Lora"/>
              </a:rPr>
              <a:t>Tujuan Standarisasi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0999" y="3919835"/>
            <a:ext cx="2901999" cy="15363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Memastikan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perangkat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keras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dan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perangkat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lunak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dari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berbagai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vendor (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pabrikan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) yang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berbeda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dapat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saling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berkomunikasi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tanpa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hambatan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1738312"/>
            <a:ext cx="5238750" cy="4295775"/>
          </a:xfrm>
          <a:prstGeom prst="roundRect">
            <a:avLst>
              <a:gd name="adj" fmla="val 4434"/>
            </a:avLst>
          </a:prstGeom>
          <a:solidFill>
            <a:srgbClr val="FAFAF9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81750" y="1738312"/>
            <a:ext cx="5238750" cy="4295775"/>
          </a:xfrm>
          <a:prstGeom prst="roundRect">
            <a:avLst>
              <a:gd name="adj" fmla="val 4434"/>
            </a:avLst>
          </a:prstGeom>
          <a:solidFill>
            <a:srgbClr val="FAFAF9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92524"/>
                </a:solidFill>
                <a:latin typeface="Lora"/>
              </a:rPr>
              <a:t>Upper Layers (Host Layers)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128837"/>
            <a:ext cx="5850731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78716C"/>
                </a:solidFill>
                <a:latin typeface="Nunito"/>
              </a:rPr>
              <a:t>Layer 7:</a:t>
            </a:r>
            <a:r>
              <a:rPr sz="2100" b="1" i="0" u="none">
                <a:solidFill>
                  <a:srgbClr val="A18222"/>
                </a:solidFill>
                <a:latin typeface="Nunito"/>
              </a:rPr>
              <a:t>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2275" y="2128837"/>
            <a:ext cx="5419725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78716C"/>
                </a:solidFill>
                <a:latin typeface="Nunito"/>
              </a:rPr>
              <a:t>Layer 6:</a:t>
            </a:r>
            <a:r>
              <a:rPr sz="2100" b="1" i="0" u="none">
                <a:solidFill>
                  <a:srgbClr val="A18222"/>
                </a:solidFill>
                <a:latin typeface="Nunito"/>
              </a:rPr>
              <a:t>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" y="2633662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633662"/>
            <a:ext cx="431482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Menyediakan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 interface </a:t>
            </a: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antara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aplikasi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 (user) </a:t>
            </a: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dengan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layanan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jaringan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" y="3386137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150" y="3386137"/>
            <a:ext cx="431482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Lapisan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 yang paling </a:t>
            </a: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dekat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dengan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pengguna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akhir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" y="4138612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150" y="4138612"/>
            <a:ext cx="431482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Menyediakan layanan seperti pertukaran email, browsing web, dan transfer file.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900" y="4891087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0150" y="4891087"/>
            <a:ext cx="431482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Contoh Protokol: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HTTP, HTTPS, FTP, SMTP, DNS, DHCP.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5150" y="2633662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0400" y="2633662"/>
            <a:ext cx="431482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Bertanggung jawab untuk Translasi, Enkripsi, dan Kompresi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15150" y="3386137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400" y="3386137"/>
            <a:ext cx="431482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Memastikan data yang dikirim oleh L7 sebuah sistem dapat dibaca oleh L7 sistem penerima.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5150" y="4138612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0400" y="4138612"/>
            <a:ext cx="431482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Menerjemahkan format karakter (misal: EBCDIC ke ASCII).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15150" y="4891087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0400" y="4891087"/>
            <a:ext cx="431482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Contoh Format/Protokol: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JPEG, MPEG, ASCII, SSL, TLS.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1585912"/>
            <a:ext cx="5238750" cy="4600575"/>
          </a:xfrm>
          <a:prstGeom prst="roundRect">
            <a:avLst>
              <a:gd name="adj" fmla="val 4140"/>
            </a:avLst>
          </a:prstGeom>
          <a:solidFill>
            <a:srgbClr val="FAFAF9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81750" y="1585912"/>
            <a:ext cx="5238750" cy="4600575"/>
          </a:xfrm>
          <a:prstGeom prst="roundRect">
            <a:avLst>
              <a:gd name="adj" fmla="val 4140"/>
            </a:avLst>
          </a:prstGeom>
          <a:solidFill>
            <a:srgbClr val="FAFAF9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92524"/>
                </a:solidFill>
                <a:latin typeface="Lora"/>
              </a:rPr>
              <a:t>Middle Layers (Connection &amp; Transport)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1976437"/>
            <a:ext cx="5850731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78716C"/>
                </a:solidFill>
                <a:latin typeface="Nunito"/>
              </a:rPr>
              <a:t>Layer 5:</a:t>
            </a:r>
            <a:r>
              <a:rPr sz="2100" b="1" i="0" u="none">
                <a:solidFill>
                  <a:srgbClr val="A18222"/>
                </a:solidFill>
                <a:latin typeface="Nunito"/>
              </a:rPr>
              <a:t>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2275" y="1976437"/>
            <a:ext cx="5419725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78716C"/>
                </a:solidFill>
                <a:latin typeface="Nunito"/>
              </a:rPr>
              <a:t>Layer 4:</a:t>
            </a:r>
            <a:r>
              <a:rPr sz="2100" b="1" i="0" u="none">
                <a:solidFill>
                  <a:srgbClr val="A18222"/>
                </a:solidFill>
                <a:latin typeface="Nunito"/>
              </a:rPr>
              <a:t> Transport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" y="2481262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481262"/>
            <a:ext cx="431482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Membangun, memelihara, dan mengakhiri sesi komunikasi antar aplikasi.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" y="3233737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150" y="3233737"/>
            <a:ext cx="431482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Mengelola dialog control (simplex, half-duplex, full-duplex).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" y="3986212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150" y="3986212"/>
            <a:ext cx="4314825" cy="9144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Menyediakan sinkronisasi (checkpoint) agar saat transmisi gagal, tidak perlu mengulang dari awal.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900" y="5043487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0150" y="5043487"/>
            <a:ext cx="5274468" cy="3048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Contoh Protokol: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NetBIOS, RPC, PPTP.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5150" y="2481262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0400" y="2481262"/>
            <a:ext cx="4314825" cy="9144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Segmentasi data dari layer atas, dan menyusunnya kembali (Reassembly) di sisi penerima.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15150" y="3538537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400" y="3538537"/>
            <a:ext cx="431482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Menentukan mekanisme pengiriman yang handal (TCP) atau cepat (UDP).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5150" y="4291012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0400" y="4291012"/>
            <a:ext cx="431482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Menggunakan </a:t>
            </a:r>
            <a:r>
              <a:rPr sz="1500" b="1" i="0" u="none">
                <a:solidFill>
                  <a:srgbClr val="44403C"/>
                </a:solidFill>
                <a:latin typeface="Nunito"/>
              </a:rPr>
              <a:t>Port Number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untuk membedakan layanan antar aplikasi.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15150" y="5043487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0400" y="5043487"/>
            <a:ext cx="431482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Contoh Protokol: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TCP (Transmission Control Protocol), UDP.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1666875"/>
            <a:ext cx="5238750" cy="4438650"/>
          </a:xfrm>
          <a:prstGeom prst="roundRect">
            <a:avLst>
              <a:gd name="adj" fmla="val 4291"/>
            </a:avLst>
          </a:prstGeom>
          <a:solidFill>
            <a:srgbClr val="FAFAF9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81750" y="1666875"/>
            <a:ext cx="5238750" cy="4438650"/>
          </a:xfrm>
          <a:prstGeom prst="roundRect">
            <a:avLst>
              <a:gd name="adj" fmla="val 4291"/>
            </a:avLst>
          </a:prstGeom>
          <a:solidFill>
            <a:srgbClr val="FAFAF9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92524"/>
                </a:solidFill>
                <a:latin typeface="Lora"/>
              </a:rPr>
              <a:t>Lower Layers (Media Layers)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057400"/>
            <a:ext cx="5850731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78716C"/>
                </a:solidFill>
                <a:latin typeface="Nunito"/>
              </a:rPr>
              <a:t>Layer 3:</a:t>
            </a:r>
            <a:r>
              <a:rPr sz="2100" b="1" i="0" u="none">
                <a:solidFill>
                  <a:srgbClr val="A18222"/>
                </a:solidFill>
                <a:latin typeface="Nunito"/>
              </a:rPr>
              <a:t>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2275" y="2057400"/>
            <a:ext cx="5419725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78716C"/>
                </a:solidFill>
                <a:latin typeface="Nunito"/>
              </a:rPr>
              <a:t>Layer 2:</a:t>
            </a:r>
            <a:r>
              <a:rPr sz="2100" b="1" i="0" u="none">
                <a:solidFill>
                  <a:srgbClr val="A18222"/>
                </a:solidFill>
                <a:latin typeface="Nunito"/>
              </a:rPr>
              <a:t> Data 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" y="2562225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562225"/>
            <a:ext cx="431482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Bertanggung jawab atas </a:t>
            </a:r>
            <a:r>
              <a:rPr sz="1500" b="1" i="0" u="none">
                <a:solidFill>
                  <a:srgbClr val="44403C"/>
                </a:solidFill>
                <a:latin typeface="Nunito"/>
              </a:rPr>
              <a:t>Routing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(menentukan jalur terbaik).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" y="3314700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150" y="3314700"/>
            <a:ext cx="431482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Menyediakan pengalamatan logis (Logical Addressing).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" y="4067175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150" y="4067175"/>
            <a:ext cx="431482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Meneruskan paket antar jaringan (network) yang berbeda.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900" y="4819650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0150" y="4819650"/>
            <a:ext cx="5274468" cy="3048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Contoh Protokol: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IPv4, IPv6, ICMP, IPSec, OSPF.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900" y="5267325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0150" y="5267325"/>
            <a:ext cx="5274468" cy="3048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PDU (Protocol Data Unit):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Packet.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15150" y="2562225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400" y="2562225"/>
            <a:ext cx="431482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Menyediakan pengalamatan fisik (MAC Address).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5150" y="3314700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0400" y="3314700"/>
            <a:ext cx="431482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Melakukan Error Detection (mendeteksi error pada transmisi node-ke-node) via FCS.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15150" y="4067175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0400" y="4067175"/>
            <a:ext cx="5181600" cy="3048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Mengatur akses ke media (CSMA/CD).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15150" y="4514850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0400" y="4514850"/>
            <a:ext cx="431482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Contoh Protokol/Standar: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Ethernet (802.3), Wi-Fi (802.11), PPP.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15150" y="5267325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0400" y="5267325"/>
            <a:ext cx="5181600" cy="3048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PDU: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Frame.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852612"/>
            <a:ext cx="5238750" cy="3810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862137"/>
            <a:ext cx="5219700" cy="3790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92524"/>
                </a:solidFill>
                <a:latin typeface="Lora"/>
              </a:rPr>
              <a:t>Layer 1: Physical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4375" y="1852612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1852612"/>
            <a:ext cx="509587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Lapisan terbawah yang berhubungan langsung dengan perangkat keras jaringan.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375" y="2605087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2605087"/>
            <a:ext cx="509587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Bertanggung jawab mentransmisikan bit-bit mentah (1 dan 0) melalui media transmisi.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375" y="3357562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3357562"/>
            <a:ext cx="5095875" cy="9144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Mengubah data digital menjadi sinyal (elektrik untuk tembaga, cahaya untuk fiber optik, atau gelombang radio untuk nirkabel).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375" y="4414837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4414837"/>
            <a:ext cx="509587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Mendefinisikan spesifikasi kelistrikan, mekanik, pin-layout, voltase.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4375" y="5167312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5167312"/>
            <a:ext cx="509587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Contoh Perangkat/Media: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Kabel UTP/STP, Fiber Optic, Hub, Repeater.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2311896"/>
            <a:ext cx="5381625" cy="3148607"/>
          </a:xfrm>
          <a:prstGeom prst="roundRect">
            <a:avLst>
              <a:gd name="adj" fmla="val 6050"/>
            </a:avLst>
          </a:prstGeom>
          <a:solidFill>
            <a:srgbClr val="FAFAF9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38875" y="2311896"/>
            <a:ext cx="5381625" cy="3148607"/>
          </a:xfrm>
          <a:prstGeom prst="roundRect">
            <a:avLst>
              <a:gd name="adj" fmla="val 6050"/>
            </a:avLst>
          </a:prstGeom>
          <a:solidFill>
            <a:srgbClr val="FAFAF9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54796"/>
            <a:ext cx="790575" cy="685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775" y="2654796"/>
            <a:ext cx="733425" cy="685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275" y="2797671"/>
            <a:ext cx="504825" cy="4000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4650" y="2797671"/>
            <a:ext cx="447675" cy="400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92524"/>
                </a:solidFill>
                <a:latin typeface="Lora"/>
              </a:rPr>
              <a:t>Model DoD (TCP/IP Model)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78721"/>
            <a:ext cx="2537817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92524"/>
                </a:solidFill>
                <a:latin typeface="Lora"/>
              </a:rPr>
              <a:t>Standar Praktikal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78796"/>
            <a:ext cx="4791075" cy="10233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Dikembangkan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oleh US Department of Defense (DoD).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Ini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adalah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model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protokol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nyata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yang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menjalankan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internet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secara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global (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standar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de facto).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1775" y="3578721"/>
            <a:ext cx="2387798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92524"/>
                </a:solidFill>
                <a:latin typeface="Lora"/>
              </a:rPr>
              <a:t>4 Lapisan Utama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1775" y="4178796"/>
            <a:ext cx="4791075" cy="7668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Lebih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sederhana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dari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OSI.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Terdiri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dari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4 layer: Application, Transport, Internet, dan Network Access (Link).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80975"/>
            <a:ext cx="57150" cy="533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81025" y="2057400"/>
            <a:ext cx="1654373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35398" y="2057400"/>
            <a:ext cx="3860452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5851" y="2057400"/>
            <a:ext cx="3860452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956303" y="2057400"/>
            <a:ext cx="1654671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025" y="2724150"/>
            <a:ext cx="1654373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35398" y="2724150"/>
            <a:ext cx="3860452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851" y="4038600"/>
            <a:ext cx="3860452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956303" y="4038600"/>
            <a:ext cx="1654671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1025" y="3381375"/>
            <a:ext cx="1654373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35398" y="3381375"/>
            <a:ext cx="3860452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4038600"/>
            <a:ext cx="1654373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235398" y="4038600"/>
            <a:ext cx="3860452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1025" y="4695825"/>
            <a:ext cx="1654373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235398" y="4695825"/>
            <a:ext cx="3860452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95851" y="4695825"/>
            <a:ext cx="3860452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956303" y="4695825"/>
            <a:ext cx="1654671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1025" y="5353050"/>
            <a:ext cx="1654373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235398" y="5353050"/>
            <a:ext cx="3860452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95851" y="5353050"/>
            <a:ext cx="3860452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956303" y="5353050"/>
            <a:ext cx="1654671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81025" y="6010275"/>
            <a:ext cx="1654373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235398" y="6010275"/>
            <a:ext cx="3860452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095851" y="6657975"/>
            <a:ext cx="3860452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956303" y="6010275"/>
            <a:ext cx="1654671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71500" y="1095375"/>
          <a:ext cx="11029948" cy="5581650"/>
        </p:xfrm>
        <a:graphic>
          <a:graphicData uri="http://schemas.openxmlformats.org/drawingml/2006/table">
            <a:tbl>
              <a:tblPr/>
              <a:tblGrid>
                <a:gridCol w="1654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04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04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46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7706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A18222"/>
                          </a:solidFill>
                          <a:latin typeface="Nunito"/>
                        </a:rPr>
                        <a:t>OSI Layer No.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A18222"/>
                          </a:solidFill>
                          <a:latin typeface="Nunito"/>
                        </a:rPr>
                        <a:t>Model OSI (7 Layer)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A18222"/>
                          </a:solidFill>
                          <a:latin typeface="Nunito"/>
                        </a:rPr>
                        <a:t>Model TCP/IP (4 Layer)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A18222"/>
                          </a:solidFill>
                          <a:latin typeface="Nunito"/>
                        </a:rPr>
                        <a:t>PDU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706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Application Layer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Application Layer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Data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706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Presentation Layer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706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Session Layer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7706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Transport Layer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Transport Layer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Segment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7706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Network Layer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Internet Layer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Packet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7706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Data Link Layer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Network Access / Link Layer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Frame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97708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Physical Layer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Bit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762000" y="180975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92524"/>
                </a:solidFill>
                <a:latin typeface="Lora"/>
              </a:rPr>
              <a:t>Perbandingan OSI vs TCP/IP Model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362200"/>
            <a:ext cx="28575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209925"/>
            <a:ext cx="22860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7650"/>
            <a:ext cx="200025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" y="4905375"/>
            <a:ext cx="257175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92524"/>
                </a:solidFill>
                <a:latin typeface="Lora"/>
              </a:rPr>
              <a:t>Enkapsulasi &amp; Dekapsulasi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2125" y="2343150"/>
            <a:ext cx="91916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1" i="0" u="none" dirty="0" err="1">
                <a:solidFill>
                  <a:srgbClr val="292524"/>
                </a:solidFill>
                <a:latin typeface="Nunito"/>
              </a:rPr>
              <a:t>Enkapsulasi</a:t>
            </a:r>
            <a:r>
              <a:rPr sz="1600" b="1" i="0" u="none" dirty="0">
                <a:solidFill>
                  <a:srgbClr val="292524"/>
                </a:solidFill>
                <a:latin typeface="Nunito"/>
              </a:rPr>
              <a:t>: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Proses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penambahan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Header (dan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kadang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Trailer) pada data di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setiap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layer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saat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bergerak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dari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layer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atas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(Application)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ke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layer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bawah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(Physical) di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perangkat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pengirim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2125" y="3190875"/>
            <a:ext cx="91916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0" i="0" u="none" dirty="0">
                <a:solidFill>
                  <a:srgbClr val="44403C"/>
                </a:solidFill>
                <a:latin typeface="Nunito"/>
              </a:rPr>
              <a:t>Data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dibungkus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layaknya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surat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yang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dimasukkan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ke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dalam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amplop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,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diberi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alamat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,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lalu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dimasukkan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ke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600" b="0" i="0" u="none" dirty="0" err="1">
                <a:solidFill>
                  <a:srgbClr val="44403C"/>
                </a:solidFill>
                <a:latin typeface="Nunito"/>
              </a:rPr>
              <a:t>kotak</a:t>
            </a:r>
            <a:r>
              <a:rPr sz="1600" b="0" i="0" u="none" dirty="0">
                <a:solidFill>
                  <a:srgbClr val="44403C"/>
                </a:solidFill>
                <a:latin typeface="Nunito"/>
              </a:rPr>
              <a:t> pos.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2125" y="4038600"/>
            <a:ext cx="91916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1" i="0" u="none">
                <a:solidFill>
                  <a:srgbClr val="292524"/>
                </a:solidFill>
                <a:latin typeface="Nunito"/>
              </a:rPr>
              <a:t>Dekapsulasi:</a:t>
            </a:r>
            <a:r>
              <a:rPr sz="1600" b="0" i="0" u="none">
                <a:solidFill>
                  <a:srgbClr val="44403C"/>
                </a:solidFill>
                <a:latin typeface="Nunito"/>
              </a:rPr>
              <a:t> Proses pelepasan Header saat paket data bergerak dari layer bawah (Physical) ke layer atas (Application) di perangkat penerima.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2125" y="4886325"/>
            <a:ext cx="9690153" cy="2923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0" i="0" u="none">
                <a:solidFill>
                  <a:srgbClr val="44403C"/>
                </a:solidFill>
                <a:latin typeface="Nunito"/>
              </a:rPr>
              <a:t>Proses ini menjamin informasi ditujukan dengan benar, tidak rusak, dan diserahkan ke aplikasi yang tepat.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24500" y="2341215"/>
            <a:ext cx="1143000" cy="571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89199" y="2684115"/>
            <a:ext cx="8813601" cy="156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292524"/>
                </a:solidFill>
                <a:latin typeface="Lora"/>
              </a:rPr>
              <a:t>Bagian 3:</a:t>
            </a:r>
            <a:r>
              <a:t>
</a:t>
            </a:r>
            <a:r>
              <a:rPr sz="4800" b="1" i="0" u="none">
                <a:solidFill>
                  <a:srgbClr val="0F172A"/>
                </a:solidFill>
                <a:latin typeface="Lora"/>
              </a:rPr>
              <a:t>Pengalamatan IP (IPv4)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79031" y="4436715"/>
            <a:ext cx="4833937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78716C"/>
                </a:solidFill>
                <a:latin typeface="Nunito"/>
              </a:rPr>
              <a:t>Identitas Logis dalam Jaringan TCP/IP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92524"/>
                </a:solidFill>
                <a:latin typeface="Lora"/>
              </a:rPr>
              <a:t>Apa itu IP Address (IPv4)?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2468" y="2672804"/>
            <a:ext cx="10787062" cy="168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sz="3150" b="1" i="0" u="none">
                <a:solidFill>
                  <a:srgbClr val="292524"/>
                </a:solidFill>
                <a:latin typeface="Lora"/>
              </a:rPr>
              <a:t>Deretan angka biner 32-bit yang mengidentifikasi secara unik sebuah host (perangkat) di dalam jaringan TCP/IP.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8109" y="4762500"/>
            <a:ext cx="8155781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1" i="0" u="none">
                <a:solidFill>
                  <a:srgbClr val="A18222"/>
                </a:solidFill>
                <a:latin typeface="Nunito"/>
              </a:rPr>
              <a:t>IPv4 direpresentasikan dalam 4 bagian oktet (desimal bertitik).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9675" y="3053804"/>
            <a:ext cx="542032" cy="1314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sz="9000" b="1" i="0" u="none">
                <a:solidFill>
                  <a:srgbClr val="D4AF37"/>
                </a:solidFill>
                <a:latin typeface="sans-serif"/>
              </a:rPr>
              <a:t>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295" y="4352928"/>
            <a:ext cx="542032" cy="1314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sz="9000" b="1" i="0" u="none">
                <a:solidFill>
                  <a:srgbClr val="D4AF37"/>
                </a:solidFill>
                <a:latin typeface="sans-serif"/>
              </a:rPr>
              <a:t>"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1522065"/>
            <a:ext cx="5238750" cy="3848100"/>
          </a:xfrm>
          <a:prstGeom prst="roundRect">
            <a:avLst>
              <a:gd name="adj" fmla="val 4950"/>
            </a:avLst>
          </a:prstGeom>
          <a:solidFill>
            <a:srgbClr val="FAFAF9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81750" y="1522065"/>
            <a:ext cx="5238750" cy="3848100"/>
          </a:xfrm>
          <a:prstGeom prst="roundRect">
            <a:avLst>
              <a:gd name="adj" fmla="val 4950"/>
            </a:avLst>
          </a:prstGeom>
          <a:solidFill>
            <a:srgbClr val="FAFAF9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92524"/>
                </a:solidFill>
                <a:latin typeface="Lora"/>
              </a:rPr>
              <a:t>Struktur IPv4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7984" y="5655915"/>
            <a:ext cx="2536031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1" i="0" u="none">
                <a:solidFill>
                  <a:srgbClr val="0F172A"/>
                </a:solidFill>
                <a:latin typeface="Lora"/>
              </a:rPr>
              <a:t>Contoh: 192.168.1.5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1912590"/>
            <a:ext cx="5850731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A18222"/>
                </a:solidFill>
                <a:latin typeface="Nunito"/>
              </a:rPr>
              <a:t>Network ID (Net ID)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2275" y="1912590"/>
            <a:ext cx="5419725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A18222"/>
                </a:solidFill>
                <a:latin typeface="Nunito"/>
              </a:rPr>
              <a:t>Host 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2417415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0150" y="2417415"/>
            <a:ext cx="431482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Bagian dari IP address yang menunjukkan di jaringan mana host tersebut berada.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" y="3169890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150" y="3169890"/>
            <a:ext cx="431482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Analogi: Merupakan nama jalan atau nama komplek perumahan.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" y="3922365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0150" y="3922365"/>
            <a:ext cx="4314825" cy="9144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Semua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perangkat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dalam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satu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jaringan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lokal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harus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memiliki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 Network ID yang SAMA agar </a:t>
            </a: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bisa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langsung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berkomunikasi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tanpa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 Router.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5150" y="2417415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400" y="2417415"/>
            <a:ext cx="4314825" cy="9144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Bagian dari IP address yang mengidentifikasi secara spesifik host (komputer, printer, router) di dalam jaringan tersebut.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15150" y="3474690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400" y="3474690"/>
            <a:ext cx="431482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Analogi: Merupakan nomor rumah di jalan tersebut.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15150" y="4227165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0400" y="4227165"/>
            <a:ext cx="431482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Setiap perangkat dalam satu jaringan yang sama harus memiliki Host ID yang BERBEDA.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28600"/>
            <a:ext cx="57150" cy="533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81025" y="2105025"/>
            <a:ext cx="1121866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702891" y="2105025"/>
            <a:ext cx="2338089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040981" y="2105025"/>
            <a:ext cx="1872257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13239" y="2105025"/>
            <a:ext cx="2297757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10996" y="2105025"/>
            <a:ext cx="3399978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1025" y="3076575"/>
            <a:ext cx="1121866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702891" y="3076575"/>
            <a:ext cx="2338089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040981" y="3076575"/>
            <a:ext cx="1872257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13239" y="3076575"/>
            <a:ext cx="2297757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10996" y="3076575"/>
            <a:ext cx="3399978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4038600"/>
            <a:ext cx="1121866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702891" y="4038600"/>
            <a:ext cx="2338089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040981" y="4038600"/>
            <a:ext cx="1872257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13239" y="4038600"/>
            <a:ext cx="2297757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10996" y="4038600"/>
            <a:ext cx="3399978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1025" y="5000625"/>
            <a:ext cx="1121866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702891" y="5000625"/>
            <a:ext cx="2338089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040981" y="5000625"/>
            <a:ext cx="1872257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13239" y="5000625"/>
            <a:ext cx="2297757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10996" y="5000625"/>
            <a:ext cx="3399978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81025" y="5962650"/>
            <a:ext cx="1121866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702891" y="5962650"/>
            <a:ext cx="2338089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040981" y="5962650"/>
            <a:ext cx="7569993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71500" y="1143000"/>
          <a:ext cx="11029947" cy="5486400"/>
        </p:xfrm>
        <a:graphic>
          <a:graphicData uri="http://schemas.openxmlformats.org/drawingml/2006/table">
            <a:tbl>
              <a:tblPr/>
              <a:tblGrid>
                <a:gridCol w="11218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8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22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77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999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A18222"/>
                          </a:solidFill>
                          <a:latin typeface="Nunito"/>
                        </a:rPr>
                        <a:t>Kelas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A18222"/>
                          </a:solidFill>
                          <a:latin typeface="Nunito"/>
                        </a:rPr>
                        <a:t>Range Oktet Pertama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A18222"/>
                          </a:solidFill>
                          <a:latin typeface="Nunito"/>
                        </a:rPr>
                        <a:t>Struktur Format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A18222"/>
                          </a:solidFill>
                          <a:latin typeface="Nunito"/>
                        </a:rPr>
                        <a:t>Default Subnet Mask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A18222"/>
                          </a:solidFill>
                          <a:latin typeface="Nunito"/>
                        </a:rPr>
                        <a:t>Kapasitas Host / Jaringan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44403C"/>
                          </a:solidFill>
                          <a:latin typeface="Nunito"/>
                        </a:rPr>
                        <a:t>Kelas 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1 - 126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44403C"/>
                          </a:solidFill>
                          <a:latin typeface="Nunito"/>
                        </a:rPr>
                        <a:t>N</a:t>
                      </a:r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.H.H.H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255.0.0.0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16.777.214 Host (Sangat Besar)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44403C"/>
                          </a:solidFill>
                          <a:latin typeface="Nunito"/>
                        </a:rPr>
                        <a:t>Kelas 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128 - 191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44403C"/>
                          </a:solidFill>
                          <a:latin typeface="Nunito"/>
                        </a:rPr>
                        <a:t>N.N</a:t>
                      </a:r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.H.H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255.255.0.0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65.534 Host (Menengah)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44403C"/>
                          </a:solidFill>
                          <a:latin typeface="Nunito"/>
                        </a:rPr>
                        <a:t>Kelas 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192 - 223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44403C"/>
                          </a:solidFill>
                          <a:latin typeface="Nunito"/>
                        </a:rPr>
                        <a:t>N.N.N</a:t>
                      </a:r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.H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255.255.255.0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254 Host (Kecil - Umum digunakan)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44403C"/>
                          </a:solidFill>
                          <a:latin typeface="Nunito"/>
                        </a:rPr>
                        <a:t>Kelas 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224 - 239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Digunakan untuk Multicasting (Tidak memiliki subnet)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44403C"/>
                          </a:solidFill>
                          <a:latin typeface="Nunito"/>
                        </a:rPr>
                        <a:t>Kelas 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240 - 255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Digunakan untuk Eksperimen &amp; Penelitian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762000" y="228600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92524"/>
                </a:solidFill>
                <a:latin typeface="Lora"/>
              </a:rPr>
              <a:t>Kelas IP Address (IPv4)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2114550"/>
            <a:ext cx="5238750" cy="3543300"/>
          </a:xfrm>
          <a:prstGeom prst="roundRect">
            <a:avLst>
              <a:gd name="adj" fmla="val 5376"/>
            </a:avLst>
          </a:prstGeom>
          <a:solidFill>
            <a:srgbClr val="FAFAF9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81750" y="2114550"/>
            <a:ext cx="5238750" cy="3543300"/>
          </a:xfrm>
          <a:prstGeom prst="roundRect">
            <a:avLst>
              <a:gd name="adj" fmla="val 5376"/>
            </a:avLst>
          </a:prstGeom>
          <a:solidFill>
            <a:srgbClr val="FAFAF9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" y="2543175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275" y="2543175"/>
            <a:ext cx="33337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92524"/>
                </a:solidFill>
                <a:latin typeface="Lora"/>
              </a:rPr>
              <a:t>IP Public vs IP Private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2505075"/>
            <a:ext cx="5850731" cy="361950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A18222"/>
                </a:solidFill>
                <a:latin typeface="Nunito"/>
              </a:rPr>
              <a:t>IP Public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2275" y="2505075"/>
            <a:ext cx="5419725" cy="361950"/>
          </a:xfrm>
          <a:prstGeom prst="rect">
            <a:avLst/>
          </a:prstGeom>
          <a:noFill/>
        </p:spPr>
        <p:txBody>
          <a:bodyPr wrap="none" lIns="333375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A18222"/>
                </a:solidFill>
                <a:latin typeface="Nunito"/>
              </a:rPr>
              <a:t>IP Private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" y="3009900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150" y="3009900"/>
            <a:ext cx="431482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Dapat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diakses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langsung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dari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seluruh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penjuru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 Internet (routable).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" y="3762375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150" y="3762375"/>
            <a:ext cx="431482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Sifatnya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unik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secara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 global, </a:t>
            </a: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tidak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 </a:t>
            </a: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ada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 yang </a:t>
            </a:r>
            <a:r>
              <a:rPr sz="1500" b="0" i="0" u="none" dirty="0" err="1">
                <a:solidFill>
                  <a:srgbClr val="44403C"/>
                </a:solidFill>
                <a:latin typeface="Nunito"/>
              </a:rPr>
              <a:t>sama</a:t>
            </a:r>
            <a:r>
              <a:rPr sz="1500" b="0" i="0" u="none" dirty="0">
                <a:solidFill>
                  <a:srgbClr val="44403C"/>
                </a:solidFill>
                <a:latin typeface="Nunito"/>
              </a:rPr>
              <a:t> di dunia.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900" y="4514850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0150" y="4514850"/>
            <a:ext cx="431482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Berbayar dan dialokasikan oleh ISP &amp; lembaga IANA (Internet Assigned Numbers Authority).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5150" y="3009900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0400" y="3009900"/>
            <a:ext cx="431482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Hanya digunakan di dalam jaringan lokal (LAN) dan tidak dapat dirouting langsung ke Internet.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15150" y="3762375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400" y="3762375"/>
            <a:ext cx="431482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Gratis, bisa digunakan oleh siapa saja, asal tidak bentrok di jaringan lokal yang sama.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5150" y="4514850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0400" y="4514850"/>
            <a:ext cx="431482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Butuh mekanisme </a:t>
            </a:r>
            <a:r>
              <a:rPr sz="1500" b="1" i="0" u="none">
                <a:solidFill>
                  <a:srgbClr val="44403C"/>
                </a:solidFill>
                <a:latin typeface="Nunito"/>
              </a:rPr>
              <a:t>NAT (Network Address Translation)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untuk mengakses Internet.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92524"/>
                </a:solidFill>
                <a:latin typeface="Lora"/>
              </a:rPr>
              <a:t>Batas Kapasitas IPv4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10953" y="2185987"/>
            <a:ext cx="2559843" cy="1524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sz="12000" b="1" i="0" u="none">
                <a:solidFill>
                  <a:srgbClr val="0F172A"/>
                </a:solidFill>
                <a:latin typeface="Lora"/>
              </a:rPr>
              <a:t>4.3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2296" y="3852862"/>
            <a:ext cx="3917156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292524"/>
                </a:solidFill>
                <a:latin typeface="Nunito"/>
              </a:rPr>
              <a:t>Milyar Alamat (Maksimal)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1750" y="2185987"/>
            <a:ext cx="581025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A18222"/>
                </a:solidFill>
                <a:latin typeface="Nunito"/>
              </a:rPr>
              <a:t>IPv4 Exhaustion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1750" y="2881312"/>
            <a:ext cx="533400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Kapasitas total IPv4 adalah 2 pangkat 32 (sekitar 4.29 miliar). Dengan pertumbuhan perangkat IoT, smartphone, dan internet saat ini, blok alamat IPv4 publik telah habis (exhausted) di berbagai regional alokasi.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1750" y="4481512"/>
            <a:ext cx="5334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Hal ini memicu lahirnya teknik penghematan seperti Subnetting, penggunaan IP Private dengan NAT, hingga migrasi ke </a:t>
            </a:r>
            <a:r>
              <a:rPr sz="1500" b="1" i="0" u="none">
                <a:solidFill>
                  <a:srgbClr val="44403C"/>
                </a:solidFill>
                <a:latin typeface="Nunito"/>
              </a:rPr>
              <a:t>IPv6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(dengan panjang 128-bit).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24500" y="2341215"/>
            <a:ext cx="1143000" cy="571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345531" y="2684115"/>
            <a:ext cx="7500937" cy="156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292524"/>
                </a:solidFill>
                <a:latin typeface="Lora"/>
              </a:rPr>
              <a:t>Bagian 4:</a:t>
            </a:r>
            <a:r>
              <a:t>
</a:t>
            </a:r>
            <a:r>
              <a:rPr sz="4800" b="1" i="0" u="none">
                <a:solidFill>
                  <a:srgbClr val="0F172A"/>
                </a:solidFill>
                <a:latin typeface="Lora"/>
              </a:rPr>
              <a:t>Subnetting &amp; VLSM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89484" y="4436715"/>
            <a:ext cx="9013031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78716C"/>
                </a:solidFill>
                <a:latin typeface="Nunito"/>
              </a:rPr>
              <a:t>Memecah Jaringan Besar Menjadi Jaringan-Jaringan Kecil yang Efisien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700212"/>
            <a:ext cx="5238750" cy="3810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709737"/>
            <a:ext cx="5219700" cy="3790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92524"/>
                </a:solidFill>
                <a:latin typeface="Lora"/>
              </a:rPr>
              <a:t>Apa itu Subnetting?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4375" y="1700212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1700212"/>
            <a:ext cx="5095875" cy="9144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Teknik untuk memecah sebuah network besar (kelas A, B, atau C) menjadi beberapa sub-network (subnet) yang lebih kecil.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375" y="2757487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2757487"/>
            <a:ext cx="5095875" cy="2419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Tujuan Subnetting: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375" y="5319712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5319712"/>
            <a:ext cx="509587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Subnetting dilakukan dengan "meminjam" bit Host ID dan mengubahnya menjadi bit Network ID.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3062287"/>
            <a:ext cx="11430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0625" y="3062287"/>
            <a:ext cx="4714875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Efisiensi IP Address: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Mengurangi pemborosan alokasi IP (IP terbuang sia-sia).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6325" y="3814762"/>
            <a:ext cx="11430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0625" y="3814762"/>
            <a:ext cx="4714875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Mengurangi Broadcast Traffic: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Domain broadcast menjadi lebih kecil, mengurangi beban jaringan.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6325" y="4567237"/>
            <a:ext cx="11430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0625" y="4567237"/>
            <a:ext cx="4714875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Keamanan: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Memisahkan lalu lintas antar departemen (Misal: LAN HRD terpisah dari LAN tamu).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514600"/>
            <a:ext cx="257175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362325"/>
            <a:ext cx="200025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905250"/>
            <a:ext cx="28575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" y="4752975"/>
            <a:ext cx="200025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92524"/>
                </a:solidFill>
                <a:latin typeface="Lora"/>
              </a:rPr>
              <a:t>Subnet Mask &amp; CIDR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2125" y="2495550"/>
            <a:ext cx="91916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292524"/>
                </a:solidFill>
                <a:latin typeface="Nunito"/>
              </a:rPr>
              <a:t>Subnet Mask: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Angka 32-bit yang digunakan komputer untuk mengetahui batas mana yang merupakan Network ID dan mana Host ID. Angka '1' biner menandakan Network, '0' menandakan Host.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2125" y="3343275"/>
            <a:ext cx="1042987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Subnet Mask default kelas C adalah 255.255.255.0 (Biner: 11111111.11111111.11111111.00000000).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2125" y="3886200"/>
            <a:ext cx="91916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292524"/>
                </a:solidFill>
                <a:latin typeface="Nunito"/>
              </a:rPr>
              <a:t>CIDR (Classless Inter-Domain Routing):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Representasi notasi singkat dari Subnet Mask menggunakan tanda slash (/).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2125" y="4733925"/>
            <a:ext cx="1042987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CIDR merepresentasikan jumlah bit '1' pada Subnet Mask. Contoh: 255.255.255.0 ditulis sebagai </a:t>
            </a:r>
            <a:r>
              <a:rPr sz="1500" b="1" i="0" u="none">
                <a:solidFill>
                  <a:srgbClr val="292524"/>
                </a:solidFill>
                <a:latin typeface="Nunito"/>
              </a:rPr>
              <a:t>/24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1781175"/>
            <a:ext cx="5238750" cy="4210050"/>
          </a:xfrm>
          <a:prstGeom prst="roundRect">
            <a:avLst>
              <a:gd name="adj" fmla="val 4524"/>
            </a:avLst>
          </a:prstGeom>
          <a:solidFill>
            <a:srgbClr val="FAFAF9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81750" y="1781175"/>
            <a:ext cx="5238750" cy="4210050"/>
          </a:xfrm>
          <a:prstGeom prst="roundRect">
            <a:avLst>
              <a:gd name="adj" fmla="val 4524"/>
            </a:avLst>
          </a:prstGeom>
          <a:solidFill>
            <a:srgbClr val="FAFAF9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92524"/>
                </a:solidFill>
                <a:latin typeface="Lora"/>
              </a:rPr>
              <a:t>FLSM vs VLSM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171700"/>
            <a:ext cx="5850731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A18222"/>
                </a:solidFill>
                <a:latin typeface="Nunito"/>
              </a:rPr>
              <a:t>FLSM (Fixed Length Subnet Mask)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2275" y="2171700"/>
            <a:ext cx="4780597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A18222"/>
                </a:solidFill>
                <a:latin typeface="Nunito"/>
              </a:rPr>
              <a:t>VLSM (Variable Length Subnet Mask)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" y="2676525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676525"/>
            <a:ext cx="5274468" cy="3048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Cara lama/tradisional (Classful routing).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" y="3124200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150" y="3124200"/>
            <a:ext cx="431482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Semua subnet yang dibagi akan memiliki ukuran blok IP (jumlah host maksimal) yang SAMA.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" y="3876675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150" y="3876675"/>
            <a:ext cx="4314825" cy="12192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Kekurangan: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Pemborosan IP yang besar. Misal, jika butuh subnet untuk sambungan Point-to-Point router (cukup 2 IP), FLSM mungkin tetap mengalokasikan 30 IP (terbuang 28 IP).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15150" y="3038475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0400" y="3038475"/>
            <a:ext cx="5181600" cy="3048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Cara modern (Classless routing).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5150" y="3486150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0400" y="3486150"/>
            <a:ext cx="4314825" cy="9144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Memungkinkan administrator membuat subnet dengan ukuran yang BERBEDA-BEDA sesuai kebutuhan aktual setiap ruangan/departemen.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15150" y="4543425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400" y="4543425"/>
            <a:ext cx="4314825" cy="9144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Kelebihan: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Penggunaan IP Address sangat efisien, hemat, dan mencegah kelangkaan IPv4 di jaringan lokal.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2052935"/>
            <a:ext cx="3492549" cy="3666529"/>
          </a:xfrm>
          <a:prstGeom prst="roundRect">
            <a:avLst>
              <a:gd name="adj" fmla="val 5454"/>
            </a:avLst>
          </a:prstGeom>
          <a:solidFill>
            <a:srgbClr val="FAFAF9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49799" y="2052935"/>
            <a:ext cx="3492549" cy="3666529"/>
          </a:xfrm>
          <a:prstGeom prst="roundRect">
            <a:avLst>
              <a:gd name="adj" fmla="val 5454"/>
            </a:avLst>
          </a:prstGeom>
          <a:solidFill>
            <a:srgbClr val="FAFAF9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128099" y="2052935"/>
            <a:ext cx="3492549" cy="3666529"/>
          </a:xfrm>
          <a:prstGeom prst="roundRect">
            <a:avLst>
              <a:gd name="adj" fmla="val 5454"/>
            </a:avLst>
          </a:prstGeom>
          <a:solidFill>
            <a:srgbClr val="FAFAF9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95835"/>
            <a:ext cx="733425" cy="685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699" y="2395835"/>
            <a:ext cx="590550" cy="685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0999" y="2395835"/>
            <a:ext cx="685800" cy="685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275" y="2538710"/>
            <a:ext cx="447675" cy="4000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5574" y="2538710"/>
            <a:ext cx="304800" cy="4000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3874" y="2538710"/>
            <a:ext cx="400050" cy="4000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92524"/>
                </a:solidFill>
                <a:latin typeface="Lora"/>
              </a:rPr>
              <a:t>Langkah-Langkah Menghitung VLSM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19760"/>
            <a:ext cx="312539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92524"/>
                </a:solidFill>
                <a:latin typeface="Lora"/>
              </a:rPr>
              <a:t>1. Urutkan Kebutuhan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19835"/>
            <a:ext cx="2901999" cy="1294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44403C"/>
                </a:solidFill>
                <a:latin typeface="Nunito"/>
              </a:rPr>
              <a:t>Kumpulkan semua kebutuhan host dari setiap jaringan/ruangan, kemudian </a:t>
            </a:r>
            <a:r>
              <a:rPr sz="1275" b="1" i="0" u="none">
                <a:solidFill>
                  <a:srgbClr val="44403C"/>
                </a:solidFill>
                <a:latin typeface="Nunito"/>
              </a:rPr>
              <a:t>urutkan dari kebutuhan host yang paling besar ke yang paling kecil</a:t>
            </a:r>
            <a:r>
              <a:rPr sz="1275" b="0" i="0" u="none">
                <a:solidFill>
                  <a:srgbClr val="44403C"/>
                </a:solidFill>
                <a:latin typeface="Nunito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2699" y="3319760"/>
            <a:ext cx="3112889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92524"/>
                </a:solidFill>
                <a:latin typeface="Lora"/>
              </a:rPr>
              <a:t>2. Hitung Blok Subnet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2699" y="3919835"/>
            <a:ext cx="2901999" cy="1294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44403C"/>
                </a:solidFill>
                <a:latin typeface="Nunito"/>
              </a:rPr>
              <a:t>Tentukan CIDR (Prefix) yang paling pas untuk setiap kebutuhan berdasarkan rumus: 2^y - 2 &gt;= Kebutuhan Host. (y = jumlah bit host yang tersisa).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0999" y="3319760"/>
            <a:ext cx="2262782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92524"/>
                </a:solidFill>
                <a:latin typeface="Lora"/>
              </a:rPr>
              <a:t>3. Alokasikan 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0999" y="3919835"/>
            <a:ext cx="2901999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44403C"/>
                </a:solidFill>
                <a:latin typeface="Nunito"/>
              </a:rPr>
              <a:t>Petakan blok Network ID, Range IP Host yang Valid, dan IP Broadcast secara berurutan mulai dari blok subnet terbesar.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333375"/>
            <a:ext cx="57150" cy="533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81025" y="1905000"/>
            <a:ext cx="2158305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39330" y="1905000"/>
            <a:ext cx="2740818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0149" y="1905000"/>
            <a:ext cx="2515790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995939" y="1905000"/>
            <a:ext cx="3615035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025" y="2571750"/>
            <a:ext cx="2158305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39330" y="2571750"/>
            <a:ext cx="2740818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0149" y="2571750"/>
            <a:ext cx="2515790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995939" y="2571750"/>
            <a:ext cx="3615035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1025" y="3228975"/>
            <a:ext cx="2158305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39330" y="3228975"/>
            <a:ext cx="2740818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0149" y="3228975"/>
            <a:ext cx="2515790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95939" y="3228975"/>
            <a:ext cx="3615035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1025" y="3886200"/>
            <a:ext cx="2158305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39330" y="3886200"/>
            <a:ext cx="2740818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0149" y="3886200"/>
            <a:ext cx="2515790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95939" y="3886200"/>
            <a:ext cx="3615035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1025" y="4543425"/>
            <a:ext cx="2158305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39330" y="4543425"/>
            <a:ext cx="2740818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0149" y="4543425"/>
            <a:ext cx="2515790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95939" y="4543425"/>
            <a:ext cx="3615035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81025" y="5200650"/>
            <a:ext cx="2158305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39330" y="5200650"/>
            <a:ext cx="2740818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0149" y="5200650"/>
            <a:ext cx="2515790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995939" y="5200650"/>
            <a:ext cx="3615035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81025" y="5857875"/>
            <a:ext cx="2158305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739330" y="5857875"/>
            <a:ext cx="2740818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0149" y="5857875"/>
            <a:ext cx="2515790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995939" y="5857875"/>
            <a:ext cx="3615035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571500" y="1247775"/>
          <a:ext cx="11029948" cy="5276850"/>
        </p:xfrm>
        <a:graphic>
          <a:graphicData uri="http://schemas.openxmlformats.org/drawingml/2006/table">
            <a:tbl>
              <a:tblPr/>
              <a:tblGrid>
                <a:gridCol w="2158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0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5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50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9606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A18222"/>
                          </a:solidFill>
                          <a:latin typeface="Nunito"/>
                        </a:rPr>
                        <a:t>Notasi CIDR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A18222"/>
                          </a:solidFill>
                          <a:latin typeface="Nunito"/>
                        </a:rPr>
                        <a:t>Subnet Mask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A18222"/>
                          </a:solidFill>
                          <a:latin typeface="Nunito"/>
                        </a:rPr>
                        <a:t>Jumlah IP Total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A18222"/>
                          </a:solidFill>
                          <a:latin typeface="Nunito"/>
                        </a:rPr>
                        <a:t>Host Valid (IP Total - 2)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606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/24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255.255.255.0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256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254 Host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9606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/25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255.255.255.128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128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126 Host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9606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/26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255.255.255.192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64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62 Host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9606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/27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255.255.255.224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32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30 Host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9606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/28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255.255.255.240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16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14 Host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9606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/29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255.255.255.248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6 Host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9608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/30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255.255.255.252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2 Host (Router to Router)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762000" y="333375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92524"/>
                </a:solidFill>
                <a:latin typeface="Lora"/>
              </a:rPr>
              <a:t>Tabel Bantuan CIDR (Khusus Blok Terakhir)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6938367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92524"/>
                </a:solidFill>
                <a:latin typeface="Lora"/>
              </a:rPr>
              <a:t>Studi Kasus VLSM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933575"/>
            <a:ext cx="53816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Sebuah perusahaan memiliki Network Address: </a:t>
            </a:r>
            <a:r>
              <a:rPr sz="1500" b="1" i="0" u="none">
                <a:solidFill>
                  <a:srgbClr val="44403C"/>
                </a:solidFill>
                <a:latin typeface="Nunito"/>
              </a:rPr>
              <a:t>192.168.10.0/24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(Kapasitas 254 Host).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771775"/>
            <a:ext cx="53816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Mereka ingin membaginya ke dalam 3 jaringan (subnet) dengan kebutuhan sebagai berikut: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000625"/>
            <a:ext cx="53816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Jika menggunakan FLSM, jaringan tidak akan cukup. Kita wajib memecahnya dengan teknik VLSM.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375" y="3609975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609975"/>
            <a:ext cx="6310312" cy="3048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Ruang Staff: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Butuh 60 PC/Host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4375" y="4057650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4057650"/>
            <a:ext cx="6310312" cy="3048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Ruang Direksi: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Butuh 25 PC/Host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" y="4505325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4505325"/>
            <a:ext cx="6310312" cy="3048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Koneksi Antar Router (R1 ke R2):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Butuh 2 IP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1733550"/>
            <a:ext cx="5381625" cy="4305300"/>
          </a:xfrm>
          <a:prstGeom prst="roundRect">
            <a:avLst>
              <a:gd name="adj" fmla="val 4424"/>
            </a:avLst>
          </a:prstGeom>
          <a:solidFill>
            <a:srgbClr val="FAFAF9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38875" y="1733550"/>
            <a:ext cx="5381625" cy="4305300"/>
          </a:xfrm>
          <a:prstGeom prst="roundRect">
            <a:avLst>
              <a:gd name="adj" fmla="val 4424"/>
            </a:avLst>
          </a:prstGeom>
          <a:solidFill>
            <a:srgbClr val="FAFAF9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76450"/>
            <a:ext cx="485775" cy="685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775" y="2076450"/>
            <a:ext cx="542925" cy="685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275" y="2219325"/>
            <a:ext cx="200025" cy="4000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4650" y="2219325"/>
            <a:ext cx="257175" cy="400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92524"/>
                </a:solidFill>
                <a:latin typeface="Lora"/>
              </a:rPr>
              <a:t>Solusi VLSM: Langkah 1 &amp;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00375"/>
            <a:ext cx="2850356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92524"/>
                </a:solidFill>
                <a:latin typeface="Lora"/>
              </a:rPr>
              <a:t>Urutkan Kebutuhan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3000375"/>
            <a:ext cx="3225403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92524"/>
                </a:solidFill>
                <a:latin typeface="Lora"/>
              </a:rPr>
              <a:t>Tentukan CIDR (Tabel)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275" y="3438525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525" y="3438525"/>
            <a:ext cx="3869531" cy="3048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Tertinggi: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Ruang Staff (60 Host)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7275" y="3886200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525" y="3886200"/>
            <a:ext cx="3869531" cy="3048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Menengah: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Ruang Direksi (25 Host)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7275" y="4333875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525" y="4333875"/>
            <a:ext cx="3869531" cy="3048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Terkecil: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Koneksi Router (2 Host)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4650" y="3438525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9900" y="3438525"/>
            <a:ext cx="4552950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Staff (60): Paling pas pakai </a:t>
            </a:r>
            <a:r>
              <a:rPr sz="1500" b="1" i="0" u="none">
                <a:solidFill>
                  <a:srgbClr val="44403C"/>
                </a:solidFill>
                <a:latin typeface="Nunito"/>
              </a:rPr>
              <a:t>/26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(kapasitas 62 host valid). Blok IP: 64.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4650" y="4191000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9900" y="4191000"/>
            <a:ext cx="4552950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Direksi (25): Paling pas pakai </a:t>
            </a:r>
            <a:r>
              <a:rPr sz="1500" b="1" i="0" u="none">
                <a:solidFill>
                  <a:srgbClr val="44403C"/>
                </a:solidFill>
                <a:latin typeface="Nunito"/>
              </a:rPr>
              <a:t>/27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(kapasitas 30 host valid). Blok IP: 32.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4650" y="4943475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9900" y="4943475"/>
            <a:ext cx="4552950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Router (2): Paling pas pakai </a:t>
            </a:r>
            <a:r>
              <a:rPr sz="1500" b="1" i="0" u="none">
                <a:solidFill>
                  <a:srgbClr val="44403C"/>
                </a:solidFill>
                <a:latin typeface="Nunito"/>
              </a:rPr>
              <a:t>/30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(kapasitas 2 host valid). Blok IP: 4.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2076450"/>
            <a:ext cx="5238750" cy="3619500"/>
          </a:xfrm>
          <a:prstGeom prst="roundRect">
            <a:avLst>
              <a:gd name="adj" fmla="val 5263"/>
            </a:avLst>
          </a:prstGeom>
          <a:solidFill>
            <a:srgbClr val="FAFAF9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81750" y="2076450"/>
            <a:ext cx="5238750" cy="3619500"/>
          </a:xfrm>
          <a:prstGeom prst="roundRect">
            <a:avLst>
              <a:gd name="adj" fmla="val 5263"/>
            </a:avLst>
          </a:prstGeom>
          <a:solidFill>
            <a:srgbClr val="FAFAF9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92524"/>
                </a:solidFill>
                <a:latin typeface="Lora"/>
              </a:rPr>
              <a:t>Alokasi IP - Ruang Staff (Terbesar)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466975"/>
            <a:ext cx="5850731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A18222"/>
                </a:solidFill>
                <a:latin typeface="Nunito"/>
              </a:rPr>
              <a:t>Parameter Ruang Staff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2275" y="2466975"/>
            <a:ext cx="5419725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A18222"/>
                </a:solidFill>
                <a:latin typeface="Nunito"/>
              </a:rPr>
              <a:t>Perhitungan Ruang Staff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2275" y="4810125"/>
            <a:ext cx="541972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1" u="none">
                <a:solidFill>
                  <a:srgbClr val="44403C"/>
                </a:solidFill>
                <a:latin typeface="Nunito"/>
              </a:rPr>
              <a:t>Blok berikutnya akan dimulai dari IP 192.168.10.64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2971800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0150" y="2971800"/>
            <a:ext cx="5274468" cy="3048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Kebutuhan: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60 Host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" y="3419475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150" y="3419475"/>
            <a:ext cx="5274468" cy="3048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CIDR Terpilih: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/26 (Total 64 IP)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" y="3867150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0150" y="3867150"/>
            <a:ext cx="5274468" cy="3048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Subnet Mask: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255.255.255.192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900" y="4314825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0150" y="4314825"/>
            <a:ext cx="431482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Alokasi selalu dimulai dari angka Network paling awal (0).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15150" y="2971800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400" y="2971800"/>
            <a:ext cx="5181600" cy="3048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Network ID: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192.168.10.0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15150" y="3419475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0400" y="3419475"/>
            <a:ext cx="5181600" cy="3048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IP Pertama (Valid):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192.168.10.1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5150" y="3867150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0400" y="3867150"/>
            <a:ext cx="5181600" cy="3048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IP Terakhir (Valid):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192.168.10.62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5150" y="4314825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0400" y="4314825"/>
            <a:ext cx="5181600" cy="3048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Broadcast IP: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192.168.10.63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2076450"/>
            <a:ext cx="5238750" cy="3619500"/>
          </a:xfrm>
          <a:prstGeom prst="roundRect">
            <a:avLst>
              <a:gd name="adj" fmla="val 5263"/>
            </a:avLst>
          </a:prstGeom>
          <a:solidFill>
            <a:srgbClr val="FAFAF9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81750" y="2076450"/>
            <a:ext cx="5238750" cy="3619500"/>
          </a:xfrm>
          <a:prstGeom prst="roundRect">
            <a:avLst>
              <a:gd name="adj" fmla="val 5263"/>
            </a:avLst>
          </a:prstGeom>
          <a:solidFill>
            <a:srgbClr val="FAFAF9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92524"/>
                </a:solidFill>
                <a:latin typeface="Lora"/>
              </a:rPr>
              <a:t>Alokasi IP - Ruang Direksi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466975"/>
            <a:ext cx="5850731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A18222"/>
                </a:solidFill>
                <a:latin typeface="Nunito"/>
              </a:rPr>
              <a:t>Parameter Ruang Direksi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2275" y="2466975"/>
            <a:ext cx="5419725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A18222"/>
                </a:solidFill>
                <a:latin typeface="Nunito"/>
              </a:rPr>
              <a:t>Perhitungan Ruang Direksi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2275" y="4810125"/>
            <a:ext cx="541972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1" u="none">
                <a:solidFill>
                  <a:srgbClr val="44403C"/>
                </a:solidFill>
                <a:latin typeface="Nunito"/>
              </a:rPr>
              <a:t>Blok berikutnya akan dimulai dari IP 192.168.10.96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2971800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0150" y="2971800"/>
            <a:ext cx="5274468" cy="3048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Kebutuhan: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25 Host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" y="3419475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150" y="3419475"/>
            <a:ext cx="5274468" cy="3048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CIDR Terpilih: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/27 (Total 32 IP)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" y="3867150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0150" y="3867150"/>
            <a:ext cx="5274468" cy="3048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Subnet Mask: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255.255.255.224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900" y="4314825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0150" y="4314825"/>
            <a:ext cx="431482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Alokasi dilanjutkan dari sisa pemotongan blok Ruang Staff (yaitu 64).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15150" y="2971800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400" y="2971800"/>
            <a:ext cx="5181600" cy="3048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Network ID: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192.168.10.64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15150" y="3419475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0400" y="3419475"/>
            <a:ext cx="5181600" cy="3048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IP Pertama (Valid):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192.168.10.65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5150" y="3867150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0400" y="3867150"/>
            <a:ext cx="5181600" cy="3048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IP Terakhir (Valid):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192.168.10.94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5150" y="4314825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0400" y="4314825"/>
            <a:ext cx="5181600" cy="3048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Broadcast IP: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192.168.10.95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1771650"/>
            <a:ext cx="5238750" cy="4229100"/>
          </a:xfrm>
          <a:prstGeom prst="roundRect">
            <a:avLst>
              <a:gd name="adj" fmla="val 4504"/>
            </a:avLst>
          </a:prstGeom>
          <a:solidFill>
            <a:srgbClr val="FAFAF9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81750" y="1771650"/>
            <a:ext cx="5238750" cy="4229100"/>
          </a:xfrm>
          <a:prstGeom prst="roundRect">
            <a:avLst>
              <a:gd name="adj" fmla="val 4504"/>
            </a:avLst>
          </a:prstGeom>
          <a:solidFill>
            <a:srgbClr val="FAFAF9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92524"/>
                </a:solidFill>
                <a:latin typeface="Lora"/>
              </a:rPr>
              <a:t>Alokasi IP - Koneksi 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162175"/>
            <a:ext cx="5850731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A18222"/>
                </a:solidFill>
                <a:latin typeface="Nunito"/>
              </a:rPr>
              <a:t>Parameter Router Link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2275" y="2162175"/>
            <a:ext cx="5419725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A18222"/>
                </a:solidFill>
                <a:latin typeface="Nunito"/>
              </a:rPr>
              <a:t>Perhitungan Router 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2275" y="4505325"/>
            <a:ext cx="45529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1" u="none">
                <a:solidFill>
                  <a:srgbClr val="44403C"/>
                </a:solidFill>
                <a:latin typeface="Nunito"/>
              </a:rPr>
              <a:t>Sisa IP address (192.168.10.100 s/d 255) belum terpakai dan bisa disimpan untuk pengembangan di masa depan!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2667000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0150" y="2667000"/>
            <a:ext cx="5274468" cy="3048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Kebutuhan: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2 Host (P2P)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" y="3114675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150" y="3114675"/>
            <a:ext cx="5274468" cy="3048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CIDR Terpilih: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/30 (Total 4 IP)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" y="3562350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0150" y="3562350"/>
            <a:ext cx="5274468" cy="3048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Subnet Mask: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255.255.255.252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900" y="4010025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0150" y="4010025"/>
            <a:ext cx="4314825" cy="609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4403C"/>
                </a:solidFill>
                <a:latin typeface="Nunito"/>
              </a:rPr>
              <a:t>Alokasi dilanjutkan dari sisa pemotongan blok Ruang Direksi (yaitu 96).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15150" y="2667000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400" y="2667000"/>
            <a:ext cx="5181600" cy="3048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Network ID: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192.168.10.96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15150" y="3114675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0400" y="3114675"/>
            <a:ext cx="5181600" cy="3048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IP Pertama (Valid):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192.168.10.97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5150" y="3562350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0400" y="3562350"/>
            <a:ext cx="5181600" cy="3048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IP Terakhir (Valid):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192.168.10.98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5150" y="4010025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4403C"/>
                </a:solidFill>
                <a:latin typeface="Nunito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0400" y="4010025"/>
            <a:ext cx="5181600" cy="3048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4403C"/>
                </a:solidFill>
                <a:latin typeface="Nunito"/>
              </a:rPr>
              <a:t>Broadcast IP:</a:t>
            </a:r>
            <a:r>
              <a:rPr sz="1500" b="0" i="0" u="none">
                <a:solidFill>
                  <a:srgbClr val="44403C"/>
                </a:solidFill>
                <a:latin typeface="Nunito"/>
              </a:rPr>
              <a:t> 192.168.10.99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81025" y="2571750"/>
            <a:ext cx="1689943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70968" y="2571750"/>
            <a:ext cx="1438275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709243" y="2571750"/>
            <a:ext cx="2348358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57602" y="2571750"/>
            <a:ext cx="1743075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800677" y="2571750"/>
            <a:ext cx="2067073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867751" y="2571750"/>
            <a:ext cx="1743223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1025" y="3543300"/>
            <a:ext cx="1689943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70968" y="3543300"/>
            <a:ext cx="1438275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709243" y="3543300"/>
            <a:ext cx="2348358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57602" y="3543300"/>
            <a:ext cx="1743075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00677" y="3543300"/>
            <a:ext cx="2067073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867751" y="3543300"/>
            <a:ext cx="1743223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1025" y="4505325"/>
            <a:ext cx="1689943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270968" y="4505325"/>
            <a:ext cx="1438275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709243" y="4505325"/>
            <a:ext cx="2348358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57602" y="4505325"/>
            <a:ext cx="1743075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800677" y="4505325"/>
            <a:ext cx="2067073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867751" y="4505325"/>
            <a:ext cx="1743223" cy="9525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71500" y="1609725"/>
          <a:ext cx="11029947" cy="3867150"/>
        </p:xfrm>
        <a:graphic>
          <a:graphicData uri="http://schemas.openxmlformats.org/drawingml/2006/table">
            <a:tbl>
              <a:tblPr/>
              <a:tblGrid>
                <a:gridCol w="1689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83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3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70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32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66787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A18222"/>
                          </a:solidFill>
                          <a:latin typeface="Nunito"/>
                        </a:rPr>
                        <a:t>Lokasi Jaringan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A18222"/>
                          </a:solidFill>
                          <a:latin typeface="Nunito"/>
                        </a:rPr>
                        <a:t>Kebutuhan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A18222"/>
                          </a:solidFill>
                          <a:latin typeface="Nunito"/>
                        </a:rPr>
                        <a:t>Netmask (CIDR)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A18222"/>
                          </a:solidFill>
                          <a:latin typeface="Nunito"/>
                        </a:rPr>
                        <a:t>Network 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A18222"/>
                          </a:solidFill>
                          <a:latin typeface="Nunito"/>
                        </a:rPr>
                        <a:t>Range IP Valid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A18222"/>
                          </a:solidFill>
                          <a:latin typeface="Nunito"/>
                        </a:rPr>
                        <a:t>Broadcast IP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6787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Ruang Staff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60 Host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255.255.255.192 </a:t>
                      </a:r>
                      <a:r>
                        <a:rPr sz="1500" b="1" i="0" u="none">
                          <a:solidFill>
                            <a:srgbClr val="44403C"/>
                          </a:solidFill>
                          <a:latin typeface="Nunito"/>
                        </a:rPr>
                        <a:t>(/26)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192.168.10.</a:t>
                      </a:r>
                      <a:r>
                        <a:rPr sz="1500" b="1" i="0" u="none">
                          <a:solidFill>
                            <a:srgbClr val="44403C"/>
                          </a:solidFill>
                          <a:latin typeface="Nunito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192.168.10.</a:t>
                      </a:r>
                      <a:r>
                        <a:rPr sz="1500" b="1" i="0" u="none">
                          <a:solidFill>
                            <a:srgbClr val="44403C"/>
                          </a:solidFill>
                          <a:latin typeface="Nunito"/>
                        </a:rPr>
                        <a:t>1 - 62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192.168.10.</a:t>
                      </a:r>
                      <a:r>
                        <a:rPr sz="1500" b="1" i="0" u="none">
                          <a:solidFill>
                            <a:srgbClr val="44403C"/>
                          </a:solidFill>
                          <a:latin typeface="Nunito"/>
                        </a:rPr>
                        <a:t>63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6787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Ruang Direksi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25 Host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255.255.255.224 </a:t>
                      </a:r>
                      <a:r>
                        <a:rPr sz="1500" b="1" i="0" u="none">
                          <a:solidFill>
                            <a:srgbClr val="44403C"/>
                          </a:solidFill>
                          <a:latin typeface="Nunito"/>
                        </a:rPr>
                        <a:t>(/27)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192.168.10.</a:t>
                      </a:r>
                      <a:r>
                        <a:rPr sz="1500" b="1" i="0" u="none">
                          <a:solidFill>
                            <a:srgbClr val="44403C"/>
                          </a:solidFill>
                          <a:latin typeface="Nunito"/>
                        </a:rPr>
                        <a:t>64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192.168.10.</a:t>
                      </a:r>
                      <a:r>
                        <a:rPr sz="1500" b="1" i="0" u="none">
                          <a:solidFill>
                            <a:srgbClr val="44403C"/>
                          </a:solidFill>
                          <a:latin typeface="Nunito"/>
                        </a:rPr>
                        <a:t>65 - 94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192.168.10.</a:t>
                      </a:r>
                      <a:r>
                        <a:rPr sz="1500" b="1" i="0" u="none">
                          <a:solidFill>
                            <a:srgbClr val="44403C"/>
                          </a:solidFill>
                          <a:latin typeface="Nunito"/>
                        </a:rPr>
                        <a:t>95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6789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Router Link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2 Host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255.255.255.252 </a:t>
                      </a:r>
                      <a:r>
                        <a:rPr sz="1500" b="1" i="0" u="none">
                          <a:solidFill>
                            <a:srgbClr val="44403C"/>
                          </a:solidFill>
                          <a:latin typeface="Nunito"/>
                        </a:rPr>
                        <a:t>(/30)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192.168.10.</a:t>
                      </a:r>
                      <a:r>
                        <a:rPr sz="1500" b="1" i="0" u="none">
                          <a:solidFill>
                            <a:srgbClr val="44403C"/>
                          </a:solidFill>
                          <a:latin typeface="Nunito"/>
                        </a:rPr>
                        <a:t>96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192.168.10.</a:t>
                      </a:r>
                      <a:r>
                        <a:rPr sz="1500" b="1" i="0" u="none">
                          <a:solidFill>
                            <a:srgbClr val="44403C"/>
                          </a:solidFill>
                          <a:latin typeface="Nunito"/>
                        </a:rPr>
                        <a:t>97 - 98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44403C"/>
                          </a:solidFill>
                          <a:latin typeface="Nunito"/>
                        </a:rPr>
                        <a:t>192.168.10.</a:t>
                      </a:r>
                      <a:r>
                        <a:rPr sz="1500" b="1" i="0" u="none">
                          <a:solidFill>
                            <a:srgbClr val="44403C"/>
                          </a:solidFill>
                          <a:latin typeface="Nunito"/>
                        </a:rPr>
                        <a:t>99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92524"/>
                </a:solidFill>
                <a:latin typeface="Lora"/>
              </a:rPr>
              <a:t>Tabel Kesimpulan Alokasi VLSM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562" y="5667375"/>
            <a:ext cx="1157287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1" u="none">
                <a:solidFill>
                  <a:srgbClr val="78716C"/>
                </a:solidFill>
                <a:latin typeface="Nunito"/>
              </a:rPr>
              <a:t>Dengan VLSM, penggunaan IP sangat presisi sesuai kebutuhan, menghindari pemborosan besar (IP saving).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4166145"/>
            <a:ext cx="7620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-404812" y="2120205"/>
            <a:ext cx="13001625" cy="971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0F172A"/>
                </a:solidFill>
                <a:latin typeface="Lora"/>
              </a:rPr>
              <a:t>Sesi Tanya Jawab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404812" y="3358455"/>
            <a:ext cx="13001625" cy="4266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0" u="none">
                <a:solidFill>
                  <a:srgbClr val="44403C"/>
                </a:solidFill>
                <a:latin typeface="Nunito"/>
              </a:rPr>
              <a:t>Apakah ada pertanyaan terkait materi Komunikasi Data, OSI Layer, atau Subnetting IPv4?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404812" y="4480470"/>
            <a:ext cx="1300162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78716C"/>
                </a:solidFill>
                <a:latin typeface="Nunito"/>
              </a:rPr>
              <a:t>Terima kasih atas perhatian dan antusiasmenya!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43000" y="1143000"/>
            <a:ext cx="57150" cy="533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43000" y="2057400"/>
            <a:ext cx="9906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43000" y="2842170"/>
            <a:ext cx="9906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3000" y="3626941"/>
            <a:ext cx="9906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3000" y="4411712"/>
            <a:ext cx="9906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43000" y="5196482"/>
            <a:ext cx="9906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43000" y="2832645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43000" y="2832645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43000" y="3617416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43000" y="3617416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43000" y="4402187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43000" y="4402187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43000" y="5186957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43000" y="5186957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43000" y="5971728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43000" y="5971728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206823"/>
            <a:ext cx="857250" cy="4762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991594"/>
            <a:ext cx="857250" cy="4762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776364"/>
            <a:ext cx="857250" cy="4762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4561135"/>
            <a:ext cx="857250" cy="4762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5345906"/>
            <a:ext cx="857250" cy="4762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" y="6130676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33500" y="1143000"/>
            <a:ext cx="108585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92524"/>
                </a:solidFill>
                <a:latin typeface="Lora"/>
              </a:rPr>
              <a:t>Image Sources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8375" y="2200275"/>
            <a:ext cx="4345781" cy="1980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44403C"/>
                </a:solidFill>
                <a:latin typeface="Nunito"/>
              </a:rPr>
              <a:t>https://www.zenarmor.com/docs/network-topology-types.png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38375" y="2445990"/>
            <a:ext cx="2405062" cy="2437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4403C"/>
                </a:solidFill>
                <a:latin typeface="Nuni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unito"/>
              </a:rPr>
              <a:t>www.zenarmor.com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38375" y="2985045"/>
            <a:ext cx="6988968" cy="1980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44403C"/>
                </a:solidFill>
                <a:latin typeface="Nunito"/>
              </a:rPr>
              <a:t>https://www.mydraw.com/NIMG.axd?i=Templates/NetworkDiagram/BusTopology/BusTopology.png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38375" y="3230760"/>
            <a:ext cx="2274093" cy="2437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4403C"/>
                </a:solidFill>
                <a:latin typeface="Nuni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unito"/>
              </a:rPr>
              <a:t>www.mydraw.com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38375" y="3769816"/>
            <a:ext cx="5107781" cy="1980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44403C"/>
                </a:solidFill>
                <a:latin typeface="Nunito"/>
              </a:rPr>
              <a:t>https://cms.boardmix.com/images/articles/what-is-the-star-topology.png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38375" y="4015531"/>
            <a:ext cx="1893093" cy="2437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4403C"/>
                </a:solidFill>
                <a:latin typeface="Nuni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unito"/>
              </a:rPr>
              <a:t>boardmix.com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38375" y="4554587"/>
            <a:ext cx="5203031" cy="1980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44403C"/>
                </a:solidFill>
                <a:latin typeface="Nunito"/>
              </a:rPr>
              <a:t>https://creately.com/static/assets/guides/ring-topology/ring-topology.webp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38375" y="4800302"/>
            <a:ext cx="1774031" cy="2437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4403C"/>
                </a:solidFill>
                <a:latin typeface="Nuni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unito"/>
              </a:rPr>
              <a:t>creately.com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38375" y="5339357"/>
            <a:ext cx="4941093" cy="1980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44403C"/>
                </a:solidFill>
                <a:latin typeface="Nunito"/>
              </a:rPr>
              <a:t>https://cms.boardmix.com/images/articles/mesh-network-topology.png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38375" y="5585073"/>
            <a:ext cx="1893093" cy="2437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4403C"/>
                </a:solidFill>
                <a:latin typeface="Nuni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unito"/>
              </a:rPr>
              <a:t>boardmix.com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38375" y="6124128"/>
            <a:ext cx="5786437" cy="1980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44403C"/>
                </a:solidFill>
                <a:latin typeface="Nunito"/>
              </a:rPr>
              <a:t>https://www.hello-signal.com/wp-content/uploads/2025/08/Fiber-vs-Ethernet.jpg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38375" y="6369843"/>
            <a:ext cx="2631281" cy="2437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4403C"/>
                </a:solidFill>
                <a:latin typeface="Nuni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unito"/>
              </a:rPr>
              <a:t>www.hello-signal.com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43000" y="1143000"/>
            <a:ext cx="57150" cy="533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43000" y="2057400"/>
            <a:ext cx="9906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43000" y="2832645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3000" y="2832645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206823"/>
            <a:ext cx="857250" cy="476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991594"/>
            <a:ext cx="857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33500" y="1143000"/>
            <a:ext cx="108585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92524"/>
                </a:solidFill>
                <a:latin typeface="Lora"/>
              </a:rPr>
              <a:t>Image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8375" y="2200275"/>
            <a:ext cx="7584281" cy="1980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44403C"/>
                </a:solidFill>
                <a:latin typeface="Nunito"/>
              </a:rPr>
              <a:t>https://www.firewallflow.com/wp-content/uploads/2025/08/understanding-subnetting-cidr-and-vlsm.webp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38375" y="2445990"/>
            <a:ext cx="2619375" cy="2437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4403C"/>
                </a:solidFill>
                <a:latin typeface="Nuni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unito"/>
              </a:rPr>
              <a:t>www.firewallflow.com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38375" y="2985045"/>
            <a:ext cx="6584156" cy="1980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44403C"/>
                </a:solidFill>
                <a:latin typeface="Nunito"/>
              </a:rPr>
              <a:t>https://www.etulinktechnology.com/uploadfile/blog/f06677d978288dfccffdacca0d0cc990.jpg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38375" y="3230760"/>
            <a:ext cx="3131343" cy="2437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4403C"/>
                </a:solidFill>
                <a:latin typeface="Nuni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unito"/>
              </a:rPr>
              <a:t>www.etulinktechnology.com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3144</Words>
  <Application>Microsoft Office PowerPoint</Application>
  <PresentationFormat>Widescreen</PresentationFormat>
  <Paragraphs>474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Nunito</vt:lpstr>
      <vt:lpstr>Lora</vt:lpstr>
      <vt:lpstr>Arial</vt:lpstr>
      <vt:lpstr>Calibri</vt:lpstr>
      <vt:lpstr>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Asrul Abdullah</cp:lastModifiedBy>
  <cp:revision>3</cp:revision>
  <dcterms:created xsi:type="dcterms:W3CDTF">2013-01-27T09:14:16Z</dcterms:created>
  <dcterms:modified xsi:type="dcterms:W3CDTF">2026-09-21T03:52:07Z</dcterms:modified>
  <cp:category/>
</cp:coreProperties>
</file>