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</ns0:sldIdLst>
  <ns0:sldSz cx="12192000" cy="6858000" type="screen4x3"/>
  <ns0:notesSz cx="6858000" cy="9144000"/>
  <ns0:embeddedFontLst>
    <ns0:embeddedFont>
      <ns0:font typeface="Inter"/>
      <ns0:bold ns1:id="rIdFont49"/>
      <ns0:italic ns1:id="rIdFont50"/>
      <ns0:regular ns1:id="rIdFont51"/>
    </ns0:embeddedFont>
    <ns0:embeddedFont>
      <ns0:font typeface="Urbanist"/>
      <ns0:bold ns1:id="rIdFont5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48" Type="http://schemas.openxmlformats.org/officeDocument/2006/relationships/slide" Target="slides/slide42.xml" /><ns0:Relationship Id="rIdFont49" Type="http://schemas.openxmlformats.org/officeDocument/2006/relationships/font" Target="fonts/da3d2fde-7d85-4933-adf9-9dd7fecd144a.fntdata" /><ns0:Relationship Id="rIdFont50" Type="http://schemas.openxmlformats.org/officeDocument/2006/relationships/font" Target="fonts/79a9787b-f53b-444b-a33d-863701379498.fntdata" /><ns0:Relationship Id="rIdFont51" Type="http://schemas.openxmlformats.org/officeDocument/2006/relationships/font" Target="fonts/a43d5413-897c-44f9-9059-a960e9a927b6.fntdata" /><ns0:Relationship Id="rIdFont52" Type="http://schemas.openxmlformats.org/officeDocument/2006/relationships/font" Target="fonts/a0bf2c67-f732-4062-9d4a-0a5b99021f3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96" y="2429023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Urbanist"/>
              </a:rPr>
              <a:t>Jaringan Komputer </a:t>
            </a:r>
            <a:r>
              <a:rPr b="1" sz="5400" i="0" u="none">
                <a:solidFill>
                  <a:srgbClr val="06B6D4"/>
                </a:solidFill>
                <a:latin typeface="Urbanist"/>
              </a:rPr>
              <a:t>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7" y="3469034"/>
            <a:ext cx="1071562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Memahami Konsep Komunikasi Data, Model OSI &amp; TCP/IP, serta Pengalamatan IP (IPv4) &amp; Subnetting (VLSM)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436614"/>
            <a:ext cx="3492549" cy="2870596"/>
          </a:xfrm>
          <a:prstGeom prst="roundRect">
            <a:avLst>
              <a:gd name="adj" fmla="val 530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436614"/>
            <a:ext cx="3492549" cy="2870596"/>
          </a:xfrm>
          <a:prstGeom prst="roundRect">
            <a:avLst>
              <a:gd name="adj" fmla="val 530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436614"/>
            <a:ext cx="3492549" cy="2870596"/>
          </a:xfrm>
          <a:prstGeom prst="roundRect">
            <a:avLst>
              <a:gd name="adj" fmla="val 530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79514"/>
            <a:ext cx="79057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779514"/>
            <a:ext cx="733425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779514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922389"/>
            <a:ext cx="50482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922389"/>
            <a:ext cx="447675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922389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Agenda Pembelajaran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439"/>
            <a:ext cx="119014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Bagian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84464"/>
            <a:ext cx="2901999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Konsep Komunikasi Data &amp; Topologi Jaringan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703439"/>
            <a:ext cx="12501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Bagian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4284464"/>
            <a:ext cx="2901999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Model Referensi OSI 7 Layer &amp; DoD (TCP/IP)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703439"/>
            <a:ext cx="123015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Bagian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4284464"/>
            <a:ext cx="2901999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Pengalamatan IP (IPv4) &amp; Konsep Subnetting (VLSM)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206079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9124" y="2548979"/>
            <a:ext cx="10013751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Urbanist"/>
              </a:rPr>
              <a:t>Bagian 1:</a:t>
            </a:r>
            <a:r>
              <a:t>
</a:t>
            </a:r>
            <a:r>
              <a:rPr b="1" sz="4800" i="0" u="none">
                <a:solidFill>
                  <a:srgbClr val="06B6D4"/>
                </a:solidFill>
                <a:latin typeface="Urbanist"/>
              </a:rPr>
              <a:t>Komunikasi Data &amp; Topologi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206329"/>
            <a:ext cx="9525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Memahami dasar perpindahan data dan struktur rancangan fisik jaringan komputer.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Definisi Komunikasi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468" y="2561332"/>
            <a:ext cx="10787062" cy="224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b="1" sz="3150" i="0" u="none">
                <a:solidFill>
                  <a:srgbClr val="F8FAFC"/>
                </a:solidFill>
                <a:latin typeface="Urbanist"/>
              </a:rPr>
              <a:t>Proses pertukaran data atau informasi di antara dua atau lebih perangkat komputasi melalui media transmisi tertentu secara terstruktur.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675" y="2942332"/>
            <a:ext cx="542032" cy="1314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9000" i="0" u="none">
                <a:solidFill>
                  <a:srgbClr val="06B6D4"/>
                </a:solidFill>
                <a:latin typeface="sans-serif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295" y="4801497"/>
            <a:ext cx="542032" cy="1314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9000" i="0" u="none">
                <a:solidFill>
                  <a:srgbClr val="06B6D4"/>
                </a:solidFill>
                <a:latin typeface="sans-serif"/>
              </a:rPr>
              <a:t>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22885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77177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314700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857625"/>
            <a:ext cx="2857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705350"/>
            <a:ext cx="2857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5 Komponen Utama Komunikasi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2209800"/>
            <a:ext cx="104298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Pengirim (Sender):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Perangkat yang mengirimkan data atau pesan (cth: Komputer, Smartphone).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2752725"/>
            <a:ext cx="104298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Penerima (Receiver):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Perangkat yang menerima data atau pesan.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3295650"/>
            <a:ext cx="104298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Pesan (Message):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Informasi atau data yang dikomunikasikan (cth: Teks, Angka, Gambar, Audio).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125" y="3838575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Media Transmisi (Medium):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Jalur fisik tempat pesan berjalan dari pengirim ke penerima (cth: Kabel Tembaga, Fiber Optik, Gelombang Radio).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2125" y="4686300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Protokol (Protocol):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Himpunan aturan yang mengatur komunikasi data agar kedua pihak dapat saling mengerti.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1072"/>
            <a:ext cx="63817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1072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1072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3947"/>
            <a:ext cx="35242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3947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3947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Mode Transmisi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4997"/>
            <a:ext cx="119014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Simplex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Komunikasi satu arah. Satu perangkat hanya bertindak sebagai pengirim, dan yang lain hanya penerima. </a:t>
            </a:r>
            <a:r>
              <a:rPr b="0" sz="1275" i="1" u="none">
                <a:solidFill>
                  <a:srgbClr val="CBD5E1"/>
                </a:solidFill>
                <a:latin typeface="Inter"/>
              </a:rPr>
              <a:t>Contoh: Siaran Televisi, Radio.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4997"/>
            <a:ext cx="163770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Half-Duplex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896022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Komunikasi dua arah, tetapi secara bergantian. Tidak bisa mengirim dan menerima di saat bersamaan. </a:t>
            </a:r>
            <a:r>
              <a:rPr b="0" sz="1275" i="1" u="none">
                <a:solidFill>
                  <a:srgbClr val="CBD5E1"/>
                </a:solidFill>
                <a:latin typeface="Inter"/>
              </a:rPr>
              <a:t>Contoh: Walkie-Talkie (HT).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4997"/>
            <a:ext cx="152519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Full-Duplex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Komunikasi dua arah secara bersamaan. Pengirim dan penerima dapat mengirim dan menerima data di waktu yang sama. </a:t>
            </a:r>
            <a:r>
              <a:rPr b="0" sz="1275" i="1" u="none">
                <a:solidFill>
                  <a:srgbClr val="CBD5E1"/>
                </a:solidFill>
                <a:latin typeface="Inter"/>
              </a:rPr>
              <a:t>Contoh: Telepon genggam.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1072"/>
            <a:ext cx="79057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1072"/>
            <a:ext cx="790575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1072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3947"/>
            <a:ext cx="50482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3947"/>
            <a:ext cx="504825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3947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Klasifikasi Jaringan (Geografis)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4997"/>
            <a:ext cx="231278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LAN (Local Area)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Jaringan yang mencakup area geografis yang kecil, seperti satu gedung, kantor, atau rumah. Kecepatan transfer data sangat tinggi.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4997"/>
            <a:ext cx="346293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MAN (Metropolitan Area)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Jaringan yang mencakup area yang lebih luas dari LAN, biasanya menghubungkan beberapa lokasi di dalam satu kota atau wilayah metropolitan.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4997"/>
            <a:ext cx="238779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WAN (Wide Area)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Jaringan yang mencakup area geografis yang sangat luas, meliputi antar kota, negara, hingga benua. Internet adalah contoh WAN terbesar.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6938367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Topologi Jaringan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71762"/>
            <a:ext cx="53816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Topologi Jaringan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adalah cara atau struktur yang digunakan untuk menghubungkan berbagai perangkat komputer di dalam sebuah jaringan, baik secara fisik maupun logis.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19562"/>
            <a:ext cx="5381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Pemilihan topologi sangat berpengaruh pada kecepatan, keandalan, skalabilitas, dan biaya yang dibutuhkan untuk membangun sebuah infrastruktur jaringan.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66912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76437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1. Topologi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9669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966912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Semua node (komputer/perangkat) dihubungkan ke sebuah kabel utama (backbone).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7193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719387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Ujung-ujung kabel utama harus ditutup dengan </a:t>
            </a:r>
            <a:r>
              <a:rPr b="0" sz="1500" i="1" u="none">
                <a:solidFill>
                  <a:srgbClr val="CBD5E1"/>
                </a:solidFill>
                <a:latin typeface="Inter"/>
              </a:rPr>
              <a:t>Terminator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4718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71862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Kelebihan: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Hemat kabel, sangat sederhana, mudah dipasang, dan murah.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42243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224337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Kekurangan: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Jika kabel utama (backbone) putus atau rusak, maka seluruh jaringan akan mati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49768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976812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Sering terjadi tabrakan data (collision) karena menggunakan media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85925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695450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2. Topologi Star (Bintang)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6859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685925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Semua node terhubung ke satu perangkat pusat, biasanya berupa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Switch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atau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Hub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384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438400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Perangkat pusat bertindak sebagai pengatur dan pengendali arus komunikasi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19087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190875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Kelebihan: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Jika salah satu kabel node putus, node lain tidak akan terpengaruh. Sangat mudah mendeteksi kerusakan.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424815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248150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Kekurangan: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Jika perangkat pusat (Switch) rusak, maka seluruh jaringan akan lumpuh. Biaya lebih mahal dari Bus karena butuh Switch.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53054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305425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Topologi ini adalah yang paling umum digunakan saat ini (contoh: di kantor, warnet).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09762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19287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3. Topologi Ring (Cincin)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9097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909762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Setiap node terhubung secara seri satu sama lain, membentuk sebuah loop atau cincin tertutup.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6622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62237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Data mengalir dalam satu arah melewati setiap node hingga mencapai tujuan (menggunakan konsep </a:t>
            </a:r>
            <a:r>
              <a:rPr b="0" sz="1500" i="1" u="none">
                <a:solidFill>
                  <a:srgbClr val="CBD5E1"/>
                </a:solidFill>
                <a:latin typeface="Inter"/>
              </a:rPr>
              <a:t>Token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7195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719512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Kelebihan: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Tidak ada tabrakan data (collision) karena data mengalir searah. Performa lebih stabil dalam trafik tinggi.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47767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776787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Kekurangan: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Jika satu node atau kabel putus, maka komunikasi seluruh jaringan bisa terganggu (pada </a:t>
            </a:r>
            <a:r>
              <a:rPr b="0" sz="1500" i="1" u="none">
                <a:solidFill>
                  <a:srgbClr val="CBD5E1"/>
                </a:solidFill>
                <a:latin typeface="Inter"/>
              </a:rPr>
              <a:t>single ring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66912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76437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4. Topologi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9669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966912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Setiap node dalam jaringan terhubung secara langsung ke setiap node lainnya secara </a:t>
            </a:r>
            <a:r>
              <a:rPr b="0" sz="1500" i="1" u="none">
                <a:solidFill>
                  <a:srgbClr val="CBD5E1"/>
                </a:solidFill>
                <a:latin typeface="Inter"/>
              </a:rPr>
              <a:t>dedicated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(Full Mesh).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30241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024187"/>
            <a:ext cx="5095875" cy="12192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Kelebihan: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Toleransi kesalahan (Fault Tolerance) yang sangat tinggi. Jika satu kabel putus, data bisa mencari jalur lain (redundansi). Privasi terjamin karena jalur khusus.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43862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386262"/>
            <a:ext cx="5095875" cy="12192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Kekurangan: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Biaya instalasi sangat mahal (membutuhkan jumlah kabel dan port NIC yang sangat banyak). Konfigurasi sangat rumit jika node bertambah banyak.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206079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1625" y="2548979"/>
            <a:ext cx="9988748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Urbanist"/>
              </a:rPr>
              <a:t>Bagian 2:</a:t>
            </a:r>
            <a:r>
              <a:t>
</a:t>
            </a:r>
            <a:r>
              <a:rPr b="1" sz="4800" i="0" u="none">
                <a:solidFill>
                  <a:srgbClr val="06B6D4"/>
                </a:solidFill>
                <a:latin typeface="Urbanist"/>
              </a:rPr>
              <a:t>Model OSI 7 Layer &amp; 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206329"/>
            <a:ext cx="9525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Kerangka kerja standar untuk memahami interaksi antar protokol dalam komunikasi jaringan.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918692"/>
            <a:ext cx="3492549" cy="3906440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1918692"/>
            <a:ext cx="3492549" cy="3906440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1918692"/>
            <a:ext cx="3492549" cy="3906440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61592"/>
            <a:ext cx="7334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261592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261592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404467"/>
            <a:ext cx="44767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404467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404467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Apa itu Model OSI?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5517"/>
            <a:ext cx="182522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Konsep Dasar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66542"/>
            <a:ext cx="2901999" cy="1553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OSI (Open Systems Interconnection)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adalah model referensi abstrak yang diciptakan oleh ISO (International Organization for Standardization) pada tahun 1984.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185517"/>
            <a:ext cx="232529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7 Lapisan (Layer)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766542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Membagi proses komunikasi jaringan yang kompleks menjadi 7 lapisan yang lebih kecil, sederhana, dan memiliki fungsi spesifik.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185517"/>
            <a:ext cx="26753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Tujuan Standarisasi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76654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Memastikan perangkat keras dan perangkat lunak dari berbagai vendor (pabrikan) yang berbeda dapat saling berkomunikasi tanpa hambatan.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743075"/>
            <a:ext cx="5238750" cy="4257675"/>
          </a:xfrm>
          <a:prstGeom prst="roundRect">
            <a:avLst>
              <a:gd name="adj" fmla="val 357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743075"/>
            <a:ext cx="5238750" cy="4257675"/>
          </a:xfrm>
          <a:prstGeom prst="roundRect">
            <a:avLst>
              <a:gd name="adj" fmla="val 357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Upper Layers (Host Layers)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133600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Urbanist"/>
              </a:rPr>
              <a:t>Layer 7:</a:t>
            </a:r>
            <a:r>
              <a:rPr b="1" sz="2100" i="0" u="none">
                <a:solidFill>
                  <a:srgbClr val="38BDF8"/>
                </a:solidFill>
                <a:latin typeface="Urbanist"/>
              </a:rPr>
              <a:t>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33600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Urbanist"/>
              </a:rPr>
              <a:t>Layer 6:</a:t>
            </a:r>
            <a:r>
              <a:rPr b="1" sz="2100" i="0" u="none">
                <a:solidFill>
                  <a:srgbClr val="38BDF8"/>
                </a:solidFill>
                <a:latin typeface="Urbanist"/>
              </a:rPr>
              <a:t>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6003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600325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Menyediakan interface antara aplikasi (user) dengan layanan jaringan.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3528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35280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Lapisan yang paling dekat dengan pengguna akhir.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10527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105275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Menyediakan layanan seperti pertukaran email, browsing web, dan transfer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85775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85775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Protokol: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HTTP, HTTPS, FTP, SMTP, DNS, DHCP.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26003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600325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Bertanggung jawab untuk Translasi, Enkripsi, dan Kompresi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33528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35280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Memastikan data yang dikirim oleh L7 sebuah sistem dapat dibaca oleh L7 sistem penerima.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410527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4105275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Menerjemahkan format karakter (misal: EBCDIC ke ASCII).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625" y="485775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485775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Format/Protokol: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JPEG, MPEG, ASCII, SSL, TLS.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590675"/>
            <a:ext cx="5238750" cy="4562475"/>
          </a:xfrm>
          <a:prstGeom prst="roundRect">
            <a:avLst>
              <a:gd name="adj" fmla="val 334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590675"/>
            <a:ext cx="5238750" cy="4562475"/>
          </a:xfrm>
          <a:prstGeom prst="roundRect">
            <a:avLst>
              <a:gd name="adj" fmla="val 334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Middle Layers (Connection &amp; Transport)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1981200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Urbanist"/>
              </a:rPr>
              <a:t>Layer 5:</a:t>
            </a:r>
            <a:r>
              <a:rPr b="1" sz="2100" i="0" u="none">
                <a:solidFill>
                  <a:srgbClr val="38BDF8"/>
                </a:solidFill>
                <a:latin typeface="Urbanist"/>
              </a:rPr>
              <a:t>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1981200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Urbanist"/>
              </a:rPr>
              <a:t>Layer 4:</a:t>
            </a:r>
            <a:r>
              <a:rPr b="1" sz="2100" i="0" u="none">
                <a:solidFill>
                  <a:srgbClr val="38BDF8"/>
                </a:solidFill>
                <a:latin typeface="Urbanist"/>
              </a:rPr>
              <a:t>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4479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447925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Membangun, memelihara, dan mengakhiri sesi komunikasi antar aplikasi.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2004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20040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Mengelola dialog control (simplex, half-duplex, full-duplex).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95287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952875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Menyediakan sinkronisasi (checkpoint) agar saat transmisi gagal, tidak perlu mengulang dari awal.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501015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5010150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Protokol: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NetBIOS, RPC, PPTP.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24479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447925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Segmentasi data dari layer atas, dan menyusunnya kembali (Reassembly) di sisi penerima.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35052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50520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Menentukan mekanisme pengiriman yang handal (TCP) atau cepat (UDP).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425767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4257675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Menggunakan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Port Number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untuk membedakan layanan antar aplikasi.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625" y="501015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5010150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Protokol: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TCP (Transmission Control Protocol), UDP.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519237"/>
            <a:ext cx="5238750" cy="4705350"/>
          </a:xfrm>
          <a:prstGeom prst="roundRect">
            <a:avLst>
              <a:gd name="adj" fmla="val 323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519237"/>
            <a:ext cx="5238750" cy="4705350"/>
          </a:xfrm>
          <a:prstGeom prst="roundRect">
            <a:avLst>
              <a:gd name="adj" fmla="val 323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Lower Layers (Media Layers)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1909762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Urbanist"/>
              </a:rPr>
              <a:t>Layer 3:</a:t>
            </a:r>
            <a:r>
              <a:rPr b="1" sz="2100" i="0" u="none">
                <a:solidFill>
                  <a:srgbClr val="38BDF8"/>
                </a:solidFill>
                <a:latin typeface="Urbanist"/>
              </a:rPr>
              <a:t>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1909762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Urbanist"/>
              </a:rPr>
              <a:t>Layer 2:</a:t>
            </a:r>
            <a:r>
              <a:rPr b="1" sz="2100" i="0" u="none">
                <a:solidFill>
                  <a:srgbClr val="38BDF8"/>
                </a:solidFill>
                <a:latin typeface="Urbanist"/>
              </a:rPr>
              <a:t> Data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3764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7648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Bertanggung jawab atas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Routing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(menentukan jalur terbaik).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1289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12896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Menyediakan pengalamatan logis (Logical Addressing).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8814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88143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Meneruskan paket antar jaringan (network) yang berbeda.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6339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63391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Protokol: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IPv4, IPv6, ICMP, IPSec, OSPF.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53863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5386387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PDU (Protocol Data Unit):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Packet.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23764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237648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Menyediakan pengalamatan fisik (MAC Address).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31289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312896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Melakukan Error Detection (mendeteksi error pada transmisi node-ke-node) via FCS.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625" y="38814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388143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Mengatur akses ke media (CSMA/CD).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43291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400" y="432911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Protokol/Standar: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Ethernet (802.3), Wi-Fi (802.11), PPP.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5625" y="50815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400" y="508158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PDU: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Frame.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38325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47850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Layer 1: Physical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8383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838325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Lapisan terbawah yang berhubungan langsung dengan perangkat keras jaringan.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5908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90800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Bertanggung jawab mentransmisikan bit-bit mentah (1 dan 0) melalui media transmisi.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34327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343275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Mengubah data digital menjadi sinyal (elektrik untuk tembaga, cahaya untuk fiber optik, atau gelombang radio untuk nirkabel).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440055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400550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Mendefinisikan spesifikasi kelistrikan, mekanik, pin-layout, voltase.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51530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153025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Contoh Perangkat/Media: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Kabel UTP/STP, Fiber Optic, Hub, Repeater.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307133"/>
            <a:ext cx="5381625" cy="3129557"/>
          </a:xfrm>
          <a:prstGeom prst="roundRect">
            <a:avLst>
              <a:gd name="adj" fmla="val 486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38875" y="2307133"/>
            <a:ext cx="5381625" cy="3129557"/>
          </a:xfrm>
          <a:prstGeom prst="roundRect">
            <a:avLst>
              <a:gd name="adj" fmla="val 486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0033"/>
            <a:ext cx="790575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650033"/>
            <a:ext cx="7334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792908"/>
            <a:ext cx="504825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792908"/>
            <a:ext cx="44767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Model DoD (TCP/IP 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73958"/>
            <a:ext cx="236279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Standar Praktikal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54983"/>
            <a:ext cx="47910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Dikembangkan oleh US Department of Defense (DoD). Ini adalah model protokol nyata yang menjalankan internet secara global (standar de facto).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573958"/>
            <a:ext cx="228778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4 Lapisan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154983"/>
            <a:ext cx="47910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Lebih sederhana dari OSI. Terdiri dari 4 layer: Application, Transport, Internet, dan Network Access (Link).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52425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1895475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35398" y="189547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51" y="189547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56303" y="1895475"/>
            <a:ext cx="165467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552700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35398" y="2552700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51" y="3867150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56303" y="3867150"/>
            <a:ext cx="165467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209925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398" y="320992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867150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35398" y="3867150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524375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35398" y="452437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51" y="452437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56303" y="4524375"/>
            <a:ext cx="165467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025" y="5181600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35398" y="5181600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851" y="5181600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56303" y="5181600"/>
            <a:ext cx="165467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025" y="5838825"/>
            <a:ext cx="16543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35398" y="583882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5851" y="6486525"/>
            <a:ext cx="386045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56303" y="5838825"/>
            <a:ext cx="165467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71500" y="1238250"/>
          <a:ext cx="11029948" cy="52673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54373"/>
                <a:gridCol w="3860452"/>
                <a:gridCol w="3860452"/>
                <a:gridCol w="1654671"/>
              </a:tblGrid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OSI Layer No.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Model OSI (7 Layer)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Model TCP/IP (4 Layer)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PDU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Application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Application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Presentation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Session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Transport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Transport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Segment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Network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Internet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Packet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Data Link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Network Access / Link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65842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Physical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Bit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62000" y="352425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Perbandingan OSI vs TCP/IP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195512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432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90962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73868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Enkapsulasi &amp; Dekapsulasi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2176462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Enkapsulasi: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Proses penambahan Header (dan kadang Trailer) pada data di setiap layer saat bergerak dari layer atas (Application) ke layer bawah (Physical) di perangkat pengirim.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3024187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Data dibungkus layaknya surat yang dimasukkan ke dalam amplop, diberi alamat, lalu dimasukkan ke kotak pos.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3871912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Dekapsulasi: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Proses pelepasan Header saat paket data bergerak dari layer bawah (Physical) ke layer atas (Application) di perangkat penerima.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4719637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Proses ini menjamin informasi ditujukan dengan benar, tidak rusak, dan diserahkan ke aplikasi yang tepat.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388840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64221" y="2731740"/>
            <a:ext cx="8463557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Urbanist"/>
              </a:rPr>
              <a:t>Bagian 3:</a:t>
            </a:r>
            <a:r>
              <a:t>
</a:t>
            </a:r>
            <a:r>
              <a:rPr b="1" sz="4800" i="0" u="none">
                <a:solidFill>
                  <a:srgbClr val="06B6D4"/>
                </a:solidFill>
                <a:latin typeface="Urbanist"/>
              </a:rPr>
              <a:t>Pengalamatan IP (IPv4)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0203" y="4389090"/>
            <a:ext cx="5131593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Identitas Logis dalam Jaringan TCP/IP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Apa itu IP Address (IPv4)?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468" y="2658516"/>
            <a:ext cx="10787062" cy="168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b="1" sz="3150" i="0" u="none">
                <a:solidFill>
                  <a:srgbClr val="F8FAFC"/>
                </a:solidFill>
                <a:latin typeface="Urbanist"/>
              </a:rPr>
              <a:t>Deretan angka biner 32-bit yang mengidentifikasi secara unik sebuah host (perangkat) di dalam jaringan TCP/IP.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5468" y="4757737"/>
            <a:ext cx="85010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6B6D4"/>
                </a:solidFill>
                <a:latin typeface="Inter"/>
              </a:rPr>
              <a:t>IPv4 direpresentasikan dalam 4 bagian oktet (desimal bertitik).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9675" y="3039516"/>
            <a:ext cx="542032" cy="1314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9000" i="0" u="none">
                <a:solidFill>
                  <a:srgbClr val="06B6D4"/>
                </a:solidFill>
                <a:latin typeface="sans-serif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295" y="4338641"/>
            <a:ext cx="542032" cy="1314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9000" i="0" u="none">
                <a:solidFill>
                  <a:srgbClr val="06B6D4"/>
                </a:solidFill>
                <a:latin typeface="sans-serif"/>
              </a:rPr>
              <a:t>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526827"/>
            <a:ext cx="5238750" cy="381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526827"/>
            <a:ext cx="5238750" cy="381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Struktur IPv4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5622577"/>
            <a:ext cx="2667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1" sz="1800" i="0" u="none">
                <a:solidFill>
                  <a:srgbClr val="06B6D4"/>
                </a:solidFill>
                <a:latin typeface="Inter"/>
              </a:rPr>
              <a:t>Contoh: 192.168.1.5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1917352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Network ID (Net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1917352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Host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38407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38407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Bagian dari IP address yang menunjukkan di jaringan mana host tersebut berada.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13655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13655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Analogi: Merupakan nama jalan atau nama komplek perumahan.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88902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889027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Semua perangkat dalam satu jaringan lokal harus memiliki Network ID yang SAMA agar bisa langsung berkomunikasi tanpa Router.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5625" y="238407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2384077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Bagian dari IP address yang mengidentifikasi secara spesifik host (komputer, printer, router) di dalam jaringan tersebut.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344135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344135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Analogi: Merupakan nomor rumah di jalan tersebut.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419382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419382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Setiap perangkat dalam satu jaringan yang sama harus memiliki Host ID yang BERBEDA.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005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47900"/>
            <a:ext cx="11327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13755" y="2247900"/>
            <a:ext cx="22638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7580" y="2247900"/>
            <a:ext cx="18040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81675" y="2247900"/>
            <a:ext cx="2238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20496" y="2247900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209925"/>
            <a:ext cx="11327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3755" y="3209925"/>
            <a:ext cx="22638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580" y="3209925"/>
            <a:ext cx="18040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81675" y="3209925"/>
            <a:ext cx="2238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0496" y="3209925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867150"/>
            <a:ext cx="11327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3755" y="3867150"/>
            <a:ext cx="22638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580" y="3867150"/>
            <a:ext cx="18040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81675" y="3867150"/>
            <a:ext cx="2238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0496" y="3867150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4829175"/>
            <a:ext cx="11327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3755" y="4829175"/>
            <a:ext cx="22638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580" y="4829175"/>
            <a:ext cx="18040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81675" y="4829175"/>
            <a:ext cx="2238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0496" y="4829175"/>
            <a:ext cx="35904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025" y="5791200"/>
            <a:ext cx="11327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3755" y="5791200"/>
            <a:ext cx="22638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580" y="5791200"/>
            <a:ext cx="76333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1500" y="1285875"/>
          <a:ext cx="11029947" cy="5172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32730"/>
                <a:gridCol w="2263824"/>
                <a:gridCol w="1804094"/>
                <a:gridCol w="2238821"/>
                <a:gridCol w="3590478"/>
              </a:tblGrid>
              <a:tr h="86201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Kelas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Range Oktet Pertama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Struktur Format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Default Subnet Mask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Kapasitas Host / Jaringan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6201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Kelas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1 - 126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N</a:t>
                      </a:r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.H.H.H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255.0.0.0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16.777.214 Host (Sangat Besar)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6201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Kelas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128 - 191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N.N</a:t>
                      </a:r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.H.H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255.255.0.0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65.534 Host (Menengah)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86201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Kelas 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192 - 223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N.N.N</a:t>
                      </a:r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.H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254 Host (Kecil - Umum digunakan)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6201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Kelas 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224 - 239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Digunakan untuk Multicasting (Tidak memiliki subnet)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201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Kelas 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240 - 255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Digunakan untuk Eksperimen &amp; Penelitian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62000" y="40005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Kelas IP Address (IPv4)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966912"/>
            <a:ext cx="5238750" cy="381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966912"/>
            <a:ext cx="5238750" cy="3810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38601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2386012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IP Public vs IP Private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357437"/>
            <a:ext cx="5850731" cy="32385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IP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2357437"/>
            <a:ext cx="5419725" cy="323850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IP 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8241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282416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Dapat diakses langsung dari seluruh penjuru Internet (routable).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5766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57663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Sifatnya unik secara global, tidak ada yang sama di dunia.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3291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32911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Berbayar dan dialokasikan oleh ISP &amp; lembaga IANA (Internet Assigned Numbers Authority).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28241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824162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Hanya digunakan di dalam jaringan lokal (LAN) dan tidak dapat dirouting langsung ke Internet.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38814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88143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Gratis, bisa digunakan oleh siapa saja, asal tidak bentrok di jaringan lokal yang sama.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46339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4633912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Butuh mekanisme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NAT (Network Address Translation)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untuk mengakses Internet.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Batas Kapasitas IPv4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4765" y="2190750"/>
            <a:ext cx="2512218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6B6D4"/>
                </a:solidFill>
                <a:latin typeface="Urbanist"/>
              </a:rP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765" y="3857625"/>
            <a:ext cx="4036218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Inter"/>
              </a:rPr>
              <a:t>Milyar Alamat (Maksimal)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190750"/>
            <a:ext cx="5810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IPv4 Exhaustion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847975"/>
            <a:ext cx="5334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Kapasitas total IPv4 adalah 2 pangkat 32 (sekitar 4.29 miliar). Dengan pertumbuhan perangkat IoT, smartphone, dan internet saat ini, blok alamat IPv4 publik telah habis (exhausted) di berbagai regional alokasi.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4448175"/>
            <a:ext cx="533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Hal ini memicu lahirnya teknik penghematan seperti Subnetting, penggunaan IP Private dengan NAT, hingga migrasi ke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IPv6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(dengan panjang 128-bit).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206079"/>
            <a:ext cx="1143000" cy="571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08051" y="2548979"/>
            <a:ext cx="7175896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Urbanist"/>
              </a:rPr>
              <a:t>Bagian 4:</a:t>
            </a:r>
            <a:r>
              <a:t>
</a:t>
            </a:r>
            <a:r>
              <a:rPr b="1" sz="4800" i="0" u="none">
                <a:solidFill>
                  <a:srgbClr val="06B6D4"/>
                </a:solidFill>
                <a:latin typeface="Urbanist"/>
              </a:rPr>
              <a:t>Subnetting &amp; VLSM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206329"/>
            <a:ext cx="9525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Memecah Jaringan Besar Menjadi Jaringan-Jaringan Kecil yang Efisien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33525"/>
            <a:ext cx="523875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543050"/>
            <a:ext cx="521970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Apa itu Subnetting?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5335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533525"/>
            <a:ext cx="509587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Teknik untuk memecah sebuah network besar (kelas A, B, atau C) menjadi beberapa sub-network (subnet) yang lebih kecil.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5908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90800"/>
            <a:ext cx="5095875" cy="272415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Tujuan Subnetting: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545782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5457825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Subnetting dilakukan dengan "meminjam" bit Host ID dan mengubahnya menjadi bit Network 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895600"/>
            <a:ext cx="114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895600"/>
            <a:ext cx="4714875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Efisiensi IP Address: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Mengurangi pemborosan alokasi IP (IP terbuang sia-sia).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648075"/>
            <a:ext cx="114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648075"/>
            <a:ext cx="4714875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Mengurangi Broadcast Traffic: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Domain broadcast menjadi lebih kecil, mengurangi beban jaringan.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4400550"/>
            <a:ext cx="1143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4400550"/>
            <a:ext cx="4714875" cy="914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Keamanan: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Memisahkan lalu lintas antar departemen (Misal: LAN HRD terpisah dari LAN tamu).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195512"/>
            <a:ext cx="25717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348037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90962"/>
            <a:ext cx="2857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738687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Subnet Mask &amp; CIDR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2176462"/>
            <a:ext cx="9191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Subnet Mask: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Angka 32-bit yang digunakan komputer untuk mengetahui batas mana yang merupakan Network ID dan mana Host ID. Angka '1' biner menandakan Network, '0' menandakan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3328987"/>
            <a:ext cx="104298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Subnet Mask default kelas C adalah 255.255.255.0 (Biner: 11111111.11111111.11111111.00000000).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2125" y="3871912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CIDR (Classless Inter-Domain Routing):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Representasi notasi singkat dari Subnet Mask menggunakan tanda slash (/).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125" y="4719637"/>
            <a:ext cx="919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CIDR merepresentasikan jumlah bit '1' pada Subnet Mask. Contoh: 255.255.255.0 ditulis sebagai </a:t>
            </a:r>
            <a:r>
              <a:rPr b="1" sz="1500" i="0" u="none">
                <a:solidFill>
                  <a:srgbClr val="F8FAFC"/>
                </a:solidFill>
                <a:latin typeface="Inter"/>
              </a:rPr>
              <a:t>/24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652587"/>
            <a:ext cx="5238750" cy="4438650"/>
          </a:xfrm>
          <a:prstGeom prst="roundRect">
            <a:avLst>
              <a:gd name="adj" fmla="val 34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652587"/>
            <a:ext cx="5238750" cy="4438650"/>
          </a:xfrm>
          <a:prstGeom prst="roundRect">
            <a:avLst>
              <a:gd name="adj" fmla="val 34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FLSM vs VLSM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043112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FLSM (Fixed Length Subnet Mask)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043112"/>
            <a:ext cx="4780597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VLSM (Variable Length Subnet Mask)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5098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509837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Cara lama/tradisional (Classful routing).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9575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2957512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Semua subnet yang dibagi akan memiliki ukuran blok IP (jumlah host maksimal) yang SAMA.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0147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014787"/>
            <a:ext cx="4314825" cy="15240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Kekurangan: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Pemborosan IP yang besar. Misal, jika butuh subnet untuk sambungan Point-to-Point router (cukup 2 IP), FLSM mungkin tetap mengalokasikan 30 IP (terbuang 28 IP).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28336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283368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Cara modern (Classless routing).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32813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281362"/>
            <a:ext cx="4314825" cy="12192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Memungkinkan administrator membuat subnet dengan ukuran yang BERBEDA-BEDA sesuai kebutuhan aktual setiap ruangan/departemen.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5625" y="46434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4643437"/>
            <a:ext cx="4314825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Kelebihan: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Penggunaan IP Address sangat efisien, hemat, dan mencegah kelangkaan IPv4 di jaringan lokal.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048172"/>
            <a:ext cx="3492549" cy="3647479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1072"/>
            <a:ext cx="7334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699" y="2391072"/>
            <a:ext cx="59055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99" y="2391072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33947"/>
            <a:ext cx="447675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574" y="2533947"/>
            <a:ext cx="30480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74" y="2533947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Langkah-Langkah Menghitung VLSM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4997"/>
            <a:ext cx="282535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1. Urutkan Kebutuhan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Kumpulkan semua kebutuhan host dari setiap jaringan/ruangan, kemudian </a:t>
            </a:r>
            <a:r>
              <a:rPr b="1" sz="1275" i="0" u="none">
                <a:solidFill>
                  <a:srgbClr val="CBD5E1"/>
                </a:solidFill>
                <a:latin typeface="Inter"/>
              </a:rPr>
              <a:t>urutkan dari kebutuhan host yang paling besar ke yang paling kecil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2699" y="3314997"/>
            <a:ext cx="291286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2. Hitung Blok Subnet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699" y="3896022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Tentukan CIDR (Prefix) yang paling pas untuk setiap kebutuhan berdasarkan rumus: 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2^y - 2 &gt;= Kebutuhan Host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. (y = jumlah bit host yang tersisa).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3314997"/>
            <a:ext cx="208776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3. Alokasikan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896022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Inter"/>
              </a:rPr>
              <a:t>Petakan blok Network ID, Range IP Host yang Valid, dan IP Broadcast secara berurutan mulai dari blok subnet terbesar.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52425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1895475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5533" y="1895475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53050" y="1895475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98296" y="1895475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552700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5533" y="2552700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53050" y="2552700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98296" y="2552700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209925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5533" y="3209925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53050" y="3209925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8296" y="3209925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3867150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5533" y="3867150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53050" y="3867150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8296" y="3867150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025" y="4524375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5533" y="4524375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53050" y="4524375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98296" y="4524375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025" y="5181600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05533" y="5181600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53050" y="5181600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98296" y="5181600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1025" y="5838825"/>
            <a:ext cx="20245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5533" y="5838825"/>
            <a:ext cx="27475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53050" y="5838825"/>
            <a:ext cx="244524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98296" y="5838825"/>
            <a:ext cx="3812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71500" y="1238250"/>
          <a:ext cx="11029948" cy="52673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4508"/>
                <a:gridCol w="2747516"/>
                <a:gridCol w="2445246"/>
                <a:gridCol w="3812678"/>
              </a:tblGrid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Notasi CIDR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Subnet Mask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Jumlah IP Total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Host Valid (IP Total - 2)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254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255.255.255.128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126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255.255.255.192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62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255.255.255.224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30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255.255.255.240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14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841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/29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255.255.255.248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658420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/30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255.255.255.252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 Host (Router to Router)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62000" y="352425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Tabel Bantuan CIDR (Khusus Blok Terakhir)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6938367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Studi Kasus VLSM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19287"/>
            <a:ext cx="538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Sebuah perusahaan memiliki Network Address: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192.168.10.0/24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(Kapasitas 254 Host).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757487"/>
            <a:ext cx="538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Mereka ingin membaginya ke dalam 3 jaringan (subnet) dengan kebutuhan sebagai berikut: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86337"/>
            <a:ext cx="5381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Jika menggunakan FLSM, jaringan tidak akan cukup. Kita wajib memecahnya dengan teknik VLSM.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35956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95687"/>
            <a:ext cx="6310312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Ruang Staff: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Butuh 60 PC/Host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40433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043362"/>
            <a:ext cx="6310312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Ruang Direksi: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Butuh 25 PC/Host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44910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91037"/>
            <a:ext cx="6310312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Koneksi Antar Router (R1 ke R2):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Butuh 2 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728787"/>
            <a:ext cx="5381625" cy="4286250"/>
          </a:xfrm>
          <a:prstGeom prst="roundRect">
            <a:avLst>
              <a:gd name="adj" fmla="val 355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38875" y="1728787"/>
            <a:ext cx="5381625" cy="4286250"/>
          </a:xfrm>
          <a:prstGeom prst="roundRect">
            <a:avLst>
              <a:gd name="adj" fmla="val 355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1687"/>
            <a:ext cx="485775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071687"/>
            <a:ext cx="542925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2214562"/>
            <a:ext cx="200025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214562"/>
            <a:ext cx="25717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Solusi VLSM: Langkah 1 &amp;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5612"/>
            <a:ext cx="258782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Urutkan Kebutuhan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995612"/>
            <a:ext cx="30753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Urbanist"/>
              </a:rPr>
              <a:t>Tentukan CIDR (Tabel)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4147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414712"/>
            <a:ext cx="4060031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Tertinggi: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Ruang Staff (60 Host)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38623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862387"/>
            <a:ext cx="4060031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Menengah: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Ruang Direksi (25 Host)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3100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310062"/>
            <a:ext cx="4060031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Terkecil: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Koneksi Router (2 Host)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34147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3414712"/>
            <a:ext cx="45529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Staff (60): Paling pas pakai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/26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(kapasitas 62 host valid). Blok IP: 64.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1671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4167187"/>
            <a:ext cx="45529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Direksi (25): Paling pas pakai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/27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(kapasitas 30 host valid). Blok IP: 32.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49196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4919662"/>
            <a:ext cx="45529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Router (2): Paling pas pakai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/30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(kapasitas 2 host valid). Blok IP: 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081212"/>
            <a:ext cx="5238750" cy="358140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2081212"/>
            <a:ext cx="5238750" cy="358140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Alokasi IP - Ruang Staff (Terbesar)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71737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Parameter Ruang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71737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Perhitungan Ruang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776787"/>
            <a:ext cx="54197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CBD5E1"/>
                </a:solidFill>
                <a:latin typeface="Inter"/>
              </a:rPr>
              <a:t>Blok berikutnya akan dimulai dari IP 192.168.10.64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9384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938462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Kebutuhan: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60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3861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386137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CIDR Terpilih: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/26 (Total 64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8338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833812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Subnet Mask: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255.255.255.192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2814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28148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Alokasi selalu dimulai dari angka Network paling awal (0).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29384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2938462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Network ID: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33861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38613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IP Pertama (Valid):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38338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833812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IP Terakhir (Valid):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625" y="42814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428148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Broadcast IP: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081212"/>
            <a:ext cx="5238750" cy="358140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2081212"/>
            <a:ext cx="5238750" cy="358140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Alokasi IP - Ruang Direksi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71737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Parameter Ruang Direksi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71737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Perhitungan Ruang Direksi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776787"/>
            <a:ext cx="54197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CBD5E1"/>
                </a:solidFill>
                <a:latin typeface="Inter"/>
              </a:rPr>
              <a:t>Blok berikutnya akan dimulai dari IP 192.168.10.96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9384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938462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Kebutuhan: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25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3861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386137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CIDR Terpilih: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/27 (Total 32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8338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833812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Subnet Mask: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255.255.255.224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2814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28148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Alokasi dilanjutkan dari sisa pemotongan blok Ruang Staff (yaitu 64).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29384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2938462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Network ID: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33861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38613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IP Pertama (Valid):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38338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833812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IP Terakhir (Valid):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625" y="42814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428148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Broadcast IP: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192.168.10.95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776412"/>
            <a:ext cx="5238750" cy="41910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750" y="1776412"/>
            <a:ext cx="5238750" cy="41910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Alokasi IP - Koneksi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166937"/>
            <a:ext cx="58507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Parameter Router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66937"/>
            <a:ext cx="5419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Urbanist"/>
              </a:rPr>
              <a:t>Perhitungan Router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471987"/>
            <a:ext cx="4552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CBD5E1"/>
                </a:solidFill>
                <a:latin typeface="Inter"/>
              </a:rPr>
              <a:t>Sisa IP address (192.168.10.100 s/d 255) belum terpakai dan bisa disimpan untuk pengembangan di masa depan!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6336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2633662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Kebutuhan: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2 Host (P2P)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0813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081337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CIDR Terpilih: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/30 (Total 4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5290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529012"/>
            <a:ext cx="5274468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Subnet Mask: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255.255.255.252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39766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3976687"/>
            <a:ext cx="43148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Alokasi dilanjutkan dari sisa pemotongan blok Ruang Direksi (yaitu 96).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263366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2633662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Network ID: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308133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308133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IP Pertama (Valid):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3529012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529012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IP Terakhir (Valid):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625" y="3976687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3976687"/>
            <a:ext cx="51816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Broadcast IP: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192.168.10.99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867025"/>
            <a:ext cx="18048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85863" y="2867025"/>
            <a:ext cx="13846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70560" y="2867025"/>
            <a:ext cx="24924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2985" y="2867025"/>
            <a:ext cx="16424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5452" y="2867025"/>
            <a:ext cx="20626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8061" y="2867025"/>
            <a:ext cx="1642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524250"/>
            <a:ext cx="18048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85863" y="3524250"/>
            <a:ext cx="13846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70560" y="3524250"/>
            <a:ext cx="24924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2985" y="3524250"/>
            <a:ext cx="16424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5452" y="3524250"/>
            <a:ext cx="20626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68061" y="3524250"/>
            <a:ext cx="1642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181475"/>
            <a:ext cx="180483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85863" y="4181475"/>
            <a:ext cx="13846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0560" y="4181475"/>
            <a:ext cx="249242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2985" y="4181475"/>
            <a:ext cx="16424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5452" y="4181475"/>
            <a:ext cx="206260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8061" y="4181475"/>
            <a:ext cx="1642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71500" y="2209800"/>
          <a:ext cx="11029946" cy="26384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04838"/>
                <a:gridCol w="1384696"/>
                <a:gridCol w="2492424"/>
                <a:gridCol w="1642467"/>
                <a:gridCol w="2062608"/>
                <a:gridCol w="1642913"/>
              </a:tblGrid>
              <a:tr h="65960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Lokasi Jaringan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Kebutuhan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Netmask (CIDR)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Network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Range IP Valid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6B6D4"/>
                          </a:solidFill>
                          <a:latin typeface="Urbanist"/>
                        </a:rPr>
                        <a:t>Broadcast 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Ruang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60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255.255.255.192 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(/26)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1 - 62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Ruang Direksi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255.255.255.224 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(/27)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65 - 94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E31"/>
                    </a:solidFill>
                  </a:tcPr>
                </a:tc>
              </a:tr>
              <a:tr h="659607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Router Link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255.255.255.252 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(/30)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96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97 - 98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CBD5E1"/>
                          </a:solidFill>
                          <a:latin typeface="Inter"/>
                        </a:rPr>
                        <a:t>192.168.10.</a:t>
                      </a:r>
                      <a:r>
                        <a:rPr b="1" sz="1500" i="0" u="none">
                          <a:solidFill>
                            <a:srgbClr val="CBD5E1"/>
                          </a:solidFill>
                          <a:latin typeface="Inter"/>
                        </a:rPr>
                        <a:t>99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Tabel Kesimpulan Alokasi VLSM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26789" y="5038725"/>
            <a:ext cx="12245578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1" u="none">
                <a:solidFill>
                  <a:srgbClr val="CBD5E1"/>
                </a:solidFill>
                <a:latin typeface="Inter"/>
              </a:rPr>
              <a:t>Dengan VLSM, penggunaan IP sangat presisi sesuai kebutuhan, menghindari pemborosan besar (IP saving).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4365277"/>
            <a:ext cx="7620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404812" y="1949797"/>
            <a:ext cx="1300162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6B6D4"/>
                </a:solidFill>
                <a:latin typeface="Urbanist"/>
              </a:rPr>
              <a:t>Sesi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3130897"/>
            <a:ext cx="13001625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CBD5E1"/>
                </a:solidFill>
                <a:latin typeface="Inter"/>
              </a:rPr>
              <a:t>Apakah ada pertanyaan terkait materi Komunikasi Data, OSI Layer, atau Subnetting IPv4?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04812" y="4679602"/>
            <a:ext cx="13001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Terima kasih atas perhatian dan antusiasmenya!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43187" y="1522362"/>
            <a:ext cx="6905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43187" y="2307133"/>
            <a:ext cx="6905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43187" y="3091904"/>
            <a:ext cx="6905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43187" y="3876675"/>
            <a:ext cx="6905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43187" y="4661445"/>
            <a:ext cx="6905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43187" y="2297608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43187" y="2297608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3187" y="3082379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3187" y="3082379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43187" y="3867150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43187" y="3867150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3187" y="4651920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43187" y="4651920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3187" y="5436691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43187" y="5436691"/>
            <a:ext cx="6905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87" y="1671786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187" y="2456557"/>
            <a:ext cx="1666875" cy="609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187" y="3241327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3187" y="4026098"/>
            <a:ext cx="857250" cy="476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187" y="4810869"/>
            <a:ext cx="857250" cy="4762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3187" y="5595639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Image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8562" y="1665237"/>
            <a:ext cx="726281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https://www.zenarmor.com/docs/network-topology-types.png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8562" y="1910953"/>
            <a:ext cx="7262812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www.zenarmor.com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8562" y="2450008"/>
            <a:ext cx="726281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https://www.mydraw.com/NIMG.axd?i=Templates/NetworkDiagram/BusTopology/BusTopology.png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8562" y="2695723"/>
            <a:ext cx="7262812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www.mydraw.com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8562" y="3234779"/>
            <a:ext cx="726281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https://cms.boardmix.com/images/articles/what-is-the-star-topology.png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8562" y="3480494"/>
            <a:ext cx="7262812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boardmix.com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8562" y="4019550"/>
            <a:ext cx="726281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https://creately.com/static/assets/guides/ring-topology/ring-topology.webp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8562" y="4265265"/>
            <a:ext cx="7262812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creately.com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8562" y="4804320"/>
            <a:ext cx="726281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https://cms.boardmix.com/images/articles/mesh-network-topology.png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8562" y="5050035"/>
            <a:ext cx="7262812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boardmix.com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8562" y="5589091"/>
            <a:ext cx="726281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https://www.hello-signal.com/wp-content/uploads/2025/08/Fiber-vs-Ethernet.jpg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8562" y="5834806"/>
            <a:ext cx="7262812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www.hello-signal.com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66962" y="3091904"/>
            <a:ext cx="745807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66962" y="3867150"/>
            <a:ext cx="74580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66962" y="3867150"/>
            <a:ext cx="74580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962" y="3241327"/>
            <a:ext cx="19812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962" y="4026098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7150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8FAFC"/>
                </a:solidFill>
                <a:latin typeface="Urbanist"/>
              </a:rPr>
              <a:t>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2337" y="3234779"/>
            <a:ext cx="7953375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https://www.firewallflow.com/wp-content/uploads/2025/08/understanding-subnetting-cidr-and-vlsm.webp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2337" y="3480494"/>
            <a:ext cx="7953375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www.firewallflow.com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2337" y="4019550"/>
            <a:ext cx="7953375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https://www.etulinktechnology.com/uploadfile/blog/f06677d978288dfccffdacca0d0cc990.jpg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2337" y="4265265"/>
            <a:ext cx="7953375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www.etulinktechnology.com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