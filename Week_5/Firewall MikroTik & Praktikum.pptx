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12192000"/>
  <p:notesSz cx="6858000" cy="9144000"/>
  <p:embeddedFontLst>
    <p:embeddedFont>
      <p:font typeface="Inter"/>
      <p:regular r:id="rId52"/>
      <p:bold r:id="rId53"/>
      <p:italic r:id="rId54"/>
      <p:boldItalic r:id="rId55"/>
    </p:embeddedFont>
    <p:embeddedFont>
      <p:font typeface="Fira Code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DF75B4-78E4-4F10-858A-A6122A825A74}">
  <a:tblStyle styleId="{B1DF75B4-78E4-4F10-858A-A6122A825A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Inter-bold.fntdata"/><Relationship Id="rId52" Type="http://schemas.openxmlformats.org/officeDocument/2006/relationships/font" Target="fonts/Inter-regular.fntdata"/><Relationship Id="rId11" Type="http://schemas.openxmlformats.org/officeDocument/2006/relationships/slide" Target="slides/slide5.xml"/><Relationship Id="rId55" Type="http://schemas.openxmlformats.org/officeDocument/2006/relationships/font" Target="fonts/Inter-boldItalic.fntdata"/><Relationship Id="rId10" Type="http://schemas.openxmlformats.org/officeDocument/2006/relationships/slide" Target="slides/slide4.xml"/><Relationship Id="rId54" Type="http://schemas.openxmlformats.org/officeDocument/2006/relationships/font" Target="fonts/Inter-italic.fntdata"/><Relationship Id="rId13" Type="http://schemas.openxmlformats.org/officeDocument/2006/relationships/slide" Target="slides/slide7.xml"/><Relationship Id="rId57" Type="http://schemas.openxmlformats.org/officeDocument/2006/relationships/font" Target="fonts/FiraCode-bold.fntdata"/><Relationship Id="rId12" Type="http://schemas.openxmlformats.org/officeDocument/2006/relationships/slide" Target="slides/slide6.xml"/><Relationship Id="rId56" Type="http://schemas.openxmlformats.org/officeDocument/2006/relationships/font" Target="fonts/FiraCode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15000" y="4345185"/>
            <a:ext cx="762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405312" y="2455664"/>
            <a:ext cx="3381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KELAS JARINGAN KOMPUTER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6820" y="2821334"/>
            <a:ext cx="11638359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Firewall MikroTik &amp; Praktikum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31156" y="3720405"/>
            <a:ext cx="8929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Memahami Chains, Filter Rules, dan Network Address Translation.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1981051"/>
            <a:ext cx="5257800" cy="19051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324600" y="1981051"/>
            <a:ext cx="5257800" cy="19051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9600" y="4343400"/>
            <a:ext cx="5257800" cy="19051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324600" y="4343400"/>
            <a:ext cx="5257800" cy="19051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AGENDA MATERI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9600" y="975270"/>
            <a:ext cx="1158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Peta Konsep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2371576"/>
            <a:ext cx="58757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01. Struktur Firewall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2809726"/>
            <a:ext cx="5595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Prinsip dasar Input, Forward, dan Output.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2371576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02. Filter Rules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15125" y="2809726"/>
            <a:ext cx="54768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Aksi Accept, Drop, dan Reject.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733925"/>
            <a:ext cx="58757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03. Fitur NAT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5172075"/>
            <a:ext cx="5595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 NAT dan Destination NAT.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15125" y="4733925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04. Sesi Praktikum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15125" y="5172075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Simulasi langsung melalui Winbox dan CLI.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371576"/>
            <a:ext cx="48672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PENGANTAR DASAR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Apa Itu Firewall MikroTik?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24600" y="34383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Gerbang Keamanan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24600" y="3876526"/>
            <a:ext cx="5867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Pos pemeriksaan wajib seluruh paket data.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Fungsi Utama: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Mengontrol aliran paket data jaringan.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Keamanan Berlapis: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Melindungi router dari serangan eksternal.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Manajemen Akses: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Membatasi pengguna internal menuju internet.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81050" y="435622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435813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Pusat Translasi: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Menjembatani IP privat dengan IP publik.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609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324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KONSEP ALIRAN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Packet Flow RouterOS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00125" y="2371576"/>
            <a:ext cx="58757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Prerouting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00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Fase kedatangan paket sebelum proses penentuan rute.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15125" y="2371576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Postrouting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5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Fase kepergian paket setelah proses penentuan rute.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VISUALISASI ARUS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Diagram Alur Paket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5715000" y="4367956"/>
            <a:ext cx="762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054203" y="2432744"/>
            <a:ext cx="2083593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BAGIAN PERTAMA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1437" y="2798415"/>
            <a:ext cx="12049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Struktur Firewall &amp; Prinsip Chains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DEFINISI KOMPONEN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Konsep Dasar Chains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Analogi Satpam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Satpam pintu masuk tidak memeriksa tamu pintu keluar.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Jalur Spesifik: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Rute logika pemrosesan paket.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Pengelompokan Aturan: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Memisahkan aturan berdasarkan arah lalu lintas.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Optimalisasi Kinerja: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Router tidak membaca aturan jalur lain.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609600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36884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812809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2371576"/>
            <a:ext cx="26733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9374" y="2371576"/>
            <a:ext cx="267339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8624" y="2371576"/>
            <a:ext cx="2673399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KLASIFIKASI JALUR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Tiga Chain Default MikroTik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000125" y="34383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INPUT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759374" y="34383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FORWARD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518624" y="34383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371576"/>
            <a:ext cx="4867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CHAIN PERTAMA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Chain: INPUT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324600" y="28287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Titik Henti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324600" y="3266926"/>
            <a:ext cx="5867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Router bertindak sebagai destinasi final.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Tujuan Akhir: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Paket menuju IP router itu sendiri.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Target Pemrosesan: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Layanan internal RouterOS.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Tanpa Penerusan: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Paket berhenti di dalam router.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609600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436884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812809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SKENARIO PRAKTIS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Contoh Penggunaan INPUT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000125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Akses Winbox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000125" y="28097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Admin login konfigurasi melalui port 8291.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4759374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Layanan Webfig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759374" y="28097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Akses antarmuka web router melalui HTTP.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518624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Uji Koneksi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518624" y="28097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Permintaan PING dari laptop menuju IP router.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609600" y="2788890"/>
            <a:ext cx="10972800" cy="24992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715000" y="406330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29187" y="1569839"/>
            <a:ext cx="233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VISUALISASI JALUR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3520678" y="1935509"/>
            <a:ext cx="515064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Alur Trafik INPUT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1906" y="3408015"/>
            <a:ext cx="1216818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Internet / LAN ➔ [ROUTER MIKROTIK]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1906" y="4349055"/>
            <a:ext cx="121681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Paket tidak pernah diteruskan ke jaringan lain.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371576"/>
            <a:ext cx="4867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CHAIN KEDUA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Chain: FORWARD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6324600" y="28287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Titik Transit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324600" y="32669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Router bertindak sebagai perantara jalur penghubung.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Hanya Melintas: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Paket melewati router menuju tempat lain.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Peran Jembatan: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Menghubungkan dua jaringan berbeda.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Beban Tertinggi: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Menangani mayoritas trafik harian pengguna.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/>
          <p:nvPr/>
        </p:nvSpPr>
        <p:spPr>
          <a:xfrm>
            <a:off x="609600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436884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812809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SKENARIO PRAKTIS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Contoh Penggunaan FORWARD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000125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Browsing Web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000125" y="28097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Klien LAN membuka situs web eksternal.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4759374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Download File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4759374" y="28097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Klien LAN mengunduh data dari internet.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8518624" y="2371576"/>
            <a:ext cx="290708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Komunikasi Antar LAN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8518624" y="313357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Trafik VLAN 10 menuju server VLAN 20.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/>
          <p:nvPr/>
        </p:nvSpPr>
        <p:spPr>
          <a:xfrm>
            <a:off x="609600" y="2788890"/>
            <a:ext cx="10972800" cy="24992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715000" y="406330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4929187" y="1569839"/>
            <a:ext cx="233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VISUALISASI JALUR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2901850" y="1935509"/>
            <a:ext cx="638829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Alur Trafik FORWARD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11906" y="3408015"/>
            <a:ext cx="1216818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Jaringan LAN ➔ [ROUTER MIKROTIK] ➔ Internet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1906" y="4349055"/>
            <a:ext cx="121681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Paket menggunakan router sekadar sebagai jalan tol.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8" name="Google Shape;2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371576"/>
            <a:ext cx="4867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7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CHAIN KETIGA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Chain: OUTPUT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6324600" y="28287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Titik Awal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6324600" y="32669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Router bertindak sebagai pengirim pertama paket.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Sumber Internal: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Paket diciptakan oleh proses RouterOS.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Tujuan Eksternal: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Paket dikirim menuju luar router.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Jarang Dibatasi: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Biasanya selalu diizinkan secara default.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/>
          <p:nvPr/>
        </p:nvSpPr>
        <p:spPr>
          <a:xfrm>
            <a:off x="609600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436884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812809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SKENARIO PRAKTIS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Contoh Penggunaan OUTPUT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000125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Update NTP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1000125" y="2809726"/>
            <a:ext cx="276864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Router menyinkronkan jam dengan server internet.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4759374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Koneksi VPN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4759374" y="2809726"/>
            <a:ext cx="276864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Router membangun tunnel VPN menuju kantor pusat.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8518624" y="23715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Balasan PING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8518624" y="28097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Router merespons PING kembali ke klien.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/>
          <p:nvPr/>
        </p:nvSpPr>
        <p:spPr>
          <a:xfrm>
            <a:off x="609600" y="2704951"/>
            <a:ext cx="207823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2687835" y="2704951"/>
            <a:ext cx="444713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7134969" y="2704951"/>
            <a:ext cx="444743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609600" y="3457426"/>
            <a:ext cx="207823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2687835" y="3457426"/>
            <a:ext cx="444713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7134969" y="3457426"/>
            <a:ext cx="444743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609600" y="4209901"/>
            <a:ext cx="207823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2687835" y="4209901"/>
            <a:ext cx="444713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7134969" y="4209901"/>
            <a:ext cx="444743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609600" y="4962376"/>
            <a:ext cx="207823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2687835" y="4962376"/>
            <a:ext cx="444713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7134969" y="4962376"/>
            <a:ext cx="444743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" name="Google Shape;310;p29"/>
          <p:cNvGraphicFramePr/>
          <p:nvPr/>
        </p:nvGraphicFramePr>
        <p:xfrm>
          <a:off x="609600" y="1981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{B1DF75B4-78E4-4F10-858A-A6122A825A74}</a:tableStyleId>
              </a:tblPr>
              <a:tblGrid>
                <a:gridCol w="2078225"/>
                <a:gridCol w="4447125"/>
                <a:gridCol w="4447425"/>
              </a:tblGrid>
              <a:tr h="7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Jenis Chain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Sumber Paket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Tujuan Paket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Luar Router (LAN/Internet)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Internal Router (Local Process)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FORWARD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Luar Router (LAN/Internet)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Luar Router (LAN/Internet)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Internal Router (Local Process)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Luar Router (LAN/Internet)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29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RINGKASAN KONSEP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Perbandingan Tiga Chains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/>
          <p:nvPr/>
        </p:nvSpPr>
        <p:spPr>
          <a:xfrm>
            <a:off x="5715000" y="4032795"/>
            <a:ext cx="762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5208984" y="2768054"/>
            <a:ext cx="1774031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BAGIAN KEDUA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682823" y="3133725"/>
            <a:ext cx="10826353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Filter Rules &amp; Eksekusi Aksi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/>
          <p:nvPr/>
        </p:nvSpPr>
        <p:spPr>
          <a:xfrm>
            <a:off x="609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6324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MEKANISME KERJA</a:t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Logika Bersyarat If-Then</a:t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1000125" y="2371576"/>
            <a:ext cx="58757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Kondisi (IF)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1000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Mencocokkan parameter alamat IP, protokol, atau port spesifik.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6715125" y="2371576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Aksi (THEN)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6715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Mengeksekusi keputusan mutlak saat paket memenuhi syarat kondisi.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/>
          <p:nvPr/>
        </p:nvSpPr>
        <p:spPr>
          <a:xfrm>
            <a:off x="609600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2"/>
          <p:cNvSpPr/>
          <p:nvPr/>
        </p:nvSpPr>
        <p:spPr>
          <a:xfrm>
            <a:off x="436884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2"/>
          <p:cNvSpPr/>
          <p:nvPr/>
        </p:nvSpPr>
        <p:spPr>
          <a:xfrm>
            <a:off x="8128099" y="1981051"/>
            <a:ext cx="3454449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9" name="Google Shape;3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2371576"/>
            <a:ext cx="2673399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9374" y="2371576"/>
            <a:ext cx="2673399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8624" y="2371576"/>
            <a:ext cx="2673399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KEPUTUSAN FIREWALL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Tiga Aksi Utama Filter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1000125" y="28287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Accept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1000125" y="32669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Mengizinkan paket melanjutkan perjalanan.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4759374" y="28287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Drop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4759374" y="32669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Membuang paket diam-diam sepenuhnya.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8518624" y="2828776"/>
            <a:ext cx="350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Reject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8518624" y="3266926"/>
            <a:ext cx="27686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Menolak paket disertai pesan pemberitahuan.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VISUALISASI KONSEP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Pohon Keputusan Eksekusi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EKSEKUSI POSITIF</a:t>
            </a: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Action: ACCEPT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Contoh Kasus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Mengizinkan akses Winbox khusus dari IP komputer administrator.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Fungsi: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Paket diizinkan melewati sistem firewall.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Akhir Evaluasi: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Paket tidak dicocokkan dengan aturan di bawahnya.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Sifat Bawaan: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Default action MikroTik jika rule kosong.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EKSEKUSI NEGATIF</a:t>
            </a:r>
            <a:endParaRPr/>
          </a:p>
        </p:txBody>
      </p:sp>
      <p:sp>
        <p:nvSpPr>
          <p:cNvPr id="379" name="Google Shape;379;p3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Action: DROP</a:t>
            </a:r>
            <a:endParaRPr/>
          </a:p>
        </p:txBody>
      </p:sp>
      <p:sp>
        <p:nvSpPr>
          <p:cNvPr id="380" name="Google Shape;380;p35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Contoh Kasus</a:t>
            </a:r>
            <a:endParaRPr/>
          </a:p>
        </p:txBody>
      </p:sp>
      <p:sp>
        <p:nvSpPr>
          <p:cNvPr id="381" name="Google Shape;381;p35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Memblokir serangan port scanner dari jaringan publik internet.</a:t>
            </a:r>
            <a:endParaRPr/>
          </a:p>
        </p:txBody>
      </p:sp>
      <p:sp>
        <p:nvSpPr>
          <p:cNvPr id="382" name="Google Shape;382;p35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3" name="Google Shape;383;p35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Fungsi: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Menghancurkan paket tanpa jejak balasan.</a:t>
            </a:r>
            <a:endParaRPr/>
          </a:p>
        </p:txBody>
      </p:sp>
      <p:sp>
        <p:nvSpPr>
          <p:cNvPr id="384" name="Google Shape;384;p35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Efek Klien: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Pengirim mengalami timeout panjang.</a:t>
            </a:r>
            <a:endParaRPr/>
          </a:p>
        </p:txBody>
      </p:sp>
      <p:sp>
        <p:nvSpPr>
          <p:cNvPr id="386" name="Google Shape;386;p35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Keamanan: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Menghemat sumber daya prosesor router.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6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EKSEKUSI INTERAKTIF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Action: REJECT</a:t>
            </a:r>
            <a:endParaRPr/>
          </a:p>
        </p:txBody>
      </p:sp>
      <p:sp>
        <p:nvSpPr>
          <p:cNvPr id="395" name="Google Shape;395;p36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Contoh Kasus</a:t>
            </a:r>
            <a:endParaRPr/>
          </a:p>
        </p:txBody>
      </p:sp>
      <p:sp>
        <p:nvSpPr>
          <p:cNvPr id="396" name="Google Shape;396;p36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Memberitahu karyawan bahwa akses media sosial ditutup sistem.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Fungsi: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Menolak paket dan mengirim pesan ralat ICMP.</a:t>
            </a:r>
            <a:endParaRPr/>
          </a:p>
        </p:txBody>
      </p:sp>
      <p:sp>
        <p:nvSpPr>
          <p:cNvPr id="399" name="Google Shape;399;p36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Efek Klien: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Pengirim menerima respons penolakan instan.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Transparansi: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Cocok untuk manajemen jaringan LAN internal.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7"/>
          <p:cNvSpPr/>
          <p:nvPr/>
        </p:nvSpPr>
        <p:spPr>
          <a:xfrm>
            <a:off x="609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7"/>
          <p:cNvSpPr/>
          <p:nvPr/>
        </p:nvSpPr>
        <p:spPr>
          <a:xfrm>
            <a:off x="6324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7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PERBANDINGAN SIGNIFIKAN</a:t>
            </a:r>
            <a:endParaRPr/>
          </a:p>
        </p:txBody>
      </p:sp>
      <p:sp>
        <p:nvSpPr>
          <p:cNvPr id="410" name="Google Shape;410;p37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DROP vs REJECT</a:t>
            </a:r>
            <a:endParaRPr/>
          </a:p>
        </p:txBody>
      </p:sp>
      <p:sp>
        <p:nvSpPr>
          <p:cNvPr id="411" name="Google Shape;411;p37"/>
          <p:cNvSpPr txBox="1"/>
          <p:nvPr/>
        </p:nvSpPr>
        <p:spPr>
          <a:xfrm>
            <a:off x="1000125" y="2371576"/>
            <a:ext cx="58757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Gunakan DROP saat...</a:t>
            </a:r>
            <a:endParaRPr/>
          </a:p>
        </p:txBody>
      </p:sp>
      <p:sp>
        <p:nvSpPr>
          <p:cNvPr id="412" name="Google Shape;412;p37"/>
          <p:cNvSpPr txBox="1"/>
          <p:nvPr/>
        </p:nvSpPr>
        <p:spPr>
          <a:xfrm>
            <a:off x="1000125" y="2809726"/>
            <a:ext cx="4572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Menghadapi serangan internet. Membiarkan peretas membuang waktu menunggu koneksi timeout sepenuhnya.</a:t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6715125" y="2371576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Gunakan REJECT saat...</a:t>
            </a:r>
            <a:endParaRPr/>
          </a:p>
        </p:txBody>
      </p:sp>
      <p:sp>
        <p:nvSpPr>
          <p:cNvPr id="414" name="Google Shape;414;p37"/>
          <p:cNvSpPr txBox="1"/>
          <p:nvPr/>
        </p:nvSpPr>
        <p:spPr>
          <a:xfrm>
            <a:off x="6715125" y="2809726"/>
            <a:ext cx="4572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Mengelola jaringan lokal. Membantu diagnostik karyawan dengan pesan penolakan yang jelas seketika.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/>
          <p:nvPr/>
        </p:nvSpPr>
        <p:spPr>
          <a:xfrm>
            <a:off x="609600" y="2788890"/>
            <a:ext cx="10972800" cy="24992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5715000" y="406330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8"/>
          <p:cNvSpPr txBox="1"/>
          <p:nvPr/>
        </p:nvSpPr>
        <p:spPr>
          <a:xfrm>
            <a:off x="4845843" y="1569839"/>
            <a:ext cx="2500312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ATURAN PEMBACAAN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2464296" y="1935509"/>
            <a:ext cx="726340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Top to Bottom Execution</a:t>
            </a:r>
            <a:endParaRPr/>
          </a:p>
        </p:txBody>
      </p:sp>
      <p:sp>
        <p:nvSpPr>
          <p:cNvPr id="423" name="Google Shape;423;p38"/>
          <p:cNvSpPr txBox="1"/>
          <p:nvPr/>
        </p:nvSpPr>
        <p:spPr>
          <a:xfrm>
            <a:off x="11906" y="3408015"/>
            <a:ext cx="1216818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Router mengevaluasi rule dari urutan nomor 0 ke bawah.</a:t>
            </a:r>
            <a:endParaRPr/>
          </a:p>
        </p:txBody>
      </p:sp>
      <p:sp>
        <p:nvSpPr>
          <p:cNvPr id="424" name="Google Shape;424;p38"/>
          <p:cNvSpPr txBox="1"/>
          <p:nvPr/>
        </p:nvSpPr>
        <p:spPr>
          <a:xfrm>
            <a:off x="11906" y="4349055"/>
            <a:ext cx="121681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Begitu satu kriteria cocok, rule di bawahnya diabaikan total.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/>
          <p:nvPr/>
        </p:nvSpPr>
        <p:spPr>
          <a:xfrm>
            <a:off x="5715000" y="4367956"/>
            <a:ext cx="762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9"/>
          <p:cNvSpPr txBox="1"/>
          <p:nvPr/>
        </p:nvSpPr>
        <p:spPr>
          <a:xfrm>
            <a:off x="5179218" y="2432744"/>
            <a:ext cx="1833562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BAGIAN KETIGA</a:t>
            </a:r>
            <a:endParaRPr/>
          </a:p>
        </p:txBody>
      </p:sp>
      <p:sp>
        <p:nvSpPr>
          <p:cNvPr id="431" name="Google Shape;431;p39"/>
          <p:cNvSpPr txBox="1"/>
          <p:nvPr/>
        </p:nvSpPr>
        <p:spPr>
          <a:xfrm>
            <a:off x="71437" y="2798415"/>
            <a:ext cx="12049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Network Address Translation (NAT)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0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KONSEP FUNDAMENTAL</a:t>
            </a:r>
            <a:endParaRPr/>
          </a:p>
        </p:txBody>
      </p:sp>
      <p:sp>
        <p:nvSpPr>
          <p:cNvPr id="438" name="Google Shape;438;p40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Solusi Keterbatasan IPv4</a:t>
            </a:r>
            <a:endParaRPr/>
          </a:p>
        </p:txBody>
      </p:sp>
      <p:sp>
        <p:nvSpPr>
          <p:cNvPr id="439" name="Google Shape;439;p40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Tujuan Utama</a:t>
            </a:r>
            <a:endParaRPr/>
          </a:p>
        </p:txBody>
      </p:sp>
      <p:sp>
        <p:nvSpPr>
          <p:cNvPr id="440" name="Google Shape;440;p40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Memungkinkan puluhan perangkat LAN menggunakan satu IP publik tunggal.</a:t>
            </a:r>
            <a:endParaRPr/>
          </a:p>
        </p:txBody>
      </p:sp>
      <p:sp>
        <p:nvSpPr>
          <p:cNvPr id="441" name="Google Shape;441;p40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2" name="Google Shape;442;p40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Krisis Alamat: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Jumlah IPv4 publik sangat terbatas.</a:t>
            </a:r>
            <a:endParaRPr/>
          </a:p>
        </p:txBody>
      </p:sp>
      <p:sp>
        <p:nvSpPr>
          <p:cNvPr id="443" name="Google Shape;443;p40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4" name="Google Shape;444;p40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Isolasi Privat: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Jaringan lokal tidak bisa merutekan IP privat ke internet.</a:t>
            </a:r>
            <a:endParaRPr/>
          </a:p>
        </p:txBody>
      </p:sp>
      <p:sp>
        <p:nvSpPr>
          <p:cNvPr id="445" name="Google Shape;445;p40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6" name="Google Shape;446;p40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Modifikasi Header: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NAT mengubah IP sumber atau tujuan pada paket data.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GAMBAR KONSEPTUAL</a:t>
            </a:r>
            <a:endParaRPr/>
          </a:p>
        </p:txBody>
      </p:sp>
      <p:sp>
        <p:nvSpPr>
          <p:cNvPr id="454" name="Google Shape;454;p41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Cara Kerja Translasi NAT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/>
          <p:nvPr/>
        </p:nvSpPr>
        <p:spPr>
          <a:xfrm>
            <a:off x="609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2"/>
          <p:cNvSpPr/>
          <p:nvPr/>
        </p:nvSpPr>
        <p:spPr>
          <a:xfrm>
            <a:off x="6324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KLASIFIKASI SISTEM</a:t>
            </a:r>
            <a:endParaRPr/>
          </a:p>
        </p:txBody>
      </p:sp>
      <p:sp>
        <p:nvSpPr>
          <p:cNvPr id="462" name="Google Shape;462;p4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Dua Varian NAT MikroTik</a:t>
            </a:r>
            <a:endParaRPr/>
          </a:p>
        </p:txBody>
      </p:sp>
      <p:sp>
        <p:nvSpPr>
          <p:cNvPr id="463" name="Google Shape;463;p42"/>
          <p:cNvSpPr txBox="1"/>
          <p:nvPr/>
        </p:nvSpPr>
        <p:spPr>
          <a:xfrm>
            <a:off x="1000125" y="2371576"/>
            <a:ext cx="58757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 NAT (SrcNAT)</a:t>
            </a:r>
            <a:endParaRPr/>
          </a:p>
        </p:txBody>
      </p:sp>
      <p:sp>
        <p:nvSpPr>
          <p:cNvPr id="464" name="Google Shape;464;p42"/>
          <p:cNvSpPr txBox="1"/>
          <p:nvPr/>
        </p:nvSpPr>
        <p:spPr>
          <a:xfrm>
            <a:off x="1000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Mengganti alamat IP pengirim asli dengan alamat IP router.</a:t>
            </a:r>
            <a:endParaRPr/>
          </a:p>
        </p:txBody>
      </p:sp>
      <p:sp>
        <p:nvSpPr>
          <p:cNvPr id="465" name="Google Shape;465;p42"/>
          <p:cNvSpPr txBox="1"/>
          <p:nvPr/>
        </p:nvSpPr>
        <p:spPr>
          <a:xfrm>
            <a:off x="6715125" y="2371576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Destination NAT (DstNAT)</a:t>
            </a:r>
            <a:endParaRPr/>
          </a:p>
        </p:txBody>
      </p:sp>
      <p:sp>
        <p:nvSpPr>
          <p:cNvPr id="466" name="Google Shape;466;p42"/>
          <p:cNvSpPr txBox="1"/>
          <p:nvPr/>
        </p:nvSpPr>
        <p:spPr>
          <a:xfrm>
            <a:off x="6715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Mengganti alamat IP tujuan publik menuju alamat server lokal.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3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KAJIAN MENDALAM</a:t>
            </a:r>
            <a:endParaRPr/>
          </a:p>
        </p:txBody>
      </p:sp>
      <p:sp>
        <p:nvSpPr>
          <p:cNvPr id="473" name="Google Shape;473;p4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Membedah Chain: srcnat</a:t>
            </a:r>
            <a:endParaRPr/>
          </a:p>
        </p:txBody>
      </p:sp>
      <p:sp>
        <p:nvSpPr>
          <p:cNvPr id="474" name="Google Shape;474;p43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Hasil Translasi</a:t>
            </a:r>
            <a:endParaRPr/>
          </a:p>
        </p:txBody>
      </p:sp>
      <p:sp>
        <p:nvSpPr>
          <p:cNvPr id="475" name="Google Shape;475;p43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Server internet melihat IP publik router sebagai pengirim sah.</a:t>
            </a:r>
            <a:endParaRPr/>
          </a:p>
        </p:txBody>
      </p:sp>
      <p:sp>
        <p:nvSpPr>
          <p:cNvPr id="476" name="Google Shape;476;p43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77" name="Google Shape;477;p43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Fase Modifikasi: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Dieksekusi pada proses Postrouting.</a:t>
            </a:r>
            <a:endParaRPr/>
          </a:p>
        </p:txBody>
      </p:sp>
      <p:sp>
        <p:nvSpPr>
          <p:cNvPr id="478" name="Google Shape;478;p43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79" name="Google Shape;479;p43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Arah Trafik: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Dari jaringan internal keluar menuju internet.</a:t>
            </a:r>
            <a:endParaRPr/>
          </a:p>
        </p:txBody>
      </p:sp>
      <p:sp>
        <p:nvSpPr>
          <p:cNvPr id="480" name="Google Shape;480;p43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81" name="Google Shape;481;p43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Action Spesifik: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src-nat (IP Statis) dan masquerade (IP Dinamis).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7" name="Google Shape;48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371576"/>
            <a:ext cx="4867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AKSI TERPOPULER</a:t>
            </a:r>
            <a:endParaRPr/>
          </a:p>
        </p:txBody>
      </p:sp>
      <p:sp>
        <p:nvSpPr>
          <p:cNvPr id="489" name="Google Shape;489;p44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Action: Masquerade</a:t>
            </a:r>
            <a:endParaRPr/>
          </a:p>
        </p:txBody>
      </p:sp>
      <p:sp>
        <p:nvSpPr>
          <p:cNvPr id="490" name="Google Shape;490;p44"/>
          <p:cNvSpPr txBox="1"/>
          <p:nvPr/>
        </p:nvSpPr>
        <p:spPr>
          <a:xfrm>
            <a:off x="6324600" y="28287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Topeng Jaringan</a:t>
            </a:r>
            <a:endParaRPr/>
          </a:p>
        </p:txBody>
      </p:sp>
      <p:sp>
        <p:nvSpPr>
          <p:cNvPr id="491" name="Google Shape;491;p44"/>
          <p:cNvSpPr txBox="1"/>
          <p:nvPr/>
        </p:nvSpPr>
        <p:spPr>
          <a:xfrm>
            <a:off x="6324600" y="32669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Menyembunyikan seluruh perangkat LAN di balik antarmuka publik.</a:t>
            </a:r>
            <a:endParaRPr/>
          </a:p>
        </p:txBody>
      </p:sp>
      <p:sp>
        <p:nvSpPr>
          <p:cNvPr id="492" name="Google Shape;492;p44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93" name="Google Shape;493;p44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Fleksibilitas: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Menyesuaikan IP publik yang berubah otomatis.</a:t>
            </a:r>
            <a:endParaRPr/>
          </a:p>
        </p:txBody>
      </p:sp>
      <p:sp>
        <p:nvSpPr>
          <p:cNvPr id="494" name="Google Shape;494;p44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95" name="Google Shape;495;p44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Syarat Mutlak: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Digunakan saat koneksi ISP berupa PPPoE atau DHCP.</a:t>
            </a:r>
            <a:endParaRPr/>
          </a:p>
        </p:txBody>
      </p:sp>
      <p:sp>
        <p:nvSpPr>
          <p:cNvPr id="496" name="Google Shape;496;p44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97" name="Google Shape;497;p44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Beban Proses: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Sedikit lebih berat daripada aksi src-nat statis.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KAJIAN MENDALAM</a:t>
            </a:r>
            <a:endParaRPr/>
          </a:p>
        </p:txBody>
      </p:sp>
      <p:sp>
        <p:nvSpPr>
          <p:cNvPr id="504" name="Google Shape;504;p4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Membedah Chain: dstnat</a:t>
            </a:r>
            <a:endParaRPr/>
          </a:p>
        </p:txBody>
      </p:sp>
      <p:sp>
        <p:nvSpPr>
          <p:cNvPr id="505" name="Google Shape;505;p45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Hasil Translasi</a:t>
            </a:r>
            <a:endParaRPr/>
          </a:p>
        </p:txBody>
      </p:sp>
      <p:sp>
        <p:nvSpPr>
          <p:cNvPr id="506" name="Google Shape;506;p45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Lalu lintas luar dialihkan langsung menuju server privat internal.</a:t>
            </a:r>
            <a:endParaRPr/>
          </a:p>
        </p:txBody>
      </p:sp>
      <p:sp>
        <p:nvSpPr>
          <p:cNvPr id="507" name="Google Shape;507;p45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08" name="Google Shape;508;p45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Fase Modifikasi: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Dieksekusi pada awal proses Prerouting.</a:t>
            </a:r>
            <a:endParaRPr/>
          </a:p>
        </p:txBody>
      </p:sp>
      <p:sp>
        <p:nvSpPr>
          <p:cNvPr id="509" name="Google Shape;509;p45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0" name="Google Shape;510;p45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Arah Trafik: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Dari internet masuk menuju jaringan lokal.</a:t>
            </a:r>
            <a:endParaRPr/>
          </a:p>
        </p:txBody>
      </p:sp>
      <p:sp>
        <p:nvSpPr>
          <p:cNvPr id="511" name="Google Shape;511;p45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2" name="Google Shape;512;p45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Action Spesifik: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dst-nat (meneruskan lalu lintas spesifik).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6"/>
          <p:cNvSpPr/>
          <p:nvPr/>
        </p:nvSpPr>
        <p:spPr>
          <a:xfrm>
            <a:off x="5934075" y="1981051"/>
            <a:ext cx="5648325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6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IMPLEMENTASI DSTNAT</a:t>
            </a:r>
            <a:endParaRPr/>
          </a:p>
        </p:txBody>
      </p:sp>
      <p:sp>
        <p:nvSpPr>
          <p:cNvPr id="519" name="Google Shape;519;p4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Konsep Port Forwarding</a:t>
            </a:r>
            <a:endParaRPr/>
          </a:p>
        </p:txBody>
      </p:sp>
      <p:sp>
        <p:nvSpPr>
          <p:cNvPr id="520" name="Google Shape;520;p46"/>
          <p:cNvSpPr txBox="1"/>
          <p:nvPr/>
        </p:nvSpPr>
        <p:spPr>
          <a:xfrm>
            <a:off x="6324600" y="2371576"/>
            <a:ext cx="586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Contoh Kasus</a:t>
            </a:r>
            <a:endParaRPr/>
          </a:p>
        </p:txBody>
      </p:sp>
      <p:sp>
        <p:nvSpPr>
          <p:cNvPr id="521" name="Google Shape;521;p46"/>
          <p:cNvSpPr txBox="1"/>
          <p:nvPr/>
        </p:nvSpPr>
        <p:spPr>
          <a:xfrm>
            <a:off x="6324600" y="2809726"/>
            <a:ext cx="49625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Membuka port 80 publik dialihkan menuju Web Server lokal 192.168.1.10.</a:t>
            </a:r>
            <a:endParaRPr/>
          </a:p>
        </p:txBody>
      </p:sp>
      <p:sp>
        <p:nvSpPr>
          <p:cNvPr id="522" name="Google Shape;522;p46"/>
          <p:cNvSpPr txBox="1"/>
          <p:nvPr/>
        </p:nvSpPr>
        <p:spPr>
          <a:xfrm>
            <a:off x="781050" y="19791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23" name="Google Shape;523;p46"/>
          <p:cNvSpPr txBox="1"/>
          <p:nvPr/>
        </p:nvSpPr>
        <p:spPr>
          <a:xfrm>
            <a:off x="914400" y="1981051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Pembukaan Port: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Menerima koneksi pada port eksternal router.</a:t>
            </a:r>
            <a:endParaRPr/>
          </a:p>
        </p:txBody>
      </p:sp>
      <p:sp>
        <p:nvSpPr>
          <p:cNvPr id="524" name="Google Shape;524;p46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25" name="Google Shape;525;p46"/>
          <p:cNvSpPr txBox="1"/>
          <p:nvPr/>
        </p:nvSpPr>
        <p:spPr>
          <a:xfrm>
            <a:off x="914400" y="2773412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Pengalihan Rute: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Membelokkan trafik ke port server CCTV atau Web lokal.</a:t>
            </a:r>
            <a:endParaRPr/>
          </a:p>
        </p:txBody>
      </p:sp>
      <p:sp>
        <p:nvSpPr>
          <p:cNvPr id="526" name="Google Shape;526;p46"/>
          <p:cNvSpPr txBox="1"/>
          <p:nvPr/>
        </p:nvSpPr>
        <p:spPr>
          <a:xfrm>
            <a:off x="781050" y="35638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27" name="Google Shape;527;p46"/>
          <p:cNvSpPr txBox="1"/>
          <p:nvPr/>
        </p:nvSpPr>
        <p:spPr>
          <a:xfrm>
            <a:off x="914400" y="3565773"/>
            <a:ext cx="46577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Aksesibilitas Global: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Server lokal dapat diakses dari mana saja.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2" name="Google Shape;53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828651"/>
            <a:ext cx="10972800" cy="4419748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7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VISUALISASI JARINGAN</a:t>
            </a:r>
            <a:endParaRPr/>
          </a:p>
        </p:txBody>
      </p:sp>
      <p:sp>
        <p:nvSpPr>
          <p:cNvPr id="535" name="Google Shape;535;p47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Alur Port Forwarding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8"/>
          <p:cNvSpPr/>
          <p:nvPr/>
        </p:nvSpPr>
        <p:spPr>
          <a:xfrm>
            <a:off x="5715000" y="4032795"/>
            <a:ext cx="762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8"/>
          <p:cNvSpPr txBox="1"/>
          <p:nvPr/>
        </p:nvSpPr>
        <p:spPr>
          <a:xfrm>
            <a:off x="5066109" y="2768054"/>
            <a:ext cx="2059781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BAGIAN KEEMPAT</a:t>
            </a:r>
            <a:endParaRPr/>
          </a:p>
        </p:txBody>
      </p:sp>
      <p:sp>
        <p:nvSpPr>
          <p:cNvPr id="542" name="Google Shape;542;p48"/>
          <p:cNvSpPr txBox="1"/>
          <p:nvPr/>
        </p:nvSpPr>
        <p:spPr>
          <a:xfrm>
            <a:off x="1514177" y="3133725"/>
            <a:ext cx="916364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Sesi Praktikum Firewall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9"/>
          <p:cNvSpPr/>
          <p:nvPr/>
        </p:nvSpPr>
        <p:spPr>
          <a:xfrm>
            <a:off x="609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9"/>
          <p:cNvSpPr/>
          <p:nvPr/>
        </p:nvSpPr>
        <p:spPr>
          <a:xfrm>
            <a:off x="6324600" y="1981051"/>
            <a:ext cx="5257800" cy="42673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9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PERSIAPAN ALAT</a:t>
            </a:r>
            <a:endParaRPr/>
          </a:p>
        </p:txBody>
      </p:sp>
      <p:sp>
        <p:nvSpPr>
          <p:cNvPr id="550" name="Google Shape;550;p49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Topologi &amp; Kebutuhan Praktik</a:t>
            </a:r>
            <a:endParaRPr/>
          </a:p>
        </p:txBody>
      </p:sp>
      <p:sp>
        <p:nvSpPr>
          <p:cNvPr id="551" name="Google Shape;551;p49"/>
          <p:cNvSpPr txBox="1"/>
          <p:nvPr/>
        </p:nvSpPr>
        <p:spPr>
          <a:xfrm>
            <a:off x="1000125" y="2371576"/>
            <a:ext cx="58757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Infrastruktur Jaringan</a:t>
            </a:r>
            <a:endParaRPr/>
          </a:p>
        </p:txBody>
      </p:sp>
      <p:sp>
        <p:nvSpPr>
          <p:cNvPr id="552" name="Google Shape;552;p49"/>
          <p:cNvSpPr txBox="1"/>
          <p:nvPr/>
        </p:nvSpPr>
        <p:spPr>
          <a:xfrm>
            <a:off x="1000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Antarmuka ether1 terhubung ISP. Antarmuka ether2 terhubung LAN.</a:t>
            </a:r>
            <a:endParaRPr/>
          </a:p>
        </p:txBody>
      </p:sp>
      <p:sp>
        <p:nvSpPr>
          <p:cNvPr id="553" name="Google Shape;553;p49"/>
          <p:cNvSpPr txBox="1"/>
          <p:nvPr/>
        </p:nvSpPr>
        <p:spPr>
          <a:xfrm>
            <a:off x="6715125" y="2371576"/>
            <a:ext cx="5476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Perangkat Lunak</a:t>
            </a:r>
            <a:endParaRPr/>
          </a:p>
        </p:txBody>
      </p:sp>
      <p:sp>
        <p:nvSpPr>
          <p:cNvPr id="554" name="Google Shape;554;p49"/>
          <p:cNvSpPr txBox="1"/>
          <p:nvPr/>
        </p:nvSpPr>
        <p:spPr>
          <a:xfrm>
            <a:off x="6715125" y="2809726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Aplikasi Winbox versi terbaru dan akses Command Line Interface.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0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PRAKTIKUM 01: ANTARMUKA GUI</a:t>
            </a:r>
            <a:endParaRPr/>
          </a:p>
        </p:txBody>
      </p:sp>
      <p:sp>
        <p:nvSpPr>
          <p:cNvPr id="560" name="Google Shape;560;p50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Blokir PING ke Router (Winbox)</a:t>
            </a:r>
            <a:endParaRPr/>
          </a:p>
        </p:txBody>
      </p:sp>
      <p:sp>
        <p:nvSpPr>
          <p:cNvPr id="561" name="Google Shape;561;p50"/>
          <p:cNvSpPr txBox="1"/>
          <p:nvPr/>
        </p:nvSpPr>
        <p:spPr>
          <a:xfrm>
            <a:off x="781050" y="18267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62" name="Google Shape;562;p50"/>
          <p:cNvSpPr txBox="1"/>
          <p:nvPr/>
        </p:nvSpPr>
        <p:spPr>
          <a:xfrm>
            <a:off x="914400" y="1828651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Buka menu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IP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&gt;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Firewall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&gt; tab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Filter Rules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563" name="Google Shape;563;p50"/>
          <p:cNvSpPr txBox="1"/>
          <p:nvPr/>
        </p:nvSpPr>
        <p:spPr>
          <a:xfrm>
            <a:off x="781050" y="229912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64" name="Google Shape;564;p50"/>
          <p:cNvSpPr txBox="1"/>
          <p:nvPr/>
        </p:nvSpPr>
        <p:spPr>
          <a:xfrm>
            <a:off x="914400" y="2301031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Klik tanda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(Add).</a:t>
            </a:r>
            <a:endParaRPr/>
          </a:p>
        </p:txBody>
      </p:sp>
      <p:sp>
        <p:nvSpPr>
          <p:cNvPr id="565" name="Google Shape;565;p50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66" name="Google Shape;566;p50"/>
          <p:cNvSpPr txBox="1"/>
          <p:nvPr/>
        </p:nvSpPr>
        <p:spPr>
          <a:xfrm>
            <a:off x="914400" y="2773412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 General: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Chain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input,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Protocol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icmp.</a:t>
            </a:r>
            <a:endParaRPr/>
          </a:p>
        </p:txBody>
      </p:sp>
      <p:sp>
        <p:nvSpPr>
          <p:cNvPr id="567" name="Google Shape;567;p50"/>
          <p:cNvSpPr txBox="1"/>
          <p:nvPr/>
        </p:nvSpPr>
        <p:spPr>
          <a:xfrm>
            <a:off x="781050" y="324388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68" name="Google Shape;568;p50"/>
          <p:cNvSpPr txBox="1"/>
          <p:nvPr/>
        </p:nvSpPr>
        <p:spPr>
          <a:xfrm>
            <a:off x="914400" y="3245792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 Action: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drop.</a:t>
            </a:r>
            <a:endParaRPr/>
          </a:p>
        </p:txBody>
      </p:sp>
      <p:sp>
        <p:nvSpPr>
          <p:cNvPr id="569" name="Google Shape;569;p50"/>
          <p:cNvSpPr txBox="1"/>
          <p:nvPr/>
        </p:nvSpPr>
        <p:spPr>
          <a:xfrm>
            <a:off x="781050" y="37162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70" name="Google Shape;570;p50"/>
          <p:cNvSpPr txBox="1"/>
          <p:nvPr/>
        </p:nvSpPr>
        <p:spPr>
          <a:xfrm>
            <a:off x="914400" y="3718173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Klik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Apply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OK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1"/>
          <p:cNvSpPr/>
          <p:nvPr/>
        </p:nvSpPr>
        <p:spPr>
          <a:xfrm>
            <a:off x="609600" y="3030735"/>
            <a:ext cx="10972800" cy="1181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1"/>
          <p:cNvSpPr/>
          <p:nvPr/>
        </p:nvSpPr>
        <p:spPr>
          <a:xfrm>
            <a:off x="5715000" y="444043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PRAKTIKUM 01: COMMAND LINE</a:t>
            </a:r>
            <a:endParaRPr/>
          </a:p>
        </p:txBody>
      </p:sp>
      <p:sp>
        <p:nvSpPr>
          <p:cNvPr id="578" name="Google Shape;578;p51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Blokir PING ke Router (CLI)</a:t>
            </a:r>
            <a:endParaRPr/>
          </a:p>
        </p:txBody>
      </p:sp>
      <p:sp>
        <p:nvSpPr>
          <p:cNvPr id="579" name="Google Shape;579;p51"/>
          <p:cNvSpPr txBox="1"/>
          <p:nvPr/>
        </p:nvSpPr>
        <p:spPr>
          <a:xfrm>
            <a:off x="914400" y="3335535"/>
            <a:ext cx="10458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/ip firewall filter add chain=input protocol=icmp action=drop comment="Blokir Ping ICMP"</a:t>
            </a:r>
            <a:endParaRPr/>
          </a:p>
        </p:txBody>
      </p:sp>
      <p:sp>
        <p:nvSpPr>
          <p:cNvPr id="580" name="Google Shape;580;p51"/>
          <p:cNvSpPr txBox="1"/>
          <p:nvPr/>
        </p:nvSpPr>
        <p:spPr>
          <a:xfrm>
            <a:off x="-381000" y="4726185"/>
            <a:ext cx="12954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Seluruh permintaan ping menuju IP router akan ditolak mutlak.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PRAKTIKUM 02: ANTARMUKA GUI</a:t>
            </a:r>
            <a:endParaRPr/>
          </a:p>
        </p:txBody>
      </p:sp>
      <p:sp>
        <p:nvSpPr>
          <p:cNvPr id="586" name="Google Shape;586;p5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Blokir Klien LAN ke Internet</a:t>
            </a:r>
            <a:endParaRPr/>
          </a:p>
        </p:txBody>
      </p:sp>
      <p:sp>
        <p:nvSpPr>
          <p:cNvPr id="587" name="Google Shape;587;p52"/>
          <p:cNvSpPr txBox="1"/>
          <p:nvPr/>
        </p:nvSpPr>
        <p:spPr>
          <a:xfrm>
            <a:off x="781050" y="18267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88" name="Google Shape;588;p52"/>
          <p:cNvSpPr txBox="1"/>
          <p:nvPr/>
        </p:nvSpPr>
        <p:spPr>
          <a:xfrm>
            <a:off x="914400" y="1828651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Buka menu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IP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&gt;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Firewall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&gt; tab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Filter Rules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589" name="Google Shape;589;p52"/>
          <p:cNvSpPr txBox="1"/>
          <p:nvPr/>
        </p:nvSpPr>
        <p:spPr>
          <a:xfrm>
            <a:off x="781050" y="229912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90" name="Google Shape;590;p52"/>
          <p:cNvSpPr txBox="1"/>
          <p:nvPr/>
        </p:nvSpPr>
        <p:spPr>
          <a:xfrm>
            <a:off x="914400" y="2301031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Klik tanda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(Add).</a:t>
            </a:r>
            <a:endParaRPr/>
          </a:p>
        </p:txBody>
      </p:sp>
      <p:sp>
        <p:nvSpPr>
          <p:cNvPr id="591" name="Google Shape;591;p52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92" name="Google Shape;592;p52"/>
          <p:cNvSpPr txBox="1"/>
          <p:nvPr/>
        </p:nvSpPr>
        <p:spPr>
          <a:xfrm>
            <a:off x="914400" y="2773412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 General: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Chain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forward,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Src. Address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192.168.1.50.</a:t>
            </a:r>
            <a:endParaRPr/>
          </a:p>
        </p:txBody>
      </p:sp>
      <p:sp>
        <p:nvSpPr>
          <p:cNvPr id="593" name="Google Shape;593;p52"/>
          <p:cNvSpPr txBox="1"/>
          <p:nvPr/>
        </p:nvSpPr>
        <p:spPr>
          <a:xfrm>
            <a:off x="781050" y="324388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94" name="Google Shape;594;p52"/>
          <p:cNvSpPr txBox="1"/>
          <p:nvPr/>
        </p:nvSpPr>
        <p:spPr>
          <a:xfrm>
            <a:off x="914400" y="3245792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 Action: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drop.</a:t>
            </a:r>
            <a:endParaRPr/>
          </a:p>
        </p:txBody>
      </p:sp>
      <p:sp>
        <p:nvSpPr>
          <p:cNvPr id="595" name="Google Shape;595;p52"/>
          <p:cNvSpPr txBox="1"/>
          <p:nvPr/>
        </p:nvSpPr>
        <p:spPr>
          <a:xfrm>
            <a:off x="781050" y="37162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96" name="Google Shape;596;p52"/>
          <p:cNvSpPr txBox="1"/>
          <p:nvPr/>
        </p:nvSpPr>
        <p:spPr>
          <a:xfrm>
            <a:off x="914400" y="3718173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Klik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Apply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OK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3"/>
          <p:cNvSpPr/>
          <p:nvPr/>
        </p:nvSpPr>
        <p:spPr>
          <a:xfrm>
            <a:off x="609600" y="2887860"/>
            <a:ext cx="10972800" cy="14668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3"/>
          <p:cNvSpPr/>
          <p:nvPr/>
        </p:nvSpPr>
        <p:spPr>
          <a:xfrm>
            <a:off x="5715000" y="4583310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3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PRAKTIKUM 02: COMMAND LINE</a:t>
            </a:r>
            <a:endParaRPr/>
          </a:p>
        </p:txBody>
      </p:sp>
      <p:sp>
        <p:nvSpPr>
          <p:cNvPr id="604" name="Google Shape;604;p5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Blokir Klien LAN (CLI)</a:t>
            </a:r>
            <a:endParaRPr/>
          </a:p>
        </p:txBody>
      </p:sp>
      <p:sp>
        <p:nvSpPr>
          <p:cNvPr id="605" name="Google Shape;605;p53"/>
          <p:cNvSpPr txBox="1"/>
          <p:nvPr/>
        </p:nvSpPr>
        <p:spPr>
          <a:xfrm>
            <a:off x="914400" y="3192660"/>
            <a:ext cx="1045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/ip firewall filter add chain=forward src-address=192.168.1.50 action=drop \ comment="Blokir akses internet klien"</a:t>
            </a:r>
            <a:endParaRPr/>
          </a:p>
        </p:txBody>
      </p:sp>
      <p:sp>
        <p:nvSpPr>
          <p:cNvPr id="606" name="Google Shape;606;p53"/>
          <p:cNvSpPr txBox="1"/>
          <p:nvPr/>
        </p:nvSpPr>
        <p:spPr>
          <a:xfrm>
            <a:off x="-381000" y="4869060"/>
            <a:ext cx="12954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Komputer spesifik gagal membuka seluruh situs internet luar.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PRAKTIKUM 03: ANTARMUKA GUI</a:t>
            </a:r>
            <a:endParaRPr/>
          </a:p>
        </p:txBody>
      </p:sp>
      <p:sp>
        <p:nvSpPr>
          <p:cNvPr id="612" name="Google Shape;612;p54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Konfigurasi Masquerade NAT</a:t>
            </a:r>
            <a:endParaRPr/>
          </a:p>
        </p:txBody>
      </p:sp>
      <p:sp>
        <p:nvSpPr>
          <p:cNvPr id="613" name="Google Shape;613;p54"/>
          <p:cNvSpPr txBox="1"/>
          <p:nvPr/>
        </p:nvSpPr>
        <p:spPr>
          <a:xfrm>
            <a:off x="781050" y="182674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14" name="Google Shape;614;p54"/>
          <p:cNvSpPr txBox="1"/>
          <p:nvPr/>
        </p:nvSpPr>
        <p:spPr>
          <a:xfrm>
            <a:off x="914400" y="1828651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Buka menu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IP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&gt;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Firewall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&gt; tab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NAT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615" name="Google Shape;615;p54"/>
          <p:cNvSpPr txBox="1"/>
          <p:nvPr/>
        </p:nvSpPr>
        <p:spPr>
          <a:xfrm>
            <a:off x="781050" y="2299126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16" name="Google Shape;616;p54"/>
          <p:cNvSpPr txBox="1"/>
          <p:nvPr/>
        </p:nvSpPr>
        <p:spPr>
          <a:xfrm>
            <a:off x="914400" y="2301031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Klik tanda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(Add).</a:t>
            </a:r>
            <a:endParaRPr/>
          </a:p>
        </p:txBody>
      </p:sp>
      <p:sp>
        <p:nvSpPr>
          <p:cNvPr id="617" name="Google Shape;617;p54"/>
          <p:cNvSpPr txBox="1"/>
          <p:nvPr/>
        </p:nvSpPr>
        <p:spPr>
          <a:xfrm>
            <a:off x="781050" y="277150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18" name="Google Shape;618;p54"/>
          <p:cNvSpPr txBox="1"/>
          <p:nvPr/>
        </p:nvSpPr>
        <p:spPr>
          <a:xfrm>
            <a:off x="914400" y="2773412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 General: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Chain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srcnat,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Out. Interface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ether1 (WAN).</a:t>
            </a:r>
            <a:endParaRPr/>
          </a:p>
        </p:txBody>
      </p:sp>
      <p:sp>
        <p:nvSpPr>
          <p:cNvPr id="619" name="Google Shape;619;p54"/>
          <p:cNvSpPr txBox="1"/>
          <p:nvPr/>
        </p:nvSpPr>
        <p:spPr>
          <a:xfrm>
            <a:off x="781050" y="324388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20" name="Google Shape;620;p54"/>
          <p:cNvSpPr txBox="1"/>
          <p:nvPr/>
        </p:nvSpPr>
        <p:spPr>
          <a:xfrm>
            <a:off x="914400" y="3245792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 Action: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masquerade.</a:t>
            </a:r>
            <a:endParaRPr/>
          </a:p>
        </p:txBody>
      </p:sp>
      <p:sp>
        <p:nvSpPr>
          <p:cNvPr id="621" name="Google Shape;621;p54"/>
          <p:cNvSpPr txBox="1"/>
          <p:nvPr/>
        </p:nvSpPr>
        <p:spPr>
          <a:xfrm>
            <a:off x="781050" y="371626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22" name="Google Shape;622;p54"/>
          <p:cNvSpPr txBox="1"/>
          <p:nvPr/>
        </p:nvSpPr>
        <p:spPr>
          <a:xfrm>
            <a:off x="914400" y="3718173"/>
            <a:ext cx="11277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Klik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Apply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OK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/>
          <p:nvPr/>
        </p:nvSpPr>
        <p:spPr>
          <a:xfrm>
            <a:off x="609600" y="2887860"/>
            <a:ext cx="10972800" cy="14668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5"/>
          <p:cNvSpPr/>
          <p:nvPr/>
        </p:nvSpPr>
        <p:spPr>
          <a:xfrm>
            <a:off x="5715000" y="4583310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PRAKTIKUM 03: COMMAND LINE</a:t>
            </a:r>
            <a:endParaRPr/>
          </a:p>
        </p:txBody>
      </p:sp>
      <p:sp>
        <p:nvSpPr>
          <p:cNvPr id="630" name="Google Shape;630;p5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Eksekusi Masquerade (CLI)</a:t>
            </a:r>
            <a:endParaRPr/>
          </a:p>
        </p:txBody>
      </p:sp>
      <p:sp>
        <p:nvSpPr>
          <p:cNvPr id="631" name="Google Shape;631;p55"/>
          <p:cNvSpPr txBox="1"/>
          <p:nvPr/>
        </p:nvSpPr>
        <p:spPr>
          <a:xfrm>
            <a:off x="914400" y="3192660"/>
            <a:ext cx="1045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/ip firewall nat add chain=srcnat out-interface=ether1 action=masquerade \ comment="Berikan akses internet LAN"</a:t>
            </a:r>
            <a:endParaRPr/>
          </a:p>
        </p:txBody>
      </p:sp>
      <p:sp>
        <p:nvSpPr>
          <p:cNvPr id="632" name="Google Shape;632;p55"/>
          <p:cNvSpPr txBox="1"/>
          <p:nvPr/>
        </p:nvSpPr>
        <p:spPr>
          <a:xfrm>
            <a:off x="-381000" y="4869060"/>
            <a:ext cx="12954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Syarat utama seluruh jaringan LAN agar terkoneksi internet publik.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6"/>
          <p:cNvSpPr/>
          <p:nvPr/>
        </p:nvSpPr>
        <p:spPr>
          <a:xfrm>
            <a:off x="609600" y="2377231"/>
            <a:ext cx="10972800" cy="175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56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PRAKTIKUM 04: GABUNGAN</a:t>
            </a:r>
            <a:endParaRPr/>
          </a:p>
        </p:txBody>
      </p:sp>
      <p:sp>
        <p:nvSpPr>
          <p:cNvPr id="639" name="Google Shape;639;p5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Port Forwarding Server Lokal</a:t>
            </a:r>
            <a:endParaRPr/>
          </a:p>
        </p:txBody>
      </p:sp>
      <p:sp>
        <p:nvSpPr>
          <p:cNvPr id="640" name="Google Shape;640;p56"/>
          <p:cNvSpPr txBox="1"/>
          <p:nvPr/>
        </p:nvSpPr>
        <p:spPr>
          <a:xfrm>
            <a:off x="609600" y="1828651"/>
            <a:ext cx="11582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Skenario: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Meneruskan port publik 8080 menuju Web Server lokal 192.168.1.100 port 80.</a:t>
            </a:r>
            <a:endParaRPr/>
          </a:p>
        </p:txBody>
      </p:sp>
      <p:sp>
        <p:nvSpPr>
          <p:cNvPr id="641" name="Google Shape;641;p56"/>
          <p:cNvSpPr txBox="1"/>
          <p:nvPr/>
        </p:nvSpPr>
        <p:spPr>
          <a:xfrm>
            <a:off x="914400" y="2682031"/>
            <a:ext cx="1045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/ip firewall nat add chain=dstnat protocol=tcp dst-port=8080 \ action=dst-nat to-addresses=192.168.1.100 to-ports=80 \ comment="Port Forward Web Server"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6" name="Google Shape;64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0" y="1695598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7"/>
          <p:cNvSpPr txBox="1"/>
          <p:nvPr/>
        </p:nvSpPr>
        <p:spPr>
          <a:xfrm>
            <a:off x="982860" y="2952898"/>
            <a:ext cx="10226278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Fondasi Keamanan Kokoh</a:t>
            </a:r>
            <a:endParaRPr/>
          </a:p>
        </p:txBody>
      </p:sp>
      <p:sp>
        <p:nvSpPr>
          <p:cNvPr id="648" name="Google Shape;648;p57"/>
          <p:cNvSpPr txBox="1"/>
          <p:nvPr/>
        </p:nvSpPr>
        <p:spPr>
          <a:xfrm>
            <a:off x="1333500" y="3851969"/>
            <a:ext cx="9525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Anda telah menguasai tiga pilar firewall MikroTik: Chain arah aliran, Filter aturan mutlak, dan Translasi IP publik.</a:t>
            </a:r>
            <a:endParaRPr/>
          </a:p>
        </p:txBody>
      </p:sp>
      <p:sp>
        <p:nvSpPr>
          <p:cNvPr id="649" name="Google Shape;649;p57"/>
          <p:cNvSpPr txBox="1"/>
          <p:nvPr/>
        </p:nvSpPr>
        <p:spPr>
          <a:xfrm>
            <a:off x="4208859" y="4796730"/>
            <a:ext cx="3774281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SESI TANYA JAWAB PRAKTIKUM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