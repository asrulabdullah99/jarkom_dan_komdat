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presProps" Target="presProps.xml" /><Relationship Id="rId50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viewProps" Target="viewProps.xml" /><Relationship Id="rId8" Type="http://schemas.openxmlformats.org/officeDocument/2006/relationships/slide" Target="slides/slide7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65302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254597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MODUL KOMPREHENSIF JARINGAN NIRKABEL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68922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Inter"/>
              </a:rPr>
              <a:t>Praktikum Wireless 802.11, Setup AP/Station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98552"/>
            <a:ext cx="676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Standar IEEE 802.11 a/b/g/n/ac, Konfigurasi Perangkat, Keamanan, dan Analisis Spektrum.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69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069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069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06910"/>
            <a:ext cx="38100" cy="1638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906910"/>
            <a:ext cx="38100" cy="1638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906910"/>
            <a:ext cx="38100" cy="1638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Agenda Pembelajaran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211710"/>
            <a:ext cx="3750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1. Teori Standar 802.11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554610"/>
            <a:ext cx="295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Evolusi standar WiFi dari a, b, g, n, hingga ac beserta karakteristik frekuensi dan modulasi.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3211710"/>
            <a:ext cx="3750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2. Setup AP, Station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3554610"/>
            <a:ext cx="295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Praktikum konfigurasi Access Point, mode Station, dan pengamanan WPA2/WPA3.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3211710"/>
            <a:ext cx="3750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3. Wireless Tools &amp; Analisis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554610"/>
            <a:ext cx="295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Penggunaan Snooper dan Scanner untuk optimasi kanal dan troubleshooting interferensi.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38787" y="2714625"/>
            <a:ext cx="11144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Inter"/>
              </a:rPr>
              <a:t>MODUL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2904" y="3028950"/>
            <a:ext cx="952619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Standar IEEE 802.11 (a/b/g/n/ac)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43325"/>
            <a:ext cx="7143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Memahami evolusi teknologi komunikasi nirkabel dan spesifikasi teknisnya.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1775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1775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Pengenalan Standar IEEE 802.11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14675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Standar Industri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514725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IEEE 802.11 adalah sekumpulan spesifikasi kontrol akses media (MAC) dan lapisan fisik (PHY) untuk komunikasi LAN nirkabel (WLAN) pada frekuensi 2.4, 5, dan 6 GHz.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114675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Evolusi Kecepatan &amp; Jangkauan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514725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Setiap generasi menghadirkan peningkatan throughput, efisiensi spektral, modulasi lebih padat, serta teknologi antena canggih (MIMO).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692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692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692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Standar 802.11b (Tahun 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" y="3273623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Frekuensi Operasi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" y="3511748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2.4 GHz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" y="3997523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Pita ISM tanpa lisensi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8625" y="3273623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Kecepatan Maksimal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8625" y="3511748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11 Mbps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8625" y="3997523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Modulasi DSSS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2425" y="3273623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Karakteristik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2425" y="3511748"/>
            <a:ext cx="37147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Jangkauan Luas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3902273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Rentan interferensi gelombang 2.4GHz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609600" y="3006923"/>
            <a:ext cx="3505200" cy="1438200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343400" y="3006923"/>
            <a:ext cx="3505200" cy="1438200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077200" y="3006923"/>
            <a:ext cx="3505200" cy="1438200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Standar 802.11a (Tahun 1999)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04825" y="3273623"/>
            <a:ext cx="37149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Frekuensi Operasi</a:t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504825" y="3511748"/>
            <a:ext cx="3714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 GHz</a:t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04825" y="3997523"/>
            <a:ext cx="37149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Lebih bersih dari 2.4 GHz</a:t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4238625" y="3273623"/>
            <a:ext cx="37149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Kecepatan Maksimal</a:t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4238625" y="3511748"/>
            <a:ext cx="3714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54 Mbps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972425" y="3273623"/>
            <a:ext cx="37149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Karakteristik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7972425" y="3511748"/>
            <a:ext cx="37149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Jangkauan Pendek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7972425" y="3902273"/>
            <a:ext cx="37149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Lemah menembus dinding tebal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09600" y="3006923"/>
            <a:ext cx="3505200" cy="1438200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343400" y="3006923"/>
            <a:ext cx="3505200" cy="1438200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077200" y="3006923"/>
            <a:ext cx="3505200" cy="1438200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Standar 802.11g (Tahun 2003)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504825" y="3273623"/>
            <a:ext cx="37149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Frekuensi Operasi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504825" y="3511748"/>
            <a:ext cx="3714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2.4 GHz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504825" y="3997523"/>
            <a:ext cx="37149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Kompatibel mundur dengan 11b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4238625" y="3273623"/>
            <a:ext cx="37149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Kecepatan Maksimal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4238625" y="3511748"/>
            <a:ext cx="3714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54 Mbps</a:t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7972425" y="3273623"/>
            <a:ext cx="37149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Karakteristik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7972425" y="3511748"/>
            <a:ext cx="37149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Sangat Populer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7972425" y="3902273"/>
            <a:ext cx="37149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 keemasan era awal WiFi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6435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16435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16435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Standar 802.11n / Wi-Fi 4 (Tahun 2009)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" y="3183135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Frekuensi Operasi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" y="3421260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2.4 &amp; 5 GHz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" y="3907035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Dual-band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8625" y="3183135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Kecepatan Maksimal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8625" y="3421260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600 Mbps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8625" y="3907035"/>
            <a:ext cx="3714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Teknologi MIMO (Multiple Input Multiple Output)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2425" y="3183135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Lebar Kanal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2425" y="3421260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20 / 40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3907035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Bonding channel untuk throughput tinggi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692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692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692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Standar 802.11ac / Wi-Fi 5 (Tahun 2013)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" y="3273623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Frekuensi Operasi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" y="3511748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5 GHz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" y="3997523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Spektrum bersih minim interferensi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8625" y="3273623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Kecepatan Maksimal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8625" y="3511748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3.5 Gbps+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8625" y="3997523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Modulasi 256-QAM &amp; MU-MIMO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2425" y="3273623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Lebar Kanal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2425" y="3511748"/>
            <a:ext cx="3714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80 / 160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3997523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Kapasitas lebar untuk streaming 4K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25973"/>
            <a:ext cx="223986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49463" y="3025973"/>
            <a:ext cx="219729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46761" y="3025973"/>
            <a:ext cx="232484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71605" y="3025973"/>
            <a:ext cx="154513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16739" y="3025973"/>
            <a:ext cx="266566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540198"/>
          <a:ext cx="10972798" cy="2371725"/>
        </p:xfrm>
        <a:graphic>
          <a:graphicData uri="http://schemas.openxmlformats.org/drawingml/2006/table">
            <a:tbl>
              <a:tblPr/>
              <a:tblGrid>
                <a:gridCol w="22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5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Standar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Frekuensi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Bandwidth Kanal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Max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Modulasi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Inter"/>
                        </a:rPr>
                        <a:t>802.11b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2.4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20 MHz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11 Mbps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DSSS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Inter"/>
                        </a:rPr>
                        <a:t>802.11a / 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5 GHz / 2.4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20 MHz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54 Mbps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OFDM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Inter"/>
                        </a:rPr>
                        <a:t>802.11n (WiFi 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2.4 &amp; 5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20 / 40 MHz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600 Mbps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64-QAM, MIMO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Inter"/>
                        </a:rPr>
                        <a:t>802.11ac (WiFi 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5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80 / 160 MHz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3.5+ Gbps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Inter"/>
                        </a:rPr>
                        <a:t>256-QAM, MU-MIMO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Ringkasan Perbandingan Spesifikasi 802.11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2690"/>
            <a:ext cx="5334000" cy="2026741"/>
          </a:xfrm>
          <a:prstGeom prst="roundRect">
            <a:avLst>
              <a:gd name="adj" fmla="val 5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12690"/>
            <a:ext cx="5334000" cy="2026741"/>
          </a:xfrm>
          <a:prstGeom prst="roundRect">
            <a:avLst>
              <a:gd name="adj" fmla="val 5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Analisis Propagasi: 2.4 GHz vs 5 GHz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55590"/>
            <a:ext cx="61007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Pita 2.4 GHz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436590"/>
            <a:ext cx="581025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Jangkauan: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Luas dan jauh.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794670"/>
            <a:ext cx="581025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Penetrasi dinding: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Sangat baik.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52751"/>
            <a:ext cx="581025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Interferensi: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Tinggi (Bluetooth, microwave, kanal sempit).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055590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Pita 5 GHz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436590"/>
            <a:ext cx="56007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Jangkauan: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Lebih pendek.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794670"/>
            <a:ext cx="56007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Penetrasi dinding: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Sedang hingga lemah.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4152751"/>
            <a:ext cx="56007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Interferensi: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Rendah (kanal lebar, spektrum luas).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4555"/>
            <a:ext cx="5334000" cy="2183010"/>
          </a:xfrm>
          <a:prstGeom prst="roundRect">
            <a:avLst>
              <a:gd name="adj" fmla="val 5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34555"/>
            <a:ext cx="5334000" cy="2183010"/>
          </a:xfrm>
          <a:prstGeom prst="roundRect">
            <a:avLst>
              <a:gd name="adj" fmla="val 5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Manajemen Kanal 2.4 GHz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77455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Kanal 1, 6, dan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377505"/>
            <a:ext cx="4743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Pada standar 802.11 b/g/n di frekuensi 2.4 GHz, hanya ada 3 kanal yang tidak saling tumpang tindih (non-overlapping) dengan lebar 20 MHz, yaitu kanal 1, 6, dan 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2977455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Dampak Salah Konfigurasi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377505"/>
            <a:ext cx="4743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Menggunakan kanal berdekatan (misal AP1 di kanal 2 dan AP2 di kanal 3) akan memicu ko-channel interference yang menurunkan performa jaringan secara drastis.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Rangkuman Modul 1: Standar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Legacy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802.11b &amp; 802.11g beroperasi di 2.4 GHz dengan kecepatan maksimal 11 Mbps dan 54 Mbps.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High Throughput (HT)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61754"/>
            <a:ext cx="3067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802.11n memperkenalkan MIMO dan dual-band untuk kecepatan hingga 600 Mbps.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47429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Very High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802.11ac eksklusif di 5 GHz dengan kanal lebar 80/160 MHz menembus kecepatan gigabit.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24500" y="2533650"/>
            <a:ext cx="1143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Inter"/>
              </a:rPr>
              <a:t>MODUL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" y="2847975"/>
            <a:ext cx="10001250" cy="1123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Setup AP, Station, &amp; Security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1046" y="4124325"/>
            <a:ext cx="6869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Praktikum langsung konfigurasi perangkat nirkabel pada RouterOS.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609600" y="2771775"/>
            <a:ext cx="5334000" cy="190860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248400" y="2771775"/>
            <a:ext cx="5334000" cy="190860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051850" y="3119428"/>
            <a:ext cx="1040400" cy="2382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9890407" y="3119403"/>
            <a:ext cx="1554900" cy="2382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Topologi Jaringan Praktikum</a:t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952500" y="3114675"/>
            <a:ext cx="6100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Perangkat Access Point (AP)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952500" y="3475084"/>
            <a:ext cx="4743600" cy="1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Bertindak sebagai pemancar sinyal utama. Menggunakan mode , SSID kustom, band 2GHz-only/5GHz-only, serta enkripsi WPA2-PSK.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6591300" y="3114675"/>
            <a:ext cx="3724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Perangkat Station (Client)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6591300" y="3475082"/>
            <a:ext cx="4743600" cy="1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Bertindak sebagai penerima/client nirkabel. Menggunakan mode untuk menghubungkan jaringan lokal secara transparan ke AP.</a:t>
            </a: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4213947" y="3114666"/>
            <a:ext cx="8783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ap-bridge</a:t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9999441" y="3138476"/>
            <a:ext cx="1829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station-bridge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609600" y="2626965"/>
            <a:ext cx="10972800" cy="2198400"/>
          </a:xfrm>
          <a:prstGeom prst="roundRect">
            <a:avLst>
              <a:gd name="adj" fmla="val 519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52500" y="3396555"/>
            <a:ext cx="10287000" cy="743100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Langkah 1: Persiapan &amp; Cek Interface Wireless</a:t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952500" y="2969865"/>
            <a:ext cx="1123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Buka Winbox atau CLI pada perangkat MikroTik Access Point Anda, lalu jalankan perintah berikut:</a:t>
            </a:r>
            <a:endParaRPr/>
          </a:p>
        </p:txBody>
      </p:sp>
      <p:sp>
        <p:nvSpPr>
          <p:cNvPr id="61" name="Google Shape;61;p4"/>
          <p:cNvSpPr txBox="1"/>
          <p:nvPr/>
        </p:nvSpPr>
        <p:spPr>
          <a:xfrm>
            <a:off x="1143000" y="3587055"/>
            <a:ext cx="10001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/interface wireless print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/interface wireless enable wlan1</a:t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1059642" y="4207799"/>
            <a:ext cx="11239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Pastikan interface dalam status aktif (tidak ada tanda huruf 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50765"/>
            <a:ext cx="10972800" cy="2350740"/>
          </a:xfrm>
          <a:prstGeom prst="roundRect">
            <a:avLst>
              <a:gd name="adj" fmla="val 48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" y="3320355"/>
            <a:ext cx="10287000" cy="895350"/>
          </a:xfrm>
          <a:prstGeom prst="roundRect">
            <a:avLst>
              <a:gd name="adj" fmla="val 851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Langkah 2: Membuat Security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893665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Keamanan nirkabel wajib dikonfigurasi untuk mencegah akses ilegal. Buat profil keamanan WPA2: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510855"/>
            <a:ext cx="10001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monospace"/>
              </a:rPr>
              <a:t>/interface wireless security-profiles</a:t>
            </a:r>
            <a:r>
              <a:t>
</a:t>
            </a:r>
            <a:r>
              <a:rPr sz="1125" b="0" i="0" u="none">
                <a:solidFill>
                  <a:srgbClr val="38BDF8"/>
                </a:solidFill>
                <a:latin typeface="monospace"/>
              </a:rPr>
              <a:t> add name="profile-lab-tkj" mode=dynamic-keys authentication-types=wpa2-psk wpa2-pre-shared-key="PasswordPraktikum123"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368105"/>
            <a:ext cx="11239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Profil ini akan mengenkripsi trafik menggunakan algoritma AES.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09600" y="2388840"/>
            <a:ext cx="10972800" cy="2674500"/>
          </a:xfrm>
          <a:prstGeom prst="roundRect">
            <a:avLst>
              <a:gd name="adj" fmla="val 427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52500" y="3158430"/>
            <a:ext cx="10287000" cy="140970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Langkah 3: Konfigurasi Interface Access Point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952500" y="2731740"/>
            <a:ext cx="1123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Atur interface wlan1 sebagai Access Point utama dengan SSID dan kanal spesifik:</a:t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1143000" y="3348930"/>
            <a:ext cx="100014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/interface wireless set wlan1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mode=ap-bridge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ssid="Praktikum-AP"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band=2ghz-b/g/n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frequency=2412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security-profile=profile</a:t>
            </a:r>
            <a:r>
              <a:rPr lang="en-US" sz="1125">
                <a:solidFill>
                  <a:srgbClr val="38BDF8"/>
                </a:solidFill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609600" y="2717452"/>
            <a:ext cx="10972800" cy="2017500"/>
          </a:xfrm>
          <a:prstGeom prst="roundRect">
            <a:avLst>
              <a:gd name="adj" fmla="val 566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52500" y="3487042"/>
            <a:ext cx="10287000" cy="561900"/>
          </a:xfrm>
          <a:prstGeom prst="roundRect">
            <a:avLst>
              <a:gd name="adj" fmla="val 135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Langkah 4: Verifikasi Status Access Point</a:t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952500" y="3060352"/>
            <a:ext cx="1123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Periksa apakah Access Point sudah aktif dan memancarkan beacon dengan perintah: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1143000" y="3677542"/>
            <a:ext cx="100014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/interface wireless monitor wlan1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952500" y="4201417"/>
            <a:ext cx="11239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Pastikan status menunjukkan flag dan frekuensi sesuai.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609600" y="2560290"/>
            <a:ext cx="10972800" cy="2331600"/>
          </a:xfrm>
          <a:prstGeom prst="roundRect">
            <a:avLst>
              <a:gd name="adj" fmla="val 49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952500" y="3329880"/>
            <a:ext cx="10287000" cy="1066800"/>
          </a:xfrm>
          <a:prstGeom prst="roundRect">
            <a:avLst>
              <a:gd name="adj" fmla="val 7142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609600" y="457200"/>
            <a:ext cx="1158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Langkah 5: Konfigurasi Perangkat Station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952500" y="2903190"/>
            <a:ext cx="1123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Pindah ke router kedua sebagai client/station yang akan terhubung ke Access Point: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1143000" y="3520380"/>
            <a:ext cx="10001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/interface wireless set wlan1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mode=station-bridge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ssid="Praktikum-AP"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  security-profile=profile</a:t>
            </a:r>
            <a:r>
              <a:rPr lang="en-US" sz="1125">
                <a:solidFill>
                  <a:srgbClr val="38BDF8"/>
                </a:solidFill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7452"/>
            <a:ext cx="10972800" cy="2017365"/>
          </a:xfrm>
          <a:prstGeom prst="roundRect">
            <a:avLst>
              <a:gd name="adj" fmla="val 56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" y="3487042"/>
            <a:ext cx="10287000" cy="561975"/>
          </a:xfrm>
          <a:prstGeom prst="roundRect">
            <a:avLst>
              <a:gd name="adj" fmla="val 135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Langkah 6: Cek Registration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6035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Pada sisi Access Point, cek daftar klien yang terhubung melalui perintah: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77542"/>
            <a:ext cx="10001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monospace"/>
              </a:rPr>
              <a:t>/interface wireless registration-table 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201417"/>
            <a:ext cx="11239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Jika konfigurasi benar, MAC address station akan muncul beserta informasi signal strength (RSSI).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7452"/>
            <a:ext cx="10972800" cy="2017365"/>
          </a:xfrm>
          <a:prstGeom prst="roundRect">
            <a:avLst>
              <a:gd name="adj" fmla="val 56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" y="3487042"/>
            <a:ext cx="10287000" cy="561975"/>
          </a:xfrm>
          <a:prstGeom prst="roundRect">
            <a:avLst>
              <a:gd name="adj" fmla="val 135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Langkah 7: Pengujian Konektivitas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6035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Tambahkan IP Address pada interface bridge atau wlan di kedua perangkat, lalu lakukan tes ping: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77542"/>
            <a:ext cx="10001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monospace"/>
              </a:rPr>
              <a:t>ping 192.168.88.1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201417"/>
            <a:ext cx="11239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Pastikan reply diterima tanpa adanya packet loss.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Rangkuman Modul 2: Setup AP &amp; 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Mode AP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Memancarkan jaringan nirkabel dan melayani koneksi banyak client secara bersamaan.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Mode Station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Menghubungkan router client ke AP dengan kemampuan bridging layer-2 yang transparan.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47429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Security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61754"/>
            <a:ext cx="3067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WPA2-PSK dengan AES mengenkripsi data agar aman dari penyadapan udara.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24500" y="2433637"/>
            <a:ext cx="1143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Inter"/>
              </a:rPr>
              <a:t>MODUL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" y="2747962"/>
            <a:ext cx="10001250" cy="1123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Wireless Tools (Snooper, Scanner)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024312"/>
            <a:ext cx="7143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Teknik analisis spektrum, deteksi interferensi, dan optimasi jaringan nirkabel.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4555"/>
            <a:ext cx="5334000" cy="2183010"/>
          </a:xfrm>
          <a:prstGeom prst="roundRect">
            <a:avLst>
              <a:gd name="adj" fmla="val 5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1626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91300" y="3798391"/>
            <a:ext cx="834628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21178" y="3798391"/>
            <a:ext cx="834628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51056" y="3798391"/>
            <a:ext cx="1657647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91300" y="4072681"/>
            <a:ext cx="834628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Pentingnya Tools Diagnostik Wireless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977455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Mengapa Perlu Analisis?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7505"/>
            <a:ext cx="4743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Gelombang radio bersifat tidak kasat mata. Tanpa alat ukur yang tepat, administrator tidak dapat mengetahui sumber interferensi, kualitas kanal, maupun okupansi frekuensi tetangga.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114526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Suite Tools MikroTik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514576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RouterOS menyediakan berbagai tools bawaan seperti , , , dan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8450" y="3817441"/>
            <a:ext cx="10060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monospace"/>
              </a:rPr>
              <a:t>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8328" y="3817441"/>
            <a:ext cx="10060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monospace"/>
              </a:rPr>
              <a:t>Snooper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8206" y="3817441"/>
            <a:ext cx="19577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monospace"/>
              </a:rPr>
              <a:t>Frequency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4091731"/>
            <a:ext cx="10060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monospace"/>
              </a:rPr>
              <a:t>Sniffer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4555"/>
            <a:ext cx="5334000" cy="2183010"/>
          </a:xfrm>
          <a:prstGeom prst="roundRect">
            <a:avLst>
              <a:gd name="adj" fmla="val 5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1626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Mengenal Wireless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77455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Fungsi Utama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377505"/>
            <a:ext cx="4743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Alat ini memindai seluruh kanal aktif dan menampilkan daftar Access Point di sekitar perangkat beserta informasi MAC Address, SSID, sinyal (RSSI), frekuensi, dan band yang digunakan.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114526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Kegunaan Praktis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514576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Sangat berguna saat melakukan site survey untuk menentukan kanal yang paling lengang sebelum mendirikan Access Point baru.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7452"/>
            <a:ext cx="10972800" cy="2017365"/>
          </a:xfrm>
          <a:prstGeom prst="roundRect">
            <a:avLst>
              <a:gd name="adj" fmla="val 56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" y="3487042"/>
            <a:ext cx="10287000" cy="561975"/>
          </a:xfrm>
          <a:prstGeom prst="roundRect">
            <a:avLst>
              <a:gd name="adj" fmla="val 135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62325" y="4191892"/>
            <a:ext cx="845939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22614" y="4191892"/>
            <a:ext cx="1211758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39222" y="4191892"/>
            <a:ext cx="480119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Praktikum Menggunakan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6035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Jalankan perintah berikut melalui Terminal MikroTik untuk melakukan pemindaian nirkabel: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77542"/>
            <a:ext cx="10001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monospace"/>
              </a:rPr>
              <a:t>/interface wireless scan wlan1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8064" y="4399385"/>
            <a:ext cx="11239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Atau melalui Winbox: Buka menu -&gt; tab / tombol di kanan.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475" y="4210942"/>
            <a:ext cx="101738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monospace"/>
              </a:rPr>
              <a:t>Wireless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9764" y="4210942"/>
            <a:ext cx="140039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monospace"/>
              </a:rPr>
              <a:t>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572" y="4207359"/>
            <a:ext cx="6515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monospace"/>
              </a:rPr>
              <a:t>Scan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4555"/>
            <a:ext cx="5334000" cy="2183010"/>
          </a:xfrm>
          <a:prstGeom prst="roundRect">
            <a:avLst>
              <a:gd name="adj" fmla="val 5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1626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Mengenal Wireless Snooper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77455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Analisis Trafik &amp;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377505"/>
            <a:ext cx="4743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Snooper memiliki kemampuan lebih lanjut dibanding scanner biasa. Alat ini memantau beban trafik, jumlah station yang terhubung ke AP tetangga, serta utilisasi bandwidth per kanal secara real-time.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114526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Identifikasi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514576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Membantu administrator melihat Access Point mana yang sedang mengalami kepadatan trafik tinggi sehingga dapat menghindari kanal tersebut.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7452"/>
            <a:ext cx="10972800" cy="2017365"/>
          </a:xfrm>
          <a:prstGeom prst="roundRect">
            <a:avLst>
              <a:gd name="adj" fmla="val 56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" y="3487042"/>
            <a:ext cx="10287000" cy="561975"/>
          </a:xfrm>
          <a:prstGeom prst="roundRect">
            <a:avLst>
              <a:gd name="adj" fmla="val 135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Praktikum Menggunakan Snooper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6035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Jalankan perintah Snooper melalui CLI MikroTik untuk memantau spektrum frekuensi: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77542"/>
            <a:ext cx="10001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monospace"/>
              </a:rPr>
              <a:t>/interface wireless snooper snoop wlan1 channel-time=2s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201417"/>
            <a:ext cx="11239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Alat akan merekam seluruh aktivitas pada rentang frekuensi yang didukung kartu radio.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1775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1775"/>
            <a:ext cx="5334000" cy="1908720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00788" y="3114675"/>
            <a:ext cx="1657647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Analisis Penggunaan Frekuensi (Freq Usage)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114675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Deteksi Noise &amp; Beban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429000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Tool mengukur tingkat kebisingan (noise floor) dan persentase penggunaan pada setiap kanal.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114675"/>
            <a:ext cx="56007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Pemilihan Kanal Optimal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514725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Pilih frekuensi dengan tingkat okupansi terendah untuk memastikan kestabilan koneksi wireless jarak jauh (PtP maupun PtMP).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8494" y="3071812"/>
            <a:ext cx="19577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monospace"/>
              </a:rPr>
              <a:t>Frequency Usage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Studi Kasus: Mengatasi Koneksi Lambat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1. Gejala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Koneksi client sering putus-putus dan ping berfluktuasi tinggi di area perkantoran padat.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2. Diagnostik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Gunakan Wireless Scanner &amp; Snooper untuk mendeteksi adanya 10+ AP lain di kanal yang sama.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47429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3. Solusi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Pindahkan AP ke kanal non-overlapping yang lebih sepi atau migrasi ke pita 5 GHz (802.11ac).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Best Practices Keamanan Nirkabel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Hindari WEP / WPA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Protokol WEP dan WPA sangat rentan dibobol. Selalu gunakan minimal WPA2-PSK atau WPA3.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Matikan WPS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Wi-Fi Protected Setup (WPS) memiliki celah keamanan brute-force PIN yang mudah dieksploitasi.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47429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Isolasi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Gunakan fitur default forward atau client isolation pada hotspot publik untuk keamanan antar pengguna.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8880"/>
            <a:ext cx="5334000" cy="1554360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48880"/>
            <a:ext cx="5334000" cy="1554360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Rangkuman Modul 3: Wireless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291780"/>
            <a:ext cx="61007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672780"/>
            <a:ext cx="4743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Alat dasar pemindai AP sekitar untuk mengetahui SSID, sinyal, dan kanal tetangga secara instan.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291780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Snooper &amp; Freq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672780"/>
            <a:ext cx="4743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Analisis mendalam terhadap trafik, okupansi frekuensi, dan tingkat kebisingan untuk penentuan kanal terbaik.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0729"/>
            <a:ext cx="3505200" cy="1490662"/>
          </a:xfrm>
          <a:prstGeom prst="roundRect">
            <a:avLst>
              <a:gd name="adj" fmla="val 76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Kesimpulan Modul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1. Standar 802.11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61754"/>
            <a:ext cx="3067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Pemahaman karakteristik fisik band 2.4 GHz dan 5 GHz dari standar b/g/n hingga ac.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47429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2. Setup Perangkat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61754"/>
            <a:ext cx="3067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Kemampuan konfigurasi AP, station, dan profil keamanan WPA2-PSK di RouterOS.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47429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3. Wireless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61754"/>
            <a:ext cx="3067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Keahlian troubleshooting menggunakan Scanner dan Snooper untuk mitigasi interferensi.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2782"/>
            <a:ext cx="10972800" cy="1986706"/>
          </a:xfrm>
          <a:prstGeom prst="roundRect">
            <a:avLst>
              <a:gd name="adj" fmla="val 57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Evaluasi Mandiri &amp; Diskusi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07568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Diskusikan pertanyaan berikut bersama kelompok praktikum Anda: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3500467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822" y="3424206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Mengapa kanal 1, 6, dan 11 menjadi pilihan terbaik pada jaringan 2.4 GHz?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791872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018579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Apa perbedaan mendasar antara mode biasa dengan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083278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822" y="3737712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Bagaimana cara kerja Snooper dalam mendeteksi beban kanal di sekitar Anda?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6990"/>
            <a:ext cx="5334000" cy="1798141"/>
          </a:xfrm>
          <a:prstGeom prst="roundRect">
            <a:avLst>
              <a:gd name="adj" fmla="val 63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26990"/>
            <a:ext cx="5334000" cy="1798141"/>
          </a:xfrm>
          <a:prstGeom prst="roundRect">
            <a:avLst>
              <a:gd name="adj" fmla="val 63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Tips Lanjutan Optimasi Performa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69890"/>
            <a:ext cx="61007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Pengaturan Tx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550890"/>
            <a:ext cx="4743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Jangan selalu menggunakan daya pancar (Tx Power) maksimal jika jarak dekat. Daya terlalu besar dapat memicu distorsi sinyal dan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receiver overload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169890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Pemilihan Lebar Kanal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550890"/>
            <a:ext cx="4743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Gunakan kanal 20 MHz pada area padat 2.4 GHz agar tahan terhadap interferensi, dan gunakan 40/80 MHz di 5 GHz untuk kecepatan maksimal.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2782"/>
            <a:ext cx="10972800" cy="1986706"/>
          </a:xfrm>
          <a:prstGeom prst="roundRect">
            <a:avLst>
              <a:gd name="adj" fmla="val 57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Troubleshooting: Station Gagal Koneksi ke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07568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Jika station gagal terhubung, periksa parameter berikut: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3500467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3502372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Pastikan penulisan SSID persis sama (case-sensitive).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3791872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793777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Pastikan Security Profile dan Password WPA2 sudah identik.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4083278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085183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Periksa apakah band yang dipilih didukung oleh kedua perangkat radio.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2782"/>
            <a:ext cx="10972800" cy="1986706"/>
          </a:xfrm>
          <a:prstGeom prst="roundRect">
            <a:avLst>
              <a:gd name="adj" fmla="val 57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Referensi &amp; Dokumentasi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07568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Untuk pendalaman materi lebih lanjut, Anda dapat merujuk pada sumber berikut: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3500467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3502372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Dokumentasi Resmi MikroTik RouterOS Manual (manual.mikrotik.com)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3791872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793777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Standar Spesifikasi IEEE 802.11 (ieee.org)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4083278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085183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Modul Pelatihan MikroTik MTCNA &amp; MTCWE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2782"/>
            <a:ext cx="10972800" cy="1986706"/>
          </a:xfrm>
          <a:prstGeom prst="roundRect">
            <a:avLst>
              <a:gd name="adj" fmla="val 57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81350" y="3530947"/>
            <a:ext cx="3806874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Logbook &amp; Dokumentasi Hasil Praktikum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75682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Setiap kelompok wajib mencatat poin-poin berikut dalam laporan praktikum: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850" y="3500467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502372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Screenshot hasil perintah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3791872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793777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Hasil tangkapan layar dari Wireless Scanner di area sekitar 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4083278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085183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Analisis kestabilan ping antara Station dan Access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500" y="3549997"/>
            <a:ext cx="46442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monospace"/>
              </a:rPr>
              <a:t>/interface wireless registration-table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1807" y="2890837"/>
            <a:ext cx="7088385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Sesi Tanya Jawab Praktikum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8812" y="3509962"/>
            <a:ext cx="833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Silakan ajukan pertanyaan seputar kendala konfigurasi standar 802.11, AP/Station, atau penggunaan wireless tools.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8484"/>
            <a:ext cx="10972800" cy="1695301"/>
          </a:xfrm>
          <a:prstGeom prst="roundRect">
            <a:avLst>
              <a:gd name="adj" fmla="val 67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Tugas Mandiri / Tugas Rumah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221384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Kerjakan tugas berikut secara mandiri: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3646170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3648075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Buat ringkasan perbandingan teknologi MU-MIMO pada 802.11ac dan OFDMA pada standar 802.11ax.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3937575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939480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Simulasikan topologi jaringan wireless menggunakan perangkat virtual atau fisik di rumah.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8870"/>
            <a:ext cx="10972800" cy="123438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Refleksi &amp; Penutup 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451770"/>
            <a:ext cx="10382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"Penguasaan jaringan nirkabel tidak hanya berlandaskan teori standar protokol, melainkan kemampuan praktis dalam melakukan konfigurasi, pengamanan, serta analisis spektrum secara akurat di lapangan."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5787" y="2881312"/>
            <a:ext cx="34004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0F172A"/>
                </a:solidFill>
                <a:latin typeface="Inter"/>
              </a:rP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4125" y="3519487"/>
            <a:ext cx="7143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Semoga modul praktikum ini bermanfaat untuk menunjang kompetensi jaringan nirkabel Anda.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8484"/>
            <a:ext cx="10972800" cy="1695301"/>
          </a:xfrm>
          <a:prstGeom prst="roundRect">
            <a:avLst>
              <a:gd name="adj" fmla="val 67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Informasi &amp; Bantuan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221384"/>
            <a:ext cx="11239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Jika menemui kendala teknis lanjutan selama praktikum: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3646170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3648075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Konsultasikan dengan Asisten Laboratorium atau Instruktur Pengampu.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3937575"/>
            <a:ext cx="95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939480"/>
            <a:ext cx="11010900" cy="29140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Pastikan backup konfigurasi (.backup) selalu disimpan sebelum melakukan perubahan besar.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200" y="40005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7876" y="2819400"/>
            <a:ext cx="997624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Inter"/>
              </a:rPr>
              <a:t>Selesai - Sesi Praktikum Wireless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1046" y="3533775"/>
            <a:ext cx="6869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Sampai jumpa pada modul praktikum jaringan komputer berikutnya.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asrulabdullah99</cp:lastModifiedBy>
  <cp:revision>1</cp:revision>
  <dcterms:modified xsi:type="dcterms:W3CDTF">2026-10-12T08:00:38Z</dcterms:modified>
</cp:coreProperties>
</file>