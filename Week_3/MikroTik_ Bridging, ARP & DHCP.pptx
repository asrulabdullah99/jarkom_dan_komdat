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5030985"/>
            <a:ext cx="762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89859" y="1788914"/>
            <a:ext cx="30122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EA5E9"/>
                </a:solidFill>
                <a:latin typeface="Inter"/>
              </a:rPr>
              <a:t>PELATIHAN &amp; PRAKTIKUM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208014"/>
            <a:ext cx="11251406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Penguasaan Jaringan </a:t>
            </a:r>
            <a:r>
              <a:rPr b="1" sz="5400" i="0" u="none">
                <a:solidFill>
                  <a:srgbClr val="0EA5E9"/>
                </a:solidFill>
                <a:latin typeface="Space Grotesk"/>
              </a:rPr>
              <a:t>MikroTik RouterOS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4021335"/>
            <a:ext cx="71437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Konsep Bridging, Switching, ARP, dan Manajemen DHCP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76525"/>
            <a:ext cx="257175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2676525"/>
            <a:ext cx="2571750" cy="2447925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790825"/>
            <a:ext cx="257175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2790825"/>
            <a:ext cx="2571750" cy="2219325"/>
          </a:xfrm>
          <a:prstGeom prst="roundRect">
            <a:avLst>
              <a:gd name="adj" fmla="val 686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990850"/>
            <a:ext cx="19431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4275" y="2990850"/>
            <a:ext cx="19431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105150"/>
            <a:ext cx="19431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4975" y="3105150"/>
            <a:ext cx="19431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Target Kompetensi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676650"/>
            <a:ext cx="255031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Layer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124325"/>
            <a:ext cx="2038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Membedakan Switching dan Bridging.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275" y="3676650"/>
            <a:ext cx="255031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Offloading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75" y="4124325"/>
            <a:ext cx="20383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Optimalisasi performa Hardware Offload.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3790950"/>
            <a:ext cx="255031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Keamanan ARP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4238625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Pengamanan LAN dengan Static ARP.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4975" y="3790950"/>
            <a:ext cx="255031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Otomatisasi 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4238625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Konfigurasi DHCP Server &amp; Client.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/>
          <p:nvPr/>
        </p:nvSpPr>
        <p:spPr>
          <a:xfrm>
            <a:off x="609600" y="609600"/>
            <a:ext cx="11582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Persiapan Praktikum</a:t>
            </a:r>
            <a:endParaRPr/>
          </a:p>
        </p:txBody>
      </p:sp>
      <p:sp>
        <p:nvSpPr>
          <p:cNvPr id="39" name="Google Shape;39;p1"/>
          <p:cNvSpPr txBox="1"/>
          <p:nvPr/>
        </p:nvSpPr>
        <p:spPr>
          <a:xfrm>
            <a:off x="609600" y="2628900"/>
            <a:ext cx="5353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 Unit RouterBoard:</a:t>
            </a: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RB941 / RB750 per kelompok.</a:t>
            </a:r>
            <a:endParaRPr/>
          </a:p>
        </p:txBody>
      </p:sp>
      <p:sp>
        <p:nvSpPr>
          <p:cNvPr id="40" name="Google Shape;40;p1"/>
          <p:cNvSpPr txBox="1"/>
          <p:nvPr/>
        </p:nvSpPr>
        <p:spPr>
          <a:xfrm>
            <a:off x="609600" y="3333750"/>
            <a:ext cx="5353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Minimal 2 PC:</a:t>
            </a: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Bertindak sebagai klien jaringan.</a:t>
            </a:r>
            <a:endParaRPr/>
          </a:p>
        </p:txBody>
      </p:sp>
      <p:sp>
        <p:nvSpPr>
          <p:cNvPr id="41" name="Google Shape;41;p1"/>
          <p:cNvSpPr txBox="1"/>
          <p:nvPr/>
        </p:nvSpPr>
        <p:spPr>
          <a:xfrm>
            <a:off x="609600" y="4038600"/>
            <a:ext cx="6572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Kabel UTP:</a:t>
            </a: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Koneksi fisik LAN &amp; WAN.</a:t>
            </a:r>
            <a:endParaRPr/>
          </a:p>
        </p:txBody>
      </p:sp>
      <p:sp>
        <p:nvSpPr>
          <p:cNvPr id="42" name="Google Shape;42;p1"/>
          <p:cNvSpPr txBox="1"/>
          <p:nvPr/>
        </p:nvSpPr>
        <p:spPr>
          <a:xfrm>
            <a:off x="609600" y="4467225"/>
            <a:ext cx="5353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Aplikasi Winbox:</a:t>
            </a: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Terinstal pada PC administrator.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1895475"/>
            <a:ext cx="5257800" cy="1298525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422600"/>
            <a:ext cx="5257800" cy="1298525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4949725"/>
            <a:ext cx="5257800" cy="1298525"/>
          </a:xfrm>
          <a:prstGeom prst="roundRect">
            <a:avLst>
              <a:gd name="adj" fmla="val 1173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95475"/>
            <a:ext cx="5257800" cy="43529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SKENARIO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Topologi Jaringan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209800"/>
            <a:ext cx="55530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Port ether1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2581275"/>
            <a:ext cx="55530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Koneksi Internet (ISP) / WAN.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736925"/>
            <a:ext cx="55530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Port ether2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4108400"/>
            <a:ext cx="55530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Terhubung ke PC Klien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5264050"/>
            <a:ext cx="55530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Port ether3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925" y="5635525"/>
            <a:ext cx="55530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Terhubung ke PC Klien 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90775"/>
            <a:ext cx="5334000" cy="3019425"/>
          </a:xfrm>
          <a:prstGeom prst="roundRect">
            <a:avLst>
              <a:gd name="adj" fmla="val 5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390775"/>
            <a:ext cx="5334000" cy="3019425"/>
          </a:xfrm>
          <a:prstGeom prst="roundRect">
            <a:avLst>
              <a:gd name="adj" fmla="val 50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4006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390775"/>
            <a:ext cx="5334000" cy="76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390775"/>
            <a:ext cx="9525" cy="3019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34075" y="2390775"/>
            <a:ext cx="9525" cy="3019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48400" y="5400675"/>
            <a:ext cx="5334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8400" y="2390775"/>
            <a:ext cx="533400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48400" y="2390775"/>
            <a:ext cx="9525" cy="3019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2390775"/>
            <a:ext cx="9525" cy="30194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Review Singkat OSI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2771775"/>
            <a:ext cx="617577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Layer 2: Data Link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305175"/>
            <a:ext cx="5881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MAC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2725" y="2771775"/>
            <a:ext cx="5629275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Layer 3: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2725" y="3305175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IP Address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3810000"/>
            <a:ext cx="5881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Switching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238625"/>
            <a:ext cx="5881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Bridging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4667250"/>
            <a:ext cx="5881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ARP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2725" y="3810000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Routing Lintas Segmen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2725" y="4238625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Alokasi DHCP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2725" y="4667250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Firewall Filter L3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0" y="2853630"/>
            <a:ext cx="1143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EA5E9"/>
                </a:solidFill>
                <a:latin typeface="Inter"/>
              </a:rPr>
              <a:t>BAGIAN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1557" y="3272730"/>
            <a:ext cx="11088885" cy="731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Konsep Bridging &amp; Switching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53075" y="1862137"/>
            <a:ext cx="10858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DEFINISI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20715" y="2205037"/>
            <a:ext cx="4550568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Apa itu Switching?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33167" y="3148012"/>
            <a:ext cx="5325665" cy="971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6000" i="0" u="none">
                <a:solidFill>
                  <a:srgbClr val="0F172A"/>
                </a:solidFill>
                <a:latin typeface="Space Grotesk"/>
              </a:rPr>
              <a:t>OSI Layer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348162"/>
            <a:ext cx="9525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475569"/>
                </a:solidFill>
                <a:latin typeface="Inter"/>
              </a:rPr>
              <a:t>Proses meneruskan paket data pada jaringan lokal murni berdasarkan MAC Address.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48400" y="1828800"/>
            <a:ext cx="5334000" cy="122872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286125"/>
            <a:ext cx="5334000" cy="122872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4743450"/>
            <a:ext cx="5334000" cy="122872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79910"/>
            <a:ext cx="5334000" cy="30029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Karakteristik Switching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2143125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Wire-speed Kinerja Maksimal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514600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Meneruskan data secepat kapasitas kabel.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3600450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Hardware 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3971925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Diproses oleh Switch-Chip khusus.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5057775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Zero CPU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5429250"/>
            <a:ext cx="56292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CPU Router tidak bekerja untuk trafik antar 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28862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328862"/>
            <a:ext cx="5334000" cy="314325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900" y="2947987"/>
            <a:ext cx="5334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2947987"/>
            <a:ext cx="7620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Apa itu Bridging?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1353" y="3862387"/>
            <a:ext cx="3950493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Space Grotesk"/>
              </a:rPr>
              <a:t>Satu Domain Logikal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756" y="4395787"/>
            <a:ext cx="5881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Menggabungkan banyak antarmuka fisik menjadi satu jaringan utuh.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6428" y="3862387"/>
            <a:ext cx="3537942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0F172A"/>
                </a:solidFill>
                <a:latin typeface="Space Grotesk"/>
              </a:rPr>
              <a:t>Berbasis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4556" y="4395787"/>
            <a:ext cx="5881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Proses penyambungan dikerjakan oleh sistem operasi.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52687"/>
            <a:ext cx="5334000" cy="2895600"/>
          </a:xfrm>
          <a:prstGeom prst="roundRect">
            <a:avLst>
              <a:gd name="adj" fmla="val 5263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67000"/>
            <a:ext cx="5334000" cy="2466975"/>
          </a:xfrm>
          <a:prstGeom prst="roundRect">
            <a:avLst>
              <a:gd name="adj" fmla="val 6177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Karakteristik Bridging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57487"/>
            <a:ext cx="62007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369A1"/>
                </a:solidFill>
                <a:latin typeface="Space Grotesk"/>
              </a:rPr>
              <a:t>Sangat Fleksibel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200" y="2971800"/>
            <a:ext cx="56388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B45309"/>
                </a:solidFill>
                <a:latin typeface="Space Grotesk"/>
              </a:rPr>
              <a:t>Membebani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28987"/>
            <a:ext cx="5905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Menggabungkan port Ethernet (Fisik).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57612"/>
            <a:ext cx="5905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Menyatukan port WLAN (Wi-Fi).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86237"/>
            <a:ext cx="5905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Mengikat VPN Tunnel (EoIP).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4862"/>
            <a:ext cx="5905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Mendukung VLAN Filtering.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543300"/>
            <a:ext cx="56388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Trafik antar port diproses CPU.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971925"/>
            <a:ext cx="56388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Throughput bisa menurun.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400550"/>
            <a:ext cx="56388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CPU Load tinggi pada trafik berat.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60156" y="1300162"/>
            <a:ext cx="20716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SOLUSI MIKROTIK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33192" y="1643062"/>
            <a:ext cx="4925615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Hardware Offloading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2586037"/>
            <a:ext cx="12954000" cy="156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Space Grotesk"/>
              </a:rPr>
              <a:t>Fleksibilitas Bridge + Performa Switch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4452937"/>
            <a:ext cx="10715625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475569"/>
                </a:solidFill>
                <a:latin typeface="Inter"/>
              </a:rPr>
              <a:t>Memindahkan beban kalkulasi antarmuka dari CPU (Software) langsung ke Switch-Chip (Hardware) secara otomatis.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6550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76550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76550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Kapan Harus Menggunakan Bridge?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7148" y="3190875"/>
            <a:ext cx="830103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278" y="3924300"/>
            <a:ext cx="25598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Router sebagai Switch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4356" y="4229100"/>
            <a:ext cx="3595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Menggabungkan ether2-5 menjadi satu LAN.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45943" y="3190875"/>
            <a:ext cx="900112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19687" y="3924300"/>
            <a:ext cx="195262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Wired + Wireless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8156" y="4229100"/>
            <a:ext cx="3595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Menyatukan LAN kabel dengan jaringan Wi-Fi.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9743" y="3190875"/>
            <a:ext cx="900112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11815" y="3924300"/>
            <a:ext cx="20359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Inter"/>
              </a:rPr>
              <a:t>Layer 2 Tunneling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1956" y="4229100"/>
            <a:ext cx="3595687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Menyambung LAN antar gedung via VPN EoIP.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697384"/>
            <a:ext cx="10972800" cy="346323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697384"/>
            <a:ext cx="114300" cy="346323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443" y="2306984"/>
            <a:ext cx="12063412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991B1B"/>
                </a:solidFill>
                <a:latin typeface="Space Grotesk"/>
              </a:rPr>
              <a:t>Aturan Emas Bridging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587" y="3116609"/>
            <a:ext cx="12049125" cy="853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b="0" sz="2400" i="1" u="none">
                <a:solidFill>
                  <a:srgbClr val="B91C1C"/>
                </a:solidFill>
                <a:latin typeface="Inter"/>
              </a:rPr>
              <a:t>"Jangan pernah memasang IP Address pada port fisik yang menjadi anggota bridge!"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587" y="4274790"/>
            <a:ext cx="1204912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7F1D1D"/>
                </a:solidFill>
                <a:latin typeface="Inter"/>
              </a:rPr>
              <a:t>IP Address wajib dipasang pada interface Bridge-nya.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5437" y="2853630"/>
            <a:ext cx="1381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EA5E9"/>
                </a:solidFill>
                <a:latin typeface="Inter"/>
              </a:rPr>
              <a:t>SESI LAB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437" y="3272730"/>
            <a:ext cx="12049125" cy="731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Praktikum Bridging &amp; HW Offload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552575"/>
            <a:ext cx="5257800" cy="46958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552575"/>
            <a:ext cx="5257800" cy="4695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Skenario Praktikum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19375"/>
            <a:ext cx="6900862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Target Lab: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90875"/>
            <a:ext cx="6572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Gabungkan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ether2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dan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ether3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19500"/>
            <a:ext cx="6572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Buat interface logikal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bridge-LAN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048125"/>
            <a:ext cx="53530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Pasang IP Address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192.168.10.1/24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pada bridge.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52975"/>
            <a:ext cx="6572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Uji konektivitas PING antar PC.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10972800" cy="3190875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543550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LANGKAH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Membuat Interface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772150"/>
            <a:ext cx="106108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2E8F0"/>
                </a:solidFill>
                <a:latin typeface="JetBrains Mono"/>
              </a:rPr>
              <a:t>/interface bridge add name=bridge-LAN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209800"/>
            <a:ext cx="112680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Konfigurasi Via Winbox: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659380"/>
            <a:ext cx="16192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2657475"/>
            <a:ext cx="11039475" cy="36567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Klik menu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Bridge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3025050"/>
            <a:ext cx="20955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023145"/>
            <a:ext cx="11039475" cy="36567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Pada tab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Bridge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, klik ikon tambah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[+]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390721"/>
            <a:ext cx="20002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388816"/>
            <a:ext cx="11039475" cy="36567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Isi kolom </a:t>
            </a:r>
            <a:r>
              <a:rPr b="0" sz="1800" i="1" u="none">
                <a:solidFill>
                  <a:srgbClr val="334155"/>
                </a:solidFill>
                <a:latin typeface="Inter"/>
              </a:rPr>
              <a:t>Name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dengan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bridge-LAN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3756392"/>
            <a:ext cx="20955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3754487"/>
            <a:ext cx="11039475" cy="36567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Klik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OK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43075"/>
            <a:ext cx="10972800" cy="3190875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391150"/>
            <a:ext cx="10972800" cy="85725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LANGKAH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Memasukkan Port ke 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619750"/>
            <a:ext cx="10610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E2E8F0"/>
                </a:solidFill>
                <a:latin typeface="JetBrains Mono"/>
              </a:rPr>
              <a:t>/interface bridge port add bridge=bridge-LAN interface=ether2 hw=yes</a:t>
            </a:r>
            <a:r>
              <a:t>
</a:t>
            </a:r>
            <a:r>
              <a:rPr b="0" sz="1200" i="0" u="none">
                <a:solidFill>
                  <a:srgbClr val="E2E8F0"/>
                </a:solidFill>
                <a:latin typeface="JetBrains Mono"/>
              </a:rPr>
              <a:t> /interface bridge port add bridge=bridge-LAN interface=ether3 hw=yes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1981200"/>
            <a:ext cx="112680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Konfigurasi Via Winbox: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" y="2428875"/>
            <a:ext cx="1333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2428875"/>
            <a:ext cx="11039475" cy="30480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Pindah ke tab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Ports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(menu Bridge).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2733675"/>
            <a:ext cx="1714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2733675"/>
            <a:ext cx="11039475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Klik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[+]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038475"/>
            <a:ext cx="1714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038475"/>
            <a:ext cx="11039475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Pilih </a:t>
            </a:r>
            <a:r>
              <a:rPr b="0" sz="1500" i="1" u="none">
                <a:solidFill>
                  <a:srgbClr val="334155"/>
                </a:solidFill>
                <a:latin typeface="Inter"/>
              </a:rPr>
              <a:t>Interface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: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ether2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, </a:t>
            </a:r>
            <a:r>
              <a:rPr b="0" sz="1500" i="1" u="none">
                <a:solidFill>
                  <a:srgbClr val="334155"/>
                </a:solidFill>
                <a:latin typeface="Inter"/>
              </a:rPr>
              <a:t>Bridge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: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bridge-LAN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3343275"/>
            <a:ext cx="1714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3343275"/>
            <a:ext cx="11039475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Pastikan kotak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Hardware Offload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tercentang. Klik 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" y="3648075"/>
            <a:ext cx="1619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525" y="3648075"/>
            <a:ext cx="11039475" cy="30480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Ulangi langkah di atas untuk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ether3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3975050" cy="4352925"/>
          </a:xfrm>
          <a:prstGeom prst="roundRect">
            <a:avLst>
              <a:gd name="adj" fmla="val 38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LANGKAH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Verifikasi Hardware Offload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31992" y="3400425"/>
            <a:ext cx="930116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Space Grotesk"/>
              </a:rPr>
              <a:t>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0503" y="4467225"/>
            <a:ext cx="1893093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Flag Indikator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89450" y="3290887"/>
            <a:ext cx="73025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Cek tab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Ports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pada menu Bridge.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89450" y="3719512"/>
            <a:ext cx="7302549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Cari huruf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'H'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di sebelah kiri ether2 dan ether3.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89450" y="4148137"/>
            <a:ext cx="6788199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Arti: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Hw-offload aktif. Trafik ditangani murni oleh Switch-chip, beban CPU 0%.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10972800" cy="3190875"/>
          </a:xfrm>
          <a:prstGeom prst="roundRect">
            <a:avLst>
              <a:gd name="adj" fmla="val 477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543550"/>
            <a:ext cx="10972800" cy="704850"/>
          </a:xfrm>
          <a:prstGeom prst="roundRect">
            <a:avLst>
              <a:gd name="adj" fmla="val 16216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LANGKAH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Memberikan IP Address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5772150"/>
            <a:ext cx="106108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2E8F0"/>
                </a:solidFill>
                <a:latin typeface="JetBrains Mono"/>
              </a:rPr>
              <a:t>/ip address add address=192.168.10.1/24 interface=bridge-LAN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209800"/>
            <a:ext cx="112680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Konfigurasi Via Winbox: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659380"/>
            <a:ext cx="16192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2657475"/>
            <a:ext cx="11039475" cy="36567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Klik menu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IP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&gt;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Addresses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&gt;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[+]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3025050"/>
            <a:ext cx="20955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3023145"/>
            <a:ext cx="11039475" cy="36567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1" u="none">
                <a:solidFill>
                  <a:srgbClr val="334155"/>
                </a:solidFill>
                <a:latin typeface="Inter"/>
              </a:rPr>
              <a:t>Address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: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192.168.10.1/24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390721"/>
            <a:ext cx="20002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525" y="3388816"/>
            <a:ext cx="11039475" cy="36567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1" u="none">
                <a:solidFill>
                  <a:srgbClr val="334155"/>
                </a:solidFill>
                <a:latin typeface="Inter"/>
              </a:rPr>
              <a:t>Interface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: Pilih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bridge-LAN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(Sangat Penting!).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975" y="3756392"/>
            <a:ext cx="20955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3754487"/>
            <a:ext cx="11039475" cy="36567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Klik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OK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895475"/>
            <a:ext cx="7620000" cy="4352925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519737" y="609600"/>
            <a:ext cx="11525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VALIDASI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9442" y="952500"/>
            <a:ext cx="4913114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Uji Coba Praktikum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2725" y="2362200"/>
            <a:ext cx="67818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PC 1 (ether2): Set IP manual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192.168.10.2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, Gateway 192.168.10.1.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2725" y="3067050"/>
            <a:ext cx="67818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PC 2 (ether3): Set IP manual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192.168.10.3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, Gateway 192.168.10.1.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2725" y="3771900"/>
            <a:ext cx="8358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Lakukan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PING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dari PC 1 ke PC 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52725" y="4200525"/>
            <a:ext cx="8358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Pastikan hasil ping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Reply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0212" y="2853630"/>
            <a:ext cx="1171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EA5E9"/>
                </a:solidFill>
                <a:latin typeface="Inter"/>
              </a:rPr>
              <a:t>BAGIAN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110132" y="3272730"/>
            <a:ext cx="12412265" cy="731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ARP (Address Resolution Protocol)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514975"/>
            <a:ext cx="10972800" cy="733425"/>
          </a:xfrm>
          <a:prstGeom prst="roundRect">
            <a:avLst>
              <a:gd name="adj" fmla="val 1558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552575"/>
            <a:ext cx="5334000" cy="3657600"/>
          </a:xfrm>
          <a:prstGeom prst="roundRect">
            <a:avLst>
              <a:gd name="adj" fmla="val 4166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552575"/>
            <a:ext cx="5334000" cy="3657600"/>
          </a:xfrm>
          <a:prstGeom prst="roundRect">
            <a:avLst>
              <a:gd name="adj" fmla="val 4166"/>
            </a:avLst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Mengapa ARP Dibutuhkan?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-238125" y="5743575"/>
            <a:ext cx="126682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E3A8A"/>
                </a:solidFill>
                <a:latin typeface="Inter"/>
              </a:rPr>
              <a:t>ARP adalah Sang Penerjemah yang memetakan IP Address ke MAC Address.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5189" y="2857500"/>
            <a:ext cx="256282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Bahasa Layer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662" y="3352800"/>
            <a:ext cx="58578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Komputer dan Router berkomunikasi via </a:t>
            </a:r>
            <a:r>
              <a:rPr b="1" sz="1800" i="0" u="none">
                <a:solidFill>
                  <a:srgbClr val="475569"/>
                </a:solidFill>
                <a:latin typeface="Inter"/>
              </a:rPr>
              <a:t>IP Address</a:t>
            </a:r>
            <a:r>
              <a:rPr b="0" sz="18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3989" y="2857500"/>
            <a:ext cx="256282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Bahasa 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6462" y="3352800"/>
            <a:ext cx="585787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475569"/>
                </a:solidFill>
                <a:latin typeface="Inter"/>
              </a:rPr>
              <a:t>Kartu Jaringan (NIC) fisik hanya mengenali </a:t>
            </a:r>
            <a:r>
              <a:rPr b="1" sz="1800" i="0" u="none">
                <a:solidFill>
                  <a:srgbClr val="475569"/>
                </a:solidFill>
                <a:latin typeface="Inter"/>
              </a:rPr>
              <a:t>MAC Address</a:t>
            </a:r>
            <a:r>
              <a:rPr b="0" sz="18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4650"/>
            <a:ext cx="5257800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2914650"/>
            <a:ext cx="5257800" cy="1971675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876800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14650"/>
            <a:ext cx="5257800" cy="5715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14650"/>
            <a:ext cx="9525" cy="19716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7875" y="2914650"/>
            <a:ext cx="9525" cy="19716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4600" y="4876800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24600" y="2914650"/>
            <a:ext cx="5257800" cy="571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24600" y="2914650"/>
            <a:ext cx="9525" cy="19716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72875" y="2914650"/>
            <a:ext cx="9525" cy="19716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Cara Kerja 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276600"/>
            <a:ext cx="6075759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1. ARP Request (Broadcast)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771900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475569"/>
                </a:solidFill>
                <a:latin typeface="Inter"/>
              </a:rPr>
              <a:t>"Siapa yang memiliki IP 192.168.10.2? Tolong beri tahu MAC Address Anda!"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381500"/>
            <a:ext cx="57864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Dikirim ke semua perangkat (FF:FF:FF:FF:FF:FF).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3276600"/>
            <a:ext cx="55530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2. ARP Reply (Unicast)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38925" y="3771900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1" u="none">
                <a:solidFill>
                  <a:srgbClr val="475569"/>
                </a:solidFill>
                <a:latin typeface="Inter"/>
              </a:rPr>
              <a:t>"Itu IP saya. MAC Address saya adalah AA:BB:CC:DD:EE:FF."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925" y="4381500"/>
            <a:ext cx="55530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Dikirim langsung ke perangkat penanya.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09750" y="1895475"/>
            <a:ext cx="8572500" cy="4352925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94609" y="609600"/>
            <a:ext cx="320278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PENYIMPANAN SEMENTARA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9411" y="952500"/>
            <a:ext cx="5413176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Tabel ARP (ARP Cache)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76475" y="2362200"/>
            <a:ext cx="9548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Menyimpan pasangan IP &amp; MAC Address.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76475" y="2790825"/>
            <a:ext cx="9548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Mencegah Broadcast Request berulang.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6475" y="3219450"/>
            <a:ext cx="9548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Meningkatkan efisiensi jaringan lokal.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6475" y="3648075"/>
            <a:ext cx="9548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Di Winbox: Akses via menu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IP &gt; ARP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5334000" cy="4352925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895475"/>
            <a:ext cx="5334000" cy="4352925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KONFIGURASI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Mode ARP di MikroTik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2209800"/>
            <a:ext cx="6175771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3B82F6"/>
                </a:solidFill>
                <a:latin typeface="Space Grotesk"/>
              </a:rPr>
              <a:t>Enabled (Default)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7051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Otomatis merespon request dan mencatat entri MAC secara dinamis ke tabel ARP.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2725" y="2209800"/>
            <a:ext cx="5629275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EF4444"/>
                </a:solidFill>
                <a:latin typeface="Space Grotesk"/>
              </a:rPr>
              <a:t>Disabled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2725" y="2705100"/>
            <a:ext cx="4800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Fitur mati total. Tidak membalas request, tidak membuat tabel. Butuh input manual.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5343525" cy="4352925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7925" y="1895475"/>
            <a:ext cx="5324475" cy="4352925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KONFIGURASI LANJUTAN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Mode ARP di MikroTik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3450" y="2219325"/>
            <a:ext cx="616327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Reply-Only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3450" y="2714625"/>
            <a:ext cx="47910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Hanya membalas request. Tidak mencatat dinamis. Sangat krusial untuk </a:t>
            </a:r>
            <a:r>
              <a:rPr b="1" sz="1500" i="0" u="none">
                <a:solidFill>
                  <a:srgbClr val="475569"/>
                </a:solidFill>
                <a:latin typeface="Inter"/>
              </a:rPr>
              <a:t>Keamanan LAN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72250" y="2209800"/>
            <a:ext cx="561975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8B5CF6"/>
                </a:solidFill>
                <a:latin typeface="Space Grotesk"/>
              </a:rPr>
              <a:t>Proxy-ARP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2250" y="2705100"/>
            <a:ext cx="47910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Router bertindak sebagai "wakil" untuk menjawab request perangkat segmen lain (untuk VPN).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24600" y="2014537"/>
            <a:ext cx="5257800" cy="122872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24600" y="3471862"/>
            <a:ext cx="5257800" cy="1457325"/>
          </a:xfrm>
          <a:prstGeom prst="roundRect">
            <a:avLst>
              <a:gd name="adj" fmla="val 1045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24600" y="5157787"/>
            <a:ext cx="5257800" cy="1228725"/>
          </a:xfrm>
          <a:prstGeom prst="roundRect">
            <a:avLst>
              <a:gd name="adj" fmla="val 124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24600" y="4919662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24600" y="3471862"/>
            <a:ext cx="5257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4600" y="3471862"/>
            <a:ext cx="57150" cy="14573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72875" y="3471862"/>
            <a:ext cx="9525" cy="14573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52575"/>
            <a:ext cx="5257800" cy="5257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Ancaman: ARP Spoofing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925" y="2328862"/>
            <a:ext cx="55530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Kelemahan Mode Dinamis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2700337"/>
            <a:ext cx="55530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Menerima semua ARP Reply tanpa validasi.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6550" y="3786187"/>
            <a:ext cx="550545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ARP Poisoning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4157662"/>
            <a:ext cx="46767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Hacker mengirim Reply palsu, menipu PC seolah ia adalah Router.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5472112"/>
            <a:ext cx="55530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Dampak Serangan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5843587"/>
            <a:ext cx="55530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Pencurian data (Man-in-the-Middle Attack).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81625" y="1909762"/>
            <a:ext cx="1428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MITIGASI 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33179" y="2252662"/>
            <a:ext cx="512564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Solusi Keamanan ARP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603" y="3195637"/>
            <a:ext cx="10338792" cy="8763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F172A"/>
                </a:solidFill>
                <a:latin typeface="Space Grotesk"/>
              </a:rPr>
              <a:t>Static ARP + Reply-Only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33500" y="4300537"/>
            <a:ext cx="95250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475569"/>
                </a:solidFill>
                <a:latin typeface="Inter"/>
              </a:rPr>
              <a:t>Daftarkan MAC Address sah secara manual, lalu kunci interface agar menolak perangkat asing.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1150" y="2853630"/>
            <a:ext cx="14097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EA5E9"/>
                </a:solidFill>
                <a:latin typeface="Inter"/>
              </a:rPr>
              <a:t>SESI LAB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453" y="3272730"/>
            <a:ext cx="11799093" cy="731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Manajemen &amp; Pengamanan ARP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 txBox="1"/>
          <p:nvPr/>
        </p:nvSpPr>
        <p:spPr>
          <a:xfrm>
            <a:off x="609600" y="609600"/>
            <a:ext cx="11582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Skenario Praktikum 2</a:t>
            </a: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609600" y="2757487"/>
            <a:ext cx="69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Target Lab:</a:t>
            </a:r>
            <a:endParaRPr/>
          </a:p>
        </p:txBody>
      </p:sp>
      <p:sp>
        <p:nvSpPr>
          <p:cNvPr id="46" name="Google Shape;46;p2"/>
          <p:cNvSpPr txBox="1"/>
          <p:nvPr/>
        </p:nvSpPr>
        <p:spPr>
          <a:xfrm>
            <a:off x="609600" y="3328987"/>
            <a:ext cx="6572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 Menganalisa entri ARP Dinamis.</a:t>
            </a:r>
            <a:endParaRPr/>
          </a:p>
        </p:txBody>
      </p:sp>
      <p:sp>
        <p:nvSpPr>
          <p:cNvPr id="47" name="Google Shape;47;p2"/>
          <p:cNvSpPr txBox="1"/>
          <p:nvPr/>
        </p:nvSpPr>
        <p:spPr>
          <a:xfrm>
            <a:off x="609600" y="3757612"/>
            <a:ext cx="6572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 Mengunci MAC PC1 (Make Static).</a:t>
            </a:r>
            <a:endParaRPr/>
          </a:p>
        </p:txBody>
      </p:sp>
      <p:sp>
        <p:nvSpPr>
          <p:cNvPr id="48" name="Google Shape;48;p2"/>
          <p:cNvSpPr txBox="1"/>
          <p:nvPr/>
        </p:nvSpPr>
        <p:spPr>
          <a:xfrm>
            <a:off x="609600" y="4186237"/>
            <a:ext cx="6572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 Mengaktifkan mode </a:t>
            </a: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reply-only</a:t>
            </a: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9" name="Google Shape;49;p2"/>
          <p:cNvSpPr txBox="1"/>
          <p:nvPr/>
        </p:nvSpPr>
        <p:spPr>
          <a:xfrm>
            <a:off x="609600" y="4614862"/>
            <a:ext cx="6572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→ Memblokir akses PC asing (Pengujian).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52575"/>
            <a:ext cx="5334000" cy="4695825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552575"/>
            <a:ext cx="5334000" cy="4695825"/>
          </a:xfrm>
          <a:prstGeom prst="roundRect">
            <a:avLst>
              <a:gd name="adj" fmla="val 324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Membuat Static ARP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925" y="1866900"/>
            <a:ext cx="617577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1. Lihat Tabel Dinamis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62725" y="1866900"/>
            <a:ext cx="56292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2. Make Static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2314575"/>
            <a:ext cx="5881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Ping Router (192.168.10.1) dari PC1.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743200"/>
            <a:ext cx="5881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Buka menu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IP &gt; ARP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di Winbox.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3171825"/>
            <a:ext cx="48006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Perhatikan baris dengan huruf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'D'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(Dynamic).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2725" y="2314575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Sorot/klik baris ARP milik PC1.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2725" y="2743200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Klik kanan, pilih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Make Static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725" y="3171825"/>
            <a:ext cx="56292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Huruf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'D'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hilang. Entri menjadi permanen.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10972800" cy="4048125"/>
          </a:xfrm>
          <a:prstGeom prst="roundRect">
            <a:avLst>
              <a:gd name="adj" fmla="val 3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KUNCI JARINGAN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Mengaktifkan Reply-Only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364105"/>
            <a:ext cx="16192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4925" y="2362200"/>
            <a:ext cx="10887075" cy="36567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Buka menu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Interfaces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2729775"/>
            <a:ext cx="20955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4925" y="2727870"/>
            <a:ext cx="10887075" cy="36567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Klik ganda pada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bridge-LAN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095446"/>
            <a:ext cx="200025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4925" y="3093541"/>
            <a:ext cx="10887075" cy="36567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Pada tab </a:t>
            </a:r>
            <a:r>
              <a:rPr b="0" sz="1800" i="1" u="none">
                <a:solidFill>
                  <a:srgbClr val="334155"/>
                </a:solidFill>
                <a:latin typeface="Inter"/>
              </a:rPr>
              <a:t>General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, cari menu </a:t>
            </a:r>
            <a:r>
              <a:rPr b="0" sz="1800" i="1" u="none">
                <a:solidFill>
                  <a:srgbClr val="334155"/>
                </a:solidFill>
                <a:latin typeface="Inter"/>
              </a:rPr>
              <a:t>dropdown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ARP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3461117"/>
            <a:ext cx="20955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4925" y="3459212"/>
            <a:ext cx="10887075" cy="365670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Ubah nilai dari </a:t>
            </a:r>
            <a:r>
              <a:rPr b="0" sz="1800" i="1" u="none">
                <a:solidFill>
                  <a:srgbClr val="334155"/>
                </a:solidFill>
                <a:latin typeface="Inter"/>
              </a:rPr>
              <a:t>enabled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 menjadi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reply-only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4425" y="3826787"/>
            <a:ext cx="190500" cy="361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334155"/>
                </a:solidFill>
                <a:latin typeface="Inter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04925" y="3824882"/>
            <a:ext cx="10887075" cy="36567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"/>
              </a:rPr>
              <a:t>Klik </a:t>
            </a:r>
            <a:r>
              <a:rPr b="1" sz="1800" i="0" u="none">
                <a:solidFill>
                  <a:srgbClr val="334155"/>
                </a:solidFill>
                <a:latin typeface="Inter"/>
              </a:rPr>
              <a:t>OK</a:t>
            </a:r>
            <a:r>
              <a:rPr b="0" sz="18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286000" y="1895475"/>
            <a:ext cx="7620000" cy="4352925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45843" y="609600"/>
            <a:ext cx="2500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VALIDASI KEAMANAN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1938" y="952500"/>
            <a:ext cx="4988123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Uji Coba Praktikum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2725" y="2362200"/>
            <a:ext cx="8358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Tes 1: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Ping dari PC1 ke Router. Harus berhasil (Reply).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2725" y="2790825"/>
            <a:ext cx="8358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Tes 2: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Ubah IP PC1 menjadi IP palsu </a:t>
            </a:r>
            <a:r>
              <a:rPr b="0" sz="1800" i="1" u="none">
                <a:solidFill>
                  <a:srgbClr val="0F172A"/>
                </a:solidFill>
                <a:latin typeface="Inter"/>
              </a:rPr>
              <a:t>192.168.10.99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52725" y="3219450"/>
            <a:ext cx="8358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Coba Ping ke Router lagi.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Hasil harus RTO.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52725" y="3648075"/>
            <a:ext cx="8358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172A"/>
                </a:solidFill>
                <a:latin typeface="Inter"/>
              </a:rPr>
              <a:t>→ </a:t>
            </a:r>
            <a:r>
              <a:rPr b="1" sz="1800" i="0" u="none">
                <a:solidFill>
                  <a:srgbClr val="0F172A"/>
                </a:solidFill>
                <a:latin typeface="Inter"/>
              </a:rPr>
              <a:t>Kesimpulan:</a:t>
            </a:r>
            <a:r>
              <a:rPr b="0" sz="1800" i="0" u="none">
                <a:solidFill>
                  <a:srgbClr val="0F172A"/>
                </a:solidFill>
                <a:latin typeface="Inter"/>
              </a:rPr>
              <a:t> Jaringan aman dari IP/MAC tidak terdaftar.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10212" y="2487959"/>
            <a:ext cx="11715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EA5E9"/>
                </a:solidFill>
                <a:latin typeface="Inter"/>
              </a:rPr>
              <a:t>BAGIAN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51832" y="2907059"/>
            <a:ext cx="6688335" cy="1462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Manajemen DHCP</a:t>
            </a:r>
            <a:r>
              <a:t>
</a:t>
            </a:r>
            <a:r>
              <a:rPr b="0" sz="3000" i="0" u="none">
                <a:solidFill>
                  <a:srgbClr val="94A3B8"/>
                </a:solidFill>
                <a:latin typeface="Space Grotesk"/>
              </a:rPr>
              <a:t>Server, Client, &amp; Relay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14612"/>
            <a:ext cx="5334000" cy="257175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500312"/>
            <a:ext cx="5334000" cy="2800350"/>
          </a:xfrm>
          <a:prstGeom prst="roundRect">
            <a:avLst>
              <a:gd name="adj" fmla="val 544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700" y="3081337"/>
            <a:ext cx="6858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2967037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6096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Apa itu DHCP?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63860" y="3995737"/>
            <a:ext cx="382547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Otomatisasi Parameter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6256" y="4491037"/>
            <a:ext cx="5500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Mendistribusikan IP, Subnet, Gateway, dan DNS.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7676" y="3881437"/>
            <a:ext cx="3575446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Space Grotesk"/>
              </a:rPr>
              <a:t>Mencegah IP Conflict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65056" y="4376737"/>
            <a:ext cx="55006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475569"/>
                </a:solidFill>
                <a:latin typeface="Inter"/>
              </a:rPr>
              <a:t>Menghilangkan risiko human-error input IP ganda.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2571750" cy="435292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1895475"/>
            <a:ext cx="2571750" cy="435292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1895475"/>
            <a:ext cx="2571750" cy="435292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1895475"/>
            <a:ext cx="2571750" cy="4352925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CARA KERJA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Proses DORA (4 Tahap)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2209800"/>
            <a:ext cx="255031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1.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25" y="2705100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Klien -&gt; Broadcast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2971800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"Adakah DHCP Server di jaringan ini?"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4275" y="2209800"/>
            <a:ext cx="255031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2. Offer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4275" y="2705100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Server -&gt; Klien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4275" y="2971800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"Ada, saya tawarkan IP 192.168.10.50."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209800"/>
            <a:ext cx="2550318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Space Grotesk"/>
              </a:rPr>
              <a:t>3.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705100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Klien -&gt; Broadcast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971800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"Oke, saya ambil IP tawaran itu!"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4975" y="2209800"/>
            <a:ext cx="214026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8B5CF6"/>
                </a:solidFill>
                <a:latin typeface="Space Grotesk"/>
              </a:rPr>
              <a:t>4. Acknowledge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4975" y="3048000"/>
            <a:ext cx="2428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Server -&gt; Klien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4975" y="3314700"/>
            <a:ext cx="20383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"Sip, IP resmi disewa (Lease)."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609600" y="1552575"/>
            <a:ext cx="3454500" cy="4695900"/>
          </a:xfrm>
          <a:prstGeom prst="roundRect">
            <a:avLst>
              <a:gd fmla="val 44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368849" y="1552575"/>
            <a:ext cx="3454500" cy="4695900"/>
          </a:xfrm>
          <a:prstGeom prst="roundRect">
            <a:avLst>
              <a:gd fmla="val 4411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609600" y="609600"/>
            <a:ext cx="115824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Peran MikroTik dalam DHCP</a:t>
            </a:r>
            <a:endParaRPr/>
          </a:p>
        </p:txBody>
      </p:sp>
      <p:sp>
        <p:nvSpPr>
          <p:cNvPr id="54" name="Google Shape;54;p3"/>
          <p:cNvSpPr txBox="1"/>
          <p:nvPr/>
        </p:nvSpPr>
        <p:spPr>
          <a:xfrm>
            <a:off x="923925" y="1866900"/>
            <a:ext cx="3708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DHCP Client</a:t>
            </a:r>
            <a:endParaRPr/>
          </a:p>
        </p:txBody>
      </p:sp>
      <p:sp>
        <p:nvSpPr>
          <p:cNvPr id="55" name="Google Shape;55;p3"/>
          <p:cNvSpPr txBox="1"/>
          <p:nvPr/>
        </p:nvSpPr>
        <p:spPr>
          <a:xfrm>
            <a:off x="923925" y="2314575"/>
            <a:ext cx="292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Meminta IP dari Modem ISP (WAN).</a:t>
            </a:r>
            <a:endParaRPr/>
          </a:p>
        </p:txBody>
      </p:sp>
      <p:sp>
        <p:nvSpPr>
          <p:cNvPr id="56" name="Google Shape;56;p3"/>
          <p:cNvSpPr txBox="1"/>
          <p:nvPr/>
        </p:nvSpPr>
        <p:spPr>
          <a:xfrm>
            <a:off x="4683174" y="1866900"/>
            <a:ext cx="37089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DHCP Server</a:t>
            </a:r>
            <a:endParaRPr/>
          </a:p>
        </p:txBody>
      </p:sp>
      <p:sp>
        <p:nvSpPr>
          <p:cNvPr id="57" name="Google Shape;57;p3"/>
          <p:cNvSpPr txBox="1"/>
          <p:nvPr/>
        </p:nvSpPr>
        <p:spPr>
          <a:xfrm>
            <a:off x="4683174" y="2314575"/>
            <a:ext cx="2921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Memberikan IP ke jaringan LAN lokal.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10275" y="2995612"/>
            <a:ext cx="5572125" cy="2152650"/>
          </a:xfrm>
          <a:prstGeom prst="roundRect">
            <a:avLst>
              <a:gd name="adj" fmla="val 7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66826"/>
            <a:ext cx="4943475" cy="31719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PRAKTIKUM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Setup DHCP Client (WAN)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850" y="3309937"/>
            <a:ext cx="1333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3309937"/>
            <a:ext cx="5638800" cy="304800"/>
          </a:xfrm>
          <a:prstGeom prst="rect">
            <a:avLst/>
          </a:prstGeom>
          <a:noFill/>
        </p:spPr>
        <p:txBody>
          <a:bodyPr wrap="none" lIns="1333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Buka menu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IP &gt; DHCP Client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&gt;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[+]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3614737"/>
            <a:ext cx="1714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200" y="3614737"/>
            <a:ext cx="56388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334155"/>
                </a:solidFill>
                <a:latin typeface="Inter"/>
              </a:rPr>
              <a:t>Interface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: Pilih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ether1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1750" y="3919537"/>
            <a:ext cx="1714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919537"/>
            <a:ext cx="56388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Centang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Use Peer DNS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 &amp;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NTP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1750" y="4224337"/>
            <a:ext cx="17145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224337"/>
            <a:ext cx="5638800" cy="30480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1" u="none">
                <a:solidFill>
                  <a:srgbClr val="334155"/>
                </a:solidFill>
                <a:latin typeface="Inter"/>
              </a:rPr>
              <a:t>Add Default Route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: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yes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275" y="4529137"/>
            <a:ext cx="161925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529137"/>
            <a:ext cx="5638800" cy="304800"/>
          </a:xfrm>
          <a:prstGeom prst="rect">
            <a:avLst/>
          </a:prstGeom>
          <a:noFill/>
        </p:spPr>
        <p:txBody>
          <a:bodyPr wrap="none" lIns="161925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"/>
              </a:rPr>
              <a:t>Status harus </a:t>
            </a:r>
            <a:r>
              <a:rPr b="1" sz="1500" i="0" u="none">
                <a:solidFill>
                  <a:srgbClr val="334155"/>
                </a:solidFill>
                <a:latin typeface="Inter"/>
              </a:rPr>
              <a:t>Bound</a:t>
            </a:r>
            <a:r>
              <a:rPr b="0" sz="15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95475"/>
            <a:ext cx="10972800" cy="4048125"/>
          </a:xfrm>
          <a:prstGeom prst="roundRect">
            <a:avLst>
              <a:gd name="adj" fmla="val 376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PRAKTIKUM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115824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Setup DHCP Server (LAN)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6325" y="2362200"/>
            <a:ext cx="11115675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EF4444"/>
                </a:solidFill>
                <a:latin typeface="Space Grotesk"/>
              </a:rPr>
              <a:t>Gunakan Tombol DHCP SETUP (Wizards)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2050" y="2810827"/>
            <a:ext cx="1428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4925" y="2809875"/>
            <a:ext cx="10887075" cy="335160"/>
          </a:xfrm>
          <a:prstGeom prst="rect">
            <a:avLst/>
          </a:prstGeom>
          <a:noFill/>
        </p:spPr>
        <p:txBody>
          <a:bodyPr wrap="none" lIns="142875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Menu </a:t>
            </a:r>
            <a:r>
              <a:rPr b="1" sz="1650" i="0" u="none">
                <a:solidFill>
                  <a:srgbClr val="334155"/>
                </a:solidFill>
                <a:latin typeface="Inter"/>
              </a:rPr>
              <a:t>IP &gt; DHCP Server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&gt; klik </a:t>
            </a:r>
            <a:r>
              <a:rPr b="1" sz="1650" i="0" u="none">
                <a:solidFill>
                  <a:srgbClr val="334155"/>
                </a:solidFill>
                <a:latin typeface="Inter"/>
              </a:rPr>
              <a:t>DHCP Setup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3950" y="3145988"/>
            <a:ext cx="1809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4925" y="3145035"/>
            <a:ext cx="10887075" cy="33516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1" u="none">
                <a:solidFill>
                  <a:srgbClr val="334155"/>
                </a:solidFill>
                <a:latin typeface="Inter"/>
              </a:rPr>
              <a:t>Interface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: Pilih </a:t>
            </a:r>
            <a:r>
              <a:rPr b="1" sz="1650" i="0" u="none">
                <a:solidFill>
                  <a:srgbClr val="334155"/>
                </a:solidFill>
                <a:latin typeface="Inter"/>
              </a:rPr>
              <a:t>bridge-LAN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 (Bukan port fisik).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4425" y="3481149"/>
            <a:ext cx="1905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4925" y="3480196"/>
            <a:ext cx="10887075" cy="335160"/>
          </a:xfrm>
          <a:prstGeom prst="rect">
            <a:avLst/>
          </a:prstGeom>
          <a:noFill/>
        </p:spPr>
        <p:txBody>
          <a:bodyPr wrap="none" lIns="19050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1" u="none">
                <a:solidFill>
                  <a:srgbClr val="334155"/>
                </a:solidFill>
                <a:latin typeface="Inter"/>
              </a:rPr>
              <a:t>Gateway &amp; Network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: Next (Bawaan otomatis).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50" y="3816310"/>
            <a:ext cx="180975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04925" y="3815357"/>
            <a:ext cx="10887075" cy="335160"/>
          </a:xfrm>
          <a:prstGeom prst="rect">
            <a:avLst/>
          </a:prstGeom>
          <a:noFill/>
        </p:spPr>
        <p:txBody>
          <a:bodyPr wrap="none" lIns="180975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1" u="none">
                <a:solidFill>
                  <a:srgbClr val="334155"/>
                </a:solidFill>
                <a:latin typeface="Inter"/>
              </a:rPr>
              <a:t>Addresses to Give Out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: Rentang IP disewakan. Next.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4151471"/>
            <a:ext cx="1714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334155"/>
                </a:solidFill>
                <a:latin typeface="Inter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4925" y="4150518"/>
            <a:ext cx="10887075" cy="335160"/>
          </a:xfrm>
          <a:prstGeom prst="rect">
            <a:avLst/>
          </a:prstGeom>
          <a:noFill/>
        </p:spPr>
        <p:txBody>
          <a:bodyPr wrap="none" lIns="17145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1" u="none">
                <a:solidFill>
                  <a:srgbClr val="334155"/>
                </a:solidFill>
                <a:latin typeface="Inter"/>
              </a:rPr>
              <a:t>DNS Servers</a:t>
            </a:r>
            <a:r>
              <a:rPr b="0" sz="1650" i="0" u="none">
                <a:solidFill>
                  <a:srgbClr val="334155"/>
                </a:solidFill>
                <a:latin typeface="Inter"/>
              </a:rPr>
              <a:t>: Isi 8.8.8.8. Selesai.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33500" y="3246983"/>
            <a:ext cx="2971800" cy="1971675"/>
          </a:xfrm>
          <a:prstGeom prst="roundRect">
            <a:avLst>
              <a:gd name="adj" fmla="val 77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10100" y="3246983"/>
            <a:ext cx="2971800" cy="1971675"/>
          </a:xfrm>
          <a:prstGeom prst="roundRect">
            <a:avLst>
              <a:gd name="adj" fmla="val 77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886700" y="3246983"/>
            <a:ext cx="2971800" cy="1971675"/>
          </a:xfrm>
          <a:prstGeom prst="roundRect">
            <a:avLst>
              <a:gd name="adj" fmla="val 772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9953" y="1639192"/>
            <a:ext cx="1512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EA5E9"/>
                </a:solidFill>
                <a:latin typeface="Inter"/>
              </a:rPr>
              <a:t>KESIMPULAN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9174" y="2058292"/>
            <a:ext cx="9213651" cy="7314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Best Practices Jaringan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9206" y="3551783"/>
            <a:ext cx="31003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EA5E9"/>
                </a:solidFill>
                <a:latin typeface="Space Grotesk"/>
              </a:rPr>
              <a:t>1. Selalu Bridge 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3025" y="3999458"/>
            <a:ext cx="2952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Jangan biarkan port lokal terpisah tanpa bridge dan HW Offload.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5806" y="3551783"/>
            <a:ext cx="31003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10B981"/>
                </a:solidFill>
                <a:latin typeface="Space Grotesk"/>
              </a:rPr>
              <a:t>2. Kunci ARP L2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999458"/>
            <a:ext cx="2952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Gunakan Static ARP dan Reply-Only pada lingkungan produksi.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2406" y="3551783"/>
            <a:ext cx="310038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F59E0B"/>
                </a:solidFill>
                <a:latin typeface="Space Grotesk"/>
              </a:rPr>
              <a:t>3. DHCP Setup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25" y="3999458"/>
            <a:ext cx="2952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Hindari pembuatan pool manual untuk meminimalisir human error.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38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0982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248025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40862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400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4076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4076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848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8482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81175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86037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424237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29100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5000625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2150268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Space Grotesk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1052512"/>
            <a:ext cx="10394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https://www.conceptdraw.com/How-To-Guide/picture/ConceptDraw-Computer-and-Networks-solution-example-Bus-topology-diagram.png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1252537"/>
            <a:ext cx="28813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www.conceptdraw.com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1824037"/>
            <a:ext cx="7655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https://as2.ftcdn.net/v2/jpg/21/13/60/59/1000_F_2113605964_65EXBDC11Hfj40oBdd4xzfppNTvvibq2.jpg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2024062"/>
            <a:ext cx="2202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www.posters.cz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25527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https://media.istockphoto.com/id/467872585/photo/lan-network-switch-with-ethernet-cables-plugged-in.jpg?s=1024x1024&amp;w=is&amp;k=20&amp;c=6hXWu0dkJlomrbssTKPSvSrIfKRH2Cjswz_2PnSfmOc=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2905125"/>
            <a:ext cx="2774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www.istockphoto.com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33909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https://img.magnific.com/premium-vector/cybersecurity-shield-with-lock-icon-circuit-connections-representing-digital-data-protection-network-security-vector-illustration_126712-64090.jpg?semt=ais_hybrid&amp;w=740&amp;q=80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3743325"/>
            <a:ext cx="248840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www.magnific.com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271962"/>
            <a:ext cx="7274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https://www.openeye.net/wp-content/uploads/2021/10/it-worker-using-laptop-in-server-room.jpg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4471987"/>
            <a:ext cx="2369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www.openeye.net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5043487"/>
            <a:ext cx="8453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https://www.zenarmor.com/docs/assets/images/figure-1-wandiagram-2533ba9488c4940ab6c2f769b04c2d10.png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243512"/>
            <a:ext cx="25598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F8FAFC"/>
                </a:solidFill>
                <a:latin typeface="Inter"/>
              </a:rPr>
              <a:t>www.zenarmor.com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